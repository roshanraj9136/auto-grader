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We're presenting AutoGrader+, an extension of the Autograder idea we use in CSL100. Instead of grading single programs with test cases, it grades a whole full-stack project. Five specialist AI agents review the code, Docker setup, tests and security in parallel, and a judge agent combines their reports into one explainable grade and a learning path for the student. The focus of the design is architecture and latency.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Full-stack projects have many layers, and manual review is slow and inconsistent. Unit tests only check outputs. Our goal is to grade the whole system quickly, explain every point, actually run the container, and give the student a learning path.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input is a GitHub URL plus an optional Dockerfile and rubric. Five specialists each own one dimension. The judge reads their reports and produces the final verdict. The output is a full report in HTML, Markdown and 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turns the grader into the platform the course asked for. Students get a dashboard, assignments, and five labs that cover the stack: frontend, databases, load balancers, networks and containers. The labs are not simulations. The load-balancer lab sends real requests through our Nginx to three API replicas, and the SQL lab shows real query plans. Instructors publish assignments and see where the class struggles.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Requests pass through Nginx, which load-balances across three stateless API replicas, rate-limits and passes Server-Sent Events through. Sessions and grades live in PostgreSQL on a private network, so any replica can serve any page; live grading streams use sticky routing. A JobManager enforces admission control and de-duplicates identical requests. The pipeline is an asyncio DAG. Layers depend downward only. Agents read a shared, read-only repository index (a blackboard), so no agent re-reads the disk.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specialist owns one dimension and gets its own evidence slice from the index. For example, the Architecture agent gets a module dependency graph with cycles, and the DevOps agent gets the real Docker build and run logs. The judge only sees the five structured reports, which keeps it fast. It may adjust each dimension by at most 1.5 points and must give a rationale. The final number is computed in code, so it is reproducible.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actual DAG. Resolve and clone start at the same time: the clone is speculative. If the commit is already in the cache, we cancel the clone and return in about one second. Otherwise indexing takes about 35 ms, and then four code agents run in parallel while Docker builds in the background. Only DevOps waits for Docker. Total time is the longest branch plus the judge, not the sum. The red path is what we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principles. First, do less work: cache by commit, merge duplicate jobs, clone shallow, index once, send each agent only its relevant evidence, and cap output tokens, because decoding is the slowest part of an LLM call. Second, do things in parallel or earlier: five agents at once, Docker overlapping with them, a speculative clone, and a tiny judge prompt. Third, bound the tail: every call has a deadline and a fallback, so one slow agent cannot hold the whole grade hostage.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five-service voting app, the parallel DAG finishes in 27.5 seconds against 75.5 seconds if the same stages ran one after another: a 2.74x speed-up. To be transparent, the LLM latency here is simulated with a standard latency model. Everything else is real. A cache-hit re-grade takes about one second. In the waterfall, four agents run side by side and the judge is the only sequential LLM step.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report explains every point in plain language. Each finding has a severity, the files it appears in, and a fix. On the right are real findings from the sample repository, including a hard-coded database credential and root containers. The learning path turns the grade into a lesson. Technical details such as latency stay on the instructor's Platform health page, so students are not distracted by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we run student code, security matters. Only GitHub URLs are accepted, nothing goes through a shell, secrets are redacted before the LLM sees them, and the container runs with no network and capped resources. Building Dockerfiles is still risky, so that sandbox is opt-in and meant for an isolated machine. For reliability, everything has a deadline and a fallback.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is intentionally simple: FastAPI with asyncio for concurrency, Claude for the agents, PostgreSQL for shared state, Nginx as the load balancer, and a dependency-free frontend that also installs as a mobile app. The project's own Dockerfile follows the rules its DevOps agent checks.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one was the grader. Version two, what we are showing today, is the platform: accounts, assignments, dashboards and labs, running as three replicas behind a load balancer with PostgreSQL. Next, a Redis queue with dedicated grading workers, and per-student containers so every student's backend runs on the platform itself.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plan: bring the stack up with docker compose, sign in as a student, submit a repository for an assignment and watch the agents run in parallel. Then the dashboard, the load-balancer lab hitting three replicas, and the instructor view with the gradebook export. 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54864"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143000"/>
            <a:ext cx="1005840" cy="1005840"/>
          </a:xfrm>
          <a:prstGeom prst="roundRect">
            <a:avLst>
              <a:gd name="adj" fmla="val 25000"/>
            </a:avLst>
          </a:prstGeom>
          <a:solidFill>
            <a:srgbClr val="7C83FF"/>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i="0">
                <a:solidFill>
                  <a:srgbClr val="0B1020"/>
                </a:solidFill>
                <a:latin typeface="Segoe UI"/>
              </a:rPr>
              <a:t>AG</a:t>
            </a:r>
          </a:p>
        </p:txBody>
      </p:sp>
      <p:sp>
        <p:nvSpPr>
          <p:cNvPr id="5" name="TextBox 4"/>
          <p:cNvSpPr txBox="1"/>
          <p:nvPr/>
        </p:nvSpPr>
        <p:spPr>
          <a:xfrm>
            <a:off x="822960" y="2286000"/>
            <a:ext cx="10515600" cy="1188720"/>
          </a:xfrm>
          <a:prstGeom prst="rect">
            <a:avLst/>
          </a:prstGeom>
          <a:noFill/>
        </p:spPr>
        <p:txBody>
          <a:bodyPr wrap="square" anchor="t" lIns="45720" rIns="45720">
            <a:spAutoFit/>
          </a:bodyPr>
          <a:lstStyle/>
          <a:p>
            <a:pPr algn="l">
              <a:lnSpc>
                <a:spcPct val="110000"/>
              </a:lnSpc>
            </a:pPr>
            <a:r>
              <a:rPr sz="6000" b="1" i="0">
                <a:solidFill>
                  <a:srgbClr val="E6E9F2"/>
                </a:solidFill>
                <a:latin typeface="Segoe UI"/>
              </a:rPr>
              <a:t>AutoGrader+</a:t>
            </a:r>
          </a:p>
        </p:txBody>
      </p:sp>
      <p:sp>
        <p:nvSpPr>
          <p:cNvPr id="6" name="TextBox 5"/>
          <p:cNvSpPr txBox="1"/>
          <p:nvPr/>
        </p:nvSpPr>
        <p:spPr>
          <a:xfrm>
            <a:off x="822960" y="3337560"/>
            <a:ext cx="10515600" cy="640080"/>
          </a:xfrm>
          <a:prstGeom prst="rect">
            <a:avLst/>
          </a:prstGeom>
          <a:noFill/>
        </p:spPr>
        <p:txBody>
          <a:bodyPr wrap="square" anchor="t" lIns="45720" rIns="45720">
            <a:spAutoFit/>
          </a:bodyPr>
          <a:lstStyle/>
          <a:p>
            <a:pPr algn="l">
              <a:lnSpc>
                <a:spcPct val="110000"/>
              </a:lnSpc>
            </a:pPr>
            <a:r>
              <a:rPr sz="2800" b="1" i="0">
                <a:solidFill>
                  <a:srgbClr val="7C83FF"/>
                </a:solidFill>
                <a:latin typeface="Segoe UI"/>
              </a:rPr>
              <a:t>Multi-Agent LLM Grading for Full-Stack Projects</a:t>
            </a:r>
          </a:p>
        </p:txBody>
      </p:sp>
      <p:sp>
        <p:nvSpPr>
          <p:cNvPr id="7" name="TextBox 6"/>
          <p:cNvSpPr txBox="1"/>
          <p:nvPr/>
        </p:nvSpPr>
        <p:spPr>
          <a:xfrm>
            <a:off x="822960" y="4023360"/>
            <a:ext cx="10515600" cy="548640"/>
          </a:xfrm>
          <a:prstGeom prst="rect">
            <a:avLst/>
          </a:prstGeom>
          <a:noFill/>
        </p:spPr>
        <p:txBody>
          <a:bodyPr wrap="square" anchor="t" lIns="45720" rIns="45720">
            <a:spAutoFit/>
          </a:bodyPr>
          <a:lstStyle/>
          <a:p>
            <a:pPr algn="l">
              <a:lnSpc>
                <a:spcPct val="110000"/>
              </a:lnSpc>
            </a:pPr>
            <a:r>
              <a:rPr sz="1800" b="0" i="0">
                <a:solidFill>
                  <a:srgbClr val="9AA4BF"/>
                </a:solidFill>
                <a:latin typeface="Segoe UI"/>
              </a:rPr>
              <a:t>5 specialist agents + 1 judge  ·  GitHub repo + Dockerfile  →  full report in under a minute</a:t>
            </a:r>
          </a:p>
        </p:txBody>
      </p:sp>
      <p:sp>
        <p:nvSpPr>
          <p:cNvPr id="8" name="Rounded Rectangle 7"/>
          <p:cNvSpPr/>
          <p:nvPr/>
        </p:nvSpPr>
        <p:spPr>
          <a:xfrm>
            <a:off x="822960" y="4892040"/>
            <a:ext cx="2514600" cy="50292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Parallel agent DAG</a:t>
            </a:r>
          </a:p>
        </p:txBody>
      </p:sp>
      <p:sp>
        <p:nvSpPr>
          <p:cNvPr id="9" name="Rounded Rectangle 8"/>
          <p:cNvSpPr/>
          <p:nvPr/>
        </p:nvSpPr>
        <p:spPr>
          <a:xfrm>
            <a:off x="3520440" y="4892040"/>
            <a:ext cx="2514600" cy="50292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2.74× faster than sequential</a:t>
            </a:r>
          </a:p>
        </p:txBody>
      </p:sp>
      <p:sp>
        <p:nvSpPr>
          <p:cNvPr id="10" name="Rounded Rectangle 9"/>
          <p:cNvSpPr/>
          <p:nvPr/>
        </p:nvSpPr>
        <p:spPr>
          <a:xfrm>
            <a:off x="6217920" y="4892040"/>
            <a:ext cx="2514600" cy="502920"/>
          </a:xfrm>
          <a:prstGeom prst="roundRect">
            <a:avLst>
              <a:gd name="adj" fmla="val 12000"/>
            </a:avLst>
          </a:prstGeom>
          <a:solidFill>
            <a:srgbClr val="121933"/>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Docker sandbox</a:t>
            </a:r>
          </a:p>
        </p:txBody>
      </p:sp>
      <p:sp>
        <p:nvSpPr>
          <p:cNvPr id="11" name="Rounded Rectangle 10"/>
          <p:cNvSpPr/>
          <p:nvPr/>
        </p:nvSpPr>
        <p:spPr>
          <a:xfrm>
            <a:off x="8915400" y="4892040"/>
            <a:ext cx="2514600" cy="50292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Explainable scores</a:t>
            </a:r>
          </a:p>
        </p:txBody>
      </p:sp>
      <p:sp>
        <p:nvSpPr>
          <p:cNvPr id="12" name="TextBox 11"/>
          <p:cNvSpPr txBox="1"/>
          <p:nvPr/>
        </p:nvSpPr>
        <p:spPr>
          <a:xfrm>
            <a:off x="822960" y="5989320"/>
            <a:ext cx="7315200" cy="365760"/>
          </a:xfrm>
          <a:prstGeom prst="rect">
            <a:avLst/>
          </a:prstGeom>
          <a:noFill/>
        </p:spPr>
        <p:txBody>
          <a:bodyPr wrap="square" anchor="t" lIns="45720" rIns="45720">
            <a:spAutoFit/>
          </a:bodyPr>
          <a:lstStyle/>
          <a:p>
            <a:pPr algn="l">
              <a:lnSpc>
                <a:spcPct val="110000"/>
              </a:lnSpc>
            </a:pPr>
            <a:r>
              <a:rPr sz="1400" b="1" i="0">
                <a:solidFill>
                  <a:srgbClr val="E6E9F2"/>
                </a:solidFill>
                <a:latin typeface="Segoe UI"/>
              </a:rPr>
              <a:t>CSL100 · Group project</a:t>
            </a:r>
          </a:p>
        </p:txBody>
      </p:sp>
      <p:sp>
        <p:nvSpPr>
          <p:cNvPr id="13" name="TextBox 12"/>
          <p:cNvSpPr txBox="1"/>
          <p:nvPr/>
        </p:nvSpPr>
        <p:spPr>
          <a:xfrm>
            <a:off x="6400800" y="5989320"/>
            <a:ext cx="5120640" cy="365760"/>
          </a:xfrm>
          <a:prstGeom prst="rect">
            <a:avLst/>
          </a:prstGeom>
          <a:noFill/>
        </p:spPr>
        <p:txBody>
          <a:bodyPr wrap="square" anchor="t" lIns="45720" rIns="45720">
            <a:spAutoFit/>
          </a:bodyPr>
          <a:lstStyle/>
          <a:p>
            <a:pPr algn="r">
              <a:lnSpc>
                <a:spcPct val="110000"/>
              </a:lnSpc>
            </a:pPr>
            <a:r>
              <a:rPr sz="1400" b="0" i="0">
                <a:solidFill>
                  <a:srgbClr val="22D3EE"/>
                </a:solidFill>
                <a:latin typeface="Segoe UI"/>
              </a:rPr>
              <a:t>github.com/roshanraj9136/auto-grader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THE PROBLEM</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Grading full-stack projects doesn't scale</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2/14</a:t>
            </a:r>
          </a:p>
        </p:txBody>
      </p:sp>
      <p:sp>
        <p:nvSpPr>
          <p:cNvPr id="6" name="Rounded Rectangle 5"/>
          <p:cNvSpPr/>
          <p:nvPr/>
        </p:nvSpPr>
        <p:spPr>
          <a:xfrm>
            <a:off x="548640" y="1508760"/>
            <a:ext cx="5394960" cy="44805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1645920"/>
            <a:ext cx="5029200" cy="457200"/>
          </a:xfrm>
          <a:prstGeom prst="rect">
            <a:avLst/>
          </a:prstGeom>
          <a:noFill/>
        </p:spPr>
        <p:txBody>
          <a:bodyPr wrap="square" anchor="t" lIns="45720" rIns="45720">
            <a:spAutoFit/>
          </a:bodyPr>
          <a:lstStyle/>
          <a:p>
            <a:pPr algn="l">
              <a:lnSpc>
                <a:spcPct val="110000"/>
              </a:lnSpc>
            </a:pPr>
            <a:r>
              <a:rPr sz="2000" b="1" i="0">
                <a:solidFill>
                  <a:srgbClr val="F59E0B"/>
                </a:solidFill>
                <a:latin typeface="Segoe UI"/>
              </a:rPr>
              <a:t>Today</a:t>
            </a:r>
          </a:p>
        </p:txBody>
      </p:sp>
      <p:sp>
        <p:nvSpPr>
          <p:cNvPr id="8" name="TextBox 7"/>
          <p:cNvSpPr txBox="1"/>
          <p:nvPr/>
        </p:nvSpPr>
        <p:spPr>
          <a:xfrm>
            <a:off x="777240" y="2148840"/>
            <a:ext cx="5029200" cy="3840480"/>
          </a:xfrm>
          <a:prstGeom prst="rect">
            <a:avLst/>
          </a:prstGeom>
          <a:noFill/>
        </p:spPr>
        <p:txBody>
          <a:bodyPr wrap="square">
            <a:spAutoFit/>
          </a:bodyPr>
          <a:lstStyle/>
          <a:p>
            <a:pPr>
              <a:spcAft>
                <a:spcPts val="600"/>
              </a:spcAft>
            </a:pPr>
            <a:r>
              <a:rPr sz="1500" b="1" i="0">
                <a:solidFill>
                  <a:srgbClr val="7C83FF"/>
                </a:solidFill>
                <a:latin typeface="Segoe UI"/>
              </a:rPr>
              <a:t>•  </a:t>
            </a:r>
            <a:r>
              <a:rPr sz="1500" b="1" i="0">
                <a:solidFill>
                  <a:srgbClr val="E6E9F2"/>
                </a:solidFill>
                <a:latin typeface="Segoe UI"/>
              </a:rPr>
              <a:t>Many moving parts</a:t>
            </a:r>
            <a:r>
              <a:rPr sz="1500" b="0" i="0">
                <a:solidFill>
                  <a:srgbClr val="9AA4BF"/>
                </a:solidFill>
                <a:latin typeface="Segoe UI"/>
              </a:rPr>
              <a:t> — frontend, API, database, Docker, CI. One TA cannot review all of it deeply</a:t>
            </a:r>
          </a:p>
          <a:p>
            <a:pPr>
              <a:spcAft>
                <a:spcPts val="600"/>
              </a:spcAft>
            </a:pPr>
            <a:r>
              <a:rPr sz="1500" b="1" i="0">
                <a:solidFill>
                  <a:srgbClr val="7C83FF"/>
                </a:solidFill>
                <a:latin typeface="Segoe UI"/>
              </a:rPr>
              <a:t>•  </a:t>
            </a:r>
            <a:r>
              <a:rPr sz="1500" b="1" i="0">
                <a:solidFill>
                  <a:srgbClr val="E6E9F2"/>
                </a:solidFill>
                <a:latin typeface="Segoe UI"/>
              </a:rPr>
              <a:t>Inconsistent</a:t>
            </a:r>
            <a:r>
              <a:rPr sz="1500" b="0" i="0">
                <a:solidFill>
                  <a:srgbClr val="9AA4BF"/>
                </a:solidFill>
                <a:latin typeface="Segoe UI"/>
              </a:rPr>
              <a:t> — two TAs, two different grades for the same repository</a:t>
            </a:r>
          </a:p>
          <a:p>
            <a:pPr>
              <a:spcAft>
                <a:spcPts val="600"/>
              </a:spcAft>
            </a:pPr>
            <a:r>
              <a:rPr sz="1500" b="1" i="0">
                <a:solidFill>
                  <a:srgbClr val="7C83FF"/>
                </a:solidFill>
                <a:latin typeface="Segoe UI"/>
              </a:rPr>
              <a:t>•  </a:t>
            </a:r>
            <a:r>
              <a:rPr sz="1500" b="1" i="0">
                <a:solidFill>
                  <a:srgbClr val="E6E9F2"/>
                </a:solidFill>
                <a:latin typeface="Segoe UI"/>
              </a:rPr>
              <a:t>Slow feedback</a:t>
            </a:r>
            <a:r>
              <a:rPr sz="1500" b="0" i="0">
                <a:solidFill>
                  <a:srgbClr val="9AA4BF"/>
                </a:solidFill>
                <a:latin typeface="Segoe UI"/>
              </a:rPr>
              <a:t> — students hear back days later, after the next assignment has started</a:t>
            </a:r>
          </a:p>
          <a:p>
            <a:pPr>
              <a:spcAft>
                <a:spcPts val="600"/>
              </a:spcAft>
            </a:pPr>
            <a:r>
              <a:rPr sz="1500" b="1" i="0">
                <a:solidFill>
                  <a:srgbClr val="7C83FF"/>
                </a:solidFill>
                <a:latin typeface="Segoe UI"/>
              </a:rPr>
              <a:t>•  </a:t>
            </a:r>
            <a:r>
              <a:rPr sz="1500" b="1" i="0">
                <a:solidFill>
                  <a:srgbClr val="E6E9F2"/>
                </a:solidFill>
                <a:latin typeface="Segoe UI"/>
              </a:rPr>
              <a:t>Test cases are not enough</a:t>
            </a:r>
            <a:r>
              <a:rPr sz="1500" b="0" i="0">
                <a:solidFill>
                  <a:srgbClr val="9AA4BF"/>
                </a:solidFill>
                <a:latin typeface="Segoe UI"/>
              </a:rPr>
              <a:t> — they check outputs, not architecture, security or deployability</a:t>
            </a:r>
          </a:p>
          <a:p>
            <a:pPr>
              <a:spcAft>
                <a:spcPts val="600"/>
              </a:spcAft>
            </a:pPr>
            <a:r>
              <a:rPr sz="1500" b="1" i="0">
                <a:solidFill>
                  <a:srgbClr val="7C83FF"/>
                </a:solidFill>
                <a:latin typeface="Segoe UI"/>
              </a:rPr>
              <a:t>•  </a:t>
            </a:r>
            <a:r>
              <a:rPr sz="1500" b="1" i="0">
                <a:solidFill>
                  <a:srgbClr val="E6E9F2"/>
                </a:solidFill>
                <a:latin typeface="Segoe UI"/>
              </a:rPr>
              <a:t>A number, not a lesson</a:t>
            </a:r>
            <a:r>
              <a:rPr sz="1500" b="0" i="0">
                <a:solidFill>
                  <a:srgbClr val="9AA4BF"/>
                </a:solidFill>
                <a:latin typeface="Segoe UI"/>
              </a:rPr>
              <a:t> — students don't learn what to improve next</a:t>
            </a:r>
          </a:p>
        </p:txBody>
      </p:sp>
      <p:sp>
        <p:nvSpPr>
          <p:cNvPr id="9" name="Rounded Rectangle 8"/>
          <p:cNvSpPr/>
          <p:nvPr/>
        </p:nvSpPr>
        <p:spPr>
          <a:xfrm>
            <a:off x="6263640" y="1508760"/>
            <a:ext cx="5394960" cy="448056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92240" y="1645920"/>
            <a:ext cx="5029200" cy="457200"/>
          </a:xfrm>
          <a:prstGeom prst="rect">
            <a:avLst/>
          </a:prstGeom>
          <a:noFill/>
        </p:spPr>
        <p:txBody>
          <a:bodyPr wrap="square" anchor="t" lIns="45720" rIns="45720">
            <a:spAutoFit/>
          </a:bodyPr>
          <a:lstStyle/>
          <a:p>
            <a:pPr algn="l">
              <a:lnSpc>
                <a:spcPct val="110000"/>
              </a:lnSpc>
            </a:pPr>
            <a:r>
              <a:rPr sz="2000" b="1" i="0">
                <a:solidFill>
                  <a:srgbClr val="22C55E"/>
                </a:solidFill>
                <a:latin typeface="Segoe UI"/>
              </a:rPr>
              <a:t>Goal</a:t>
            </a:r>
          </a:p>
        </p:txBody>
      </p:sp>
      <p:sp>
        <p:nvSpPr>
          <p:cNvPr id="11" name="TextBox 10"/>
          <p:cNvSpPr txBox="1"/>
          <p:nvPr/>
        </p:nvSpPr>
        <p:spPr>
          <a:xfrm>
            <a:off x="6492240" y="2148840"/>
            <a:ext cx="5029200" cy="3840480"/>
          </a:xfrm>
          <a:prstGeom prst="rect">
            <a:avLst/>
          </a:prstGeom>
          <a:noFill/>
        </p:spPr>
        <p:txBody>
          <a:bodyPr wrap="square">
            <a:spAutoFit/>
          </a:bodyPr>
          <a:lstStyle/>
          <a:p>
            <a:pPr>
              <a:spcAft>
                <a:spcPts val="600"/>
              </a:spcAft>
            </a:pPr>
            <a:r>
              <a:rPr sz="1500" b="1" i="0">
                <a:solidFill>
                  <a:srgbClr val="22C55E"/>
                </a:solidFill>
                <a:latin typeface="Segoe UI"/>
              </a:rPr>
              <a:t>•  </a:t>
            </a:r>
            <a:r>
              <a:rPr sz="1500" b="1" i="0">
                <a:solidFill>
                  <a:srgbClr val="E6E9F2"/>
                </a:solidFill>
                <a:latin typeface="Segoe UI"/>
              </a:rPr>
              <a:t>Grade the whole system</a:t>
            </a:r>
            <a:r>
              <a:rPr sz="1500" b="0" i="0">
                <a:solidFill>
                  <a:srgbClr val="9AA4BF"/>
                </a:solidFill>
                <a:latin typeface="Segoe UI"/>
              </a:rPr>
              <a:t> — code quality, architecture, security, testing, DevOps</a:t>
            </a:r>
          </a:p>
          <a:p>
            <a:pPr>
              <a:spcAft>
                <a:spcPts val="600"/>
              </a:spcAft>
            </a:pPr>
            <a:r>
              <a:rPr sz="1500" b="1" i="0">
                <a:solidFill>
                  <a:srgbClr val="22C55E"/>
                </a:solidFill>
                <a:latin typeface="Segoe UI"/>
              </a:rPr>
              <a:t>•  </a:t>
            </a:r>
            <a:r>
              <a:rPr sz="1500" b="1" i="0">
                <a:solidFill>
                  <a:srgbClr val="E6E9F2"/>
                </a:solidFill>
                <a:latin typeface="Segoe UI"/>
              </a:rPr>
              <a:t>In under a minute</a:t>
            </a:r>
            <a:r>
              <a:rPr sz="1500" b="0" i="0">
                <a:solidFill>
                  <a:srgbClr val="9AA4BF"/>
                </a:solidFill>
                <a:latin typeface="Segoe UI"/>
              </a:rPr>
              <a:t> — latency is a first-class requirement</a:t>
            </a:r>
          </a:p>
          <a:p>
            <a:pPr>
              <a:spcAft>
                <a:spcPts val="600"/>
              </a:spcAft>
            </a:pPr>
            <a:r>
              <a:rPr sz="1500" b="1" i="0">
                <a:solidFill>
                  <a:srgbClr val="22C55E"/>
                </a:solidFill>
                <a:latin typeface="Segoe UI"/>
              </a:rPr>
              <a:t>•  </a:t>
            </a:r>
            <a:r>
              <a:rPr sz="1500" b="1" i="0">
                <a:solidFill>
                  <a:srgbClr val="E6E9F2"/>
                </a:solidFill>
                <a:latin typeface="Segoe UI"/>
              </a:rPr>
              <a:t>Explain every point</a:t>
            </a:r>
            <a:r>
              <a:rPr sz="1500" b="0" i="0">
                <a:solidFill>
                  <a:srgbClr val="9AA4BF"/>
                </a:solidFill>
                <a:latin typeface="Segoe UI"/>
              </a:rPr>
              <a:t> — findings with file paths and concrete fixes</a:t>
            </a:r>
          </a:p>
          <a:p>
            <a:pPr>
              <a:spcAft>
                <a:spcPts val="600"/>
              </a:spcAft>
            </a:pPr>
            <a:r>
              <a:rPr sz="1500" b="1" i="0">
                <a:solidFill>
                  <a:srgbClr val="22C55E"/>
                </a:solidFill>
                <a:latin typeface="Segoe UI"/>
              </a:rPr>
              <a:t>•  </a:t>
            </a:r>
            <a:r>
              <a:rPr sz="1500" b="1" i="0">
                <a:solidFill>
                  <a:srgbClr val="E6E9F2"/>
                </a:solidFill>
                <a:latin typeface="Segoe UI"/>
              </a:rPr>
              <a:t>Actually run it</a:t>
            </a:r>
            <a:r>
              <a:rPr sz="1500" b="0" i="0">
                <a:solidFill>
                  <a:srgbClr val="9AA4BF"/>
                </a:solidFill>
                <a:latin typeface="Segoe UI"/>
              </a:rPr>
              <a:t> — build and start the student's Docker image</a:t>
            </a:r>
          </a:p>
          <a:p>
            <a:pPr>
              <a:spcAft>
                <a:spcPts val="600"/>
              </a:spcAft>
            </a:pPr>
            <a:r>
              <a:rPr sz="1500" b="1" i="0">
                <a:solidFill>
                  <a:srgbClr val="22C55E"/>
                </a:solidFill>
                <a:latin typeface="Segoe UI"/>
              </a:rPr>
              <a:t>•  </a:t>
            </a:r>
            <a:r>
              <a:rPr sz="1500" b="1" i="0">
                <a:solidFill>
                  <a:srgbClr val="E6E9F2"/>
                </a:solidFill>
                <a:latin typeface="Segoe UI"/>
              </a:rPr>
              <a:t>Teach</a:t>
            </a:r>
            <a:r>
              <a:rPr sz="1500" b="0" i="0">
                <a:solidFill>
                  <a:srgbClr val="9AA4BF"/>
                </a:solidFill>
                <a:latin typeface="Segoe UI"/>
              </a:rPr>
              <a:t> — personalised learning path: DBs, load balancers, containers, CI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WHAT AUTOGRADER+ DOES</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Solution at a glance</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3/14</a:t>
            </a:r>
          </a:p>
        </p:txBody>
      </p:sp>
      <p:sp>
        <p:nvSpPr>
          <p:cNvPr id="6" name="Rounded Rectangle 5"/>
          <p:cNvSpPr/>
          <p:nvPr/>
        </p:nvSpPr>
        <p:spPr>
          <a:xfrm>
            <a:off x="548640" y="1554480"/>
            <a:ext cx="3520440" cy="548640"/>
          </a:xfrm>
          <a:prstGeom prst="roundRect">
            <a:avLst>
              <a:gd name="adj" fmla="val 12000"/>
            </a:avLst>
          </a:prstGeom>
          <a:solidFill>
            <a:srgbClr val="22D3EE"/>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INPUT</a:t>
            </a:r>
          </a:p>
        </p:txBody>
      </p:sp>
      <p:sp>
        <p:nvSpPr>
          <p:cNvPr id="7" name="Rounded Rectangle 6"/>
          <p:cNvSpPr/>
          <p:nvPr/>
        </p:nvSpPr>
        <p:spPr>
          <a:xfrm>
            <a:off x="548640" y="2194560"/>
            <a:ext cx="3520440" cy="329184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31520" y="2331720"/>
            <a:ext cx="3200400" cy="3108960"/>
          </a:xfrm>
          <a:prstGeom prst="rect">
            <a:avLst/>
          </a:prstGeom>
          <a:noFill/>
        </p:spPr>
        <p:txBody>
          <a:bodyPr wrap="square">
            <a:spAutoFit/>
          </a:bodyPr>
          <a:lstStyle/>
          <a:p>
            <a:pPr>
              <a:spcAft>
                <a:spcPts val="700"/>
              </a:spcAft>
            </a:pPr>
            <a:r>
              <a:rPr sz="1400" b="1" i="0">
                <a:solidFill>
                  <a:srgbClr val="22D3EE"/>
                </a:solidFill>
                <a:latin typeface="Segoe UI"/>
              </a:rPr>
              <a:t>•  </a:t>
            </a:r>
            <a:r>
              <a:rPr sz="1400" b="0" i="0">
                <a:solidFill>
                  <a:srgbClr val="E6E9F2"/>
                </a:solidFill>
                <a:latin typeface="Segoe UI"/>
              </a:rPr>
              <a:t>GitHub repository URL</a:t>
            </a:r>
          </a:p>
          <a:p>
            <a:pPr>
              <a:spcAft>
                <a:spcPts val="700"/>
              </a:spcAft>
            </a:pPr>
            <a:r>
              <a:rPr sz="1400" b="1" i="0">
                <a:solidFill>
                  <a:srgbClr val="22D3EE"/>
                </a:solidFill>
                <a:latin typeface="Segoe UI"/>
              </a:rPr>
              <a:t>•  </a:t>
            </a:r>
            <a:r>
              <a:rPr sz="1400" b="0" i="0">
                <a:solidFill>
                  <a:srgbClr val="E6E9F2"/>
                </a:solidFill>
                <a:latin typeface="Segoe UI"/>
              </a:rPr>
              <a:t>branch / tag / commit (optional)</a:t>
            </a:r>
          </a:p>
          <a:p>
            <a:pPr>
              <a:spcAft>
                <a:spcPts val="700"/>
              </a:spcAft>
            </a:pPr>
            <a:r>
              <a:rPr sz="1400" b="1" i="0">
                <a:solidFill>
                  <a:srgbClr val="22D3EE"/>
                </a:solidFill>
                <a:latin typeface="Segoe UI"/>
              </a:rPr>
              <a:t>•  </a:t>
            </a:r>
            <a:r>
              <a:rPr sz="1400" b="0" i="0">
                <a:solidFill>
                  <a:srgbClr val="E6E9F2"/>
                </a:solidFill>
                <a:latin typeface="Segoe UI"/>
              </a:rPr>
              <a:t>Dockerfile upload (optional)</a:t>
            </a:r>
          </a:p>
          <a:p>
            <a:pPr>
              <a:spcAft>
                <a:spcPts val="700"/>
              </a:spcAft>
            </a:pPr>
            <a:r>
              <a:rPr sz="1400" b="1" i="0">
                <a:solidFill>
                  <a:srgbClr val="22D3EE"/>
                </a:solidFill>
                <a:latin typeface="Segoe UI"/>
              </a:rPr>
              <a:t>•  </a:t>
            </a:r>
            <a:r>
              <a:rPr sz="1400" b="0" i="0">
                <a:solidFill>
                  <a:srgbClr val="E6E9F2"/>
                </a:solidFill>
                <a:latin typeface="Segoe UI"/>
              </a:rPr>
              <a:t>rubric weights per dimension</a:t>
            </a:r>
          </a:p>
          <a:p>
            <a:pPr>
              <a:spcAft>
                <a:spcPts val="700"/>
              </a:spcAft>
            </a:pPr>
            <a:r>
              <a:rPr sz="1400" b="1" i="0">
                <a:solidFill>
                  <a:srgbClr val="22D3EE"/>
                </a:solidFill>
                <a:latin typeface="Segoe UI"/>
              </a:rPr>
              <a:t>•  </a:t>
            </a:r>
            <a:r>
              <a:rPr sz="1400" b="0" i="0">
                <a:solidFill>
                  <a:srgbClr val="E6E9F2"/>
                </a:solidFill>
                <a:latin typeface="Segoe UI"/>
              </a:rPr>
              <a:t>instructor brief / assignment spec</a:t>
            </a:r>
          </a:p>
        </p:txBody>
      </p:sp>
      <p:cxnSp>
        <p:nvCxnSpPr>
          <p:cNvPr id="9" name="Connector 8"/>
          <p:cNvCxnSpPr/>
          <p:nvPr/>
        </p:nvCxnSpPr>
        <p:spPr>
          <a:xfrm>
            <a:off x="4114800" y="3840480"/>
            <a:ext cx="274320" cy="0"/>
          </a:xfrm>
          <a:prstGeom prst="line">
            <a:avLst/>
          </a:prstGeom>
          <a:ln w="31750">
            <a:solidFill>
              <a:srgbClr val="22D3E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434840" y="1554480"/>
            <a:ext cx="3520440" cy="548640"/>
          </a:xfrm>
          <a:prstGeom prst="roundRect">
            <a:avLst>
              <a:gd name="adj" fmla="val 12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5 SPECIALISTS + JUDGE</a:t>
            </a:r>
          </a:p>
        </p:txBody>
      </p:sp>
      <p:sp>
        <p:nvSpPr>
          <p:cNvPr id="11" name="Rounded Rectangle 10"/>
          <p:cNvSpPr/>
          <p:nvPr/>
        </p:nvSpPr>
        <p:spPr>
          <a:xfrm>
            <a:off x="4434840" y="2194560"/>
            <a:ext cx="3520440" cy="329184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617720" y="2331720"/>
            <a:ext cx="3200400" cy="3108960"/>
          </a:xfrm>
          <a:prstGeom prst="rect">
            <a:avLst/>
          </a:prstGeom>
          <a:noFill/>
        </p:spPr>
        <p:txBody>
          <a:bodyPr wrap="square">
            <a:spAutoFit/>
          </a:bodyPr>
          <a:lstStyle/>
          <a:p>
            <a:pPr>
              <a:spcAft>
                <a:spcPts val="700"/>
              </a:spcAft>
            </a:pPr>
            <a:r>
              <a:rPr sz="1400" b="1" i="0">
                <a:solidFill>
                  <a:srgbClr val="7C83FF"/>
                </a:solidFill>
                <a:latin typeface="Segoe UI"/>
              </a:rPr>
              <a:t>•  </a:t>
            </a:r>
            <a:r>
              <a:rPr sz="1400" b="0" i="0">
                <a:solidFill>
                  <a:srgbClr val="E6E9F2"/>
                </a:solidFill>
                <a:latin typeface="Segoe UI"/>
              </a:rPr>
              <a:t>Code Quality agent</a:t>
            </a:r>
          </a:p>
          <a:p>
            <a:pPr>
              <a:spcAft>
                <a:spcPts val="700"/>
              </a:spcAft>
            </a:pPr>
            <a:r>
              <a:rPr sz="1400" b="1" i="0">
                <a:solidFill>
                  <a:srgbClr val="7C83FF"/>
                </a:solidFill>
                <a:latin typeface="Segoe UI"/>
              </a:rPr>
              <a:t>•  </a:t>
            </a:r>
            <a:r>
              <a:rPr sz="1400" b="0" i="0">
                <a:solidFill>
                  <a:srgbClr val="E6E9F2"/>
                </a:solidFill>
                <a:latin typeface="Segoe UI"/>
              </a:rPr>
              <a:t>Architecture agent</a:t>
            </a:r>
          </a:p>
          <a:p>
            <a:pPr>
              <a:spcAft>
                <a:spcPts val="700"/>
              </a:spcAft>
            </a:pPr>
            <a:r>
              <a:rPr sz="1400" b="1" i="0">
                <a:solidFill>
                  <a:srgbClr val="7C83FF"/>
                </a:solidFill>
                <a:latin typeface="Segoe UI"/>
              </a:rPr>
              <a:t>•  </a:t>
            </a:r>
            <a:r>
              <a:rPr sz="1400" b="0" i="0">
                <a:solidFill>
                  <a:srgbClr val="E6E9F2"/>
                </a:solidFill>
                <a:latin typeface="Segoe UI"/>
              </a:rPr>
              <a:t>Security agent</a:t>
            </a:r>
          </a:p>
          <a:p>
            <a:pPr>
              <a:spcAft>
                <a:spcPts val="700"/>
              </a:spcAft>
            </a:pPr>
            <a:r>
              <a:rPr sz="1400" b="1" i="0">
                <a:solidFill>
                  <a:srgbClr val="7C83FF"/>
                </a:solidFill>
                <a:latin typeface="Segoe UI"/>
              </a:rPr>
              <a:t>•  </a:t>
            </a:r>
            <a:r>
              <a:rPr sz="1400" b="0" i="0">
                <a:solidFill>
                  <a:srgbClr val="E6E9F2"/>
                </a:solidFill>
                <a:latin typeface="Segoe UI"/>
              </a:rPr>
              <a:t>Testing agent</a:t>
            </a:r>
          </a:p>
          <a:p>
            <a:pPr>
              <a:spcAft>
                <a:spcPts val="700"/>
              </a:spcAft>
            </a:pPr>
            <a:r>
              <a:rPr sz="1400" b="1" i="0">
                <a:solidFill>
                  <a:srgbClr val="7C83FF"/>
                </a:solidFill>
                <a:latin typeface="Segoe UI"/>
              </a:rPr>
              <a:t>•  </a:t>
            </a:r>
            <a:r>
              <a:rPr sz="1400" b="0" i="0">
                <a:solidFill>
                  <a:srgbClr val="E6E9F2"/>
                </a:solidFill>
                <a:latin typeface="Segoe UI"/>
              </a:rPr>
              <a:t>DevOps &amp; Docker agent (real build + run)</a:t>
            </a:r>
          </a:p>
          <a:p>
            <a:pPr>
              <a:spcAft>
                <a:spcPts val="700"/>
              </a:spcAft>
            </a:pPr>
            <a:r>
              <a:rPr sz="1400" b="1" i="0">
                <a:solidFill>
                  <a:srgbClr val="7C83FF"/>
                </a:solidFill>
                <a:latin typeface="Segoe UI"/>
              </a:rPr>
              <a:t>•  </a:t>
            </a:r>
            <a:r>
              <a:rPr sz="1400" b="0" i="0">
                <a:solidFill>
                  <a:srgbClr val="E6E9F2"/>
                </a:solidFill>
                <a:latin typeface="Segoe UI"/>
              </a:rPr>
              <a:t>Judge: cross-examines, calibrates</a:t>
            </a:r>
          </a:p>
        </p:txBody>
      </p:sp>
      <p:cxnSp>
        <p:nvCxnSpPr>
          <p:cNvPr id="13" name="Connector 12"/>
          <p:cNvCxnSpPr/>
          <p:nvPr/>
        </p:nvCxnSpPr>
        <p:spPr>
          <a:xfrm>
            <a:off x="8001000" y="3840480"/>
            <a:ext cx="274320" cy="0"/>
          </a:xfrm>
          <a:prstGeom prst="line">
            <a:avLst/>
          </a:prstGeom>
          <a:ln w="31750">
            <a:solidFill>
              <a:srgbClr val="7C83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321040" y="1554480"/>
            <a:ext cx="3520440" cy="548640"/>
          </a:xfrm>
          <a:prstGeom prst="roundRect">
            <a:avLst>
              <a:gd name="adj" fmla="val 12000"/>
            </a:avLst>
          </a:prstGeom>
          <a:solidFill>
            <a:srgbClr val="22C55E"/>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OUTPUT</a:t>
            </a:r>
          </a:p>
        </p:txBody>
      </p:sp>
      <p:sp>
        <p:nvSpPr>
          <p:cNvPr id="15" name="Rounded Rectangle 14"/>
          <p:cNvSpPr/>
          <p:nvPr/>
        </p:nvSpPr>
        <p:spPr>
          <a:xfrm>
            <a:off x="8321040" y="2194560"/>
            <a:ext cx="3520440" cy="329184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503919" y="2331720"/>
            <a:ext cx="3200400" cy="3108960"/>
          </a:xfrm>
          <a:prstGeom prst="rect">
            <a:avLst/>
          </a:prstGeom>
          <a:noFill/>
        </p:spPr>
        <p:txBody>
          <a:bodyPr wrap="square">
            <a:spAutoFit/>
          </a:bodyPr>
          <a:lstStyle/>
          <a:p>
            <a:pPr>
              <a:spcAft>
                <a:spcPts val="700"/>
              </a:spcAft>
            </a:pPr>
            <a:r>
              <a:rPr sz="1400" b="1" i="0">
                <a:solidFill>
                  <a:srgbClr val="22C55E"/>
                </a:solidFill>
                <a:latin typeface="Segoe UI"/>
              </a:rPr>
              <a:t>•  </a:t>
            </a:r>
            <a:r>
              <a:rPr sz="1400" b="0" i="0">
                <a:solidFill>
                  <a:srgbClr val="E6E9F2"/>
                </a:solidFill>
                <a:latin typeface="Segoe UI"/>
              </a:rPr>
              <a:t>score /100 + letter grade</a:t>
            </a:r>
          </a:p>
          <a:p>
            <a:pPr>
              <a:spcAft>
                <a:spcPts val="700"/>
              </a:spcAft>
            </a:pPr>
            <a:r>
              <a:rPr sz="1400" b="1" i="0">
                <a:solidFill>
                  <a:srgbClr val="22C55E"/>
                </a:solidFill>
                <a:latin typeface="Segoe UI"/>
              </a:rPr>
              <a:t>•  </a:t>
            </a:r>
            <a:r>
              <a:rPr sz="1400" b="0" i="0">
                <a:solidFill>
                  <a:srgbClr val="E6E9F2"/>
                </a:solidFill>
                <a:latin typeface="Segoe UI"/>
              </a:rPr>
              <a:t>per-dimension rationale</a:t>
            </a:r>
          </a:p>
          <a:p>
            <a:pPr>
              <a:spcAft>
                <a:spcPts val="700"/>
              </a:spcAft>
            </a:pPr>
            <a:r>
              <a:rPr sz="1400" b="1" i="0">
                <a:solidFill>
                  <a:srgbClr val="22C55E"/>
                </a:solidFill>
                <a:latin typeface="Segoe UI"/>
              </a:rPr>
              <a:t>•  </a:t>
            </a:r>
            <a:r>
              <a:rPr sz="1400" b="0" i="0">
                <a:solidFill>
                  <a:srgbClr val="E6E9F2"/>
                </a:solidFill>
                <a:latin typeface="Segoe UI"/>
              </a:rPr>
              <a:t>findings with file paths + fixes</a:t>
            </a:r>
          </a:p>
          <a:p>
            <a:pPr>
              <a:spcAft>
                <a:spcPts val="700"/>
              </a:spcAft>
            </a:pPr>
            <a:r>
              <a:rPr sz="1400" b="1" i="0">
                <a:solidFill>
                  <a:srgbClr val="22C55E"/>
                </a:solidFill>
                <a:latin typeface="Segoe UI"/>
              </a:rPr>
              <a:t>•  </a:t>
            </a:r>
            <a:r>
              <a:rPr sz="1400" b="0" i="0">
                <a:solidFill>
                  <a:srgbClr val="E6E9F2"/>
                </a:solidFill>
                <a:latin typeface="Segoe UI"/>
              </a:rPr>
              <a:t>top priorities + learning path</a:t>
            </a:r>
          </a:p>
          <a:p>
            <a:pPr>
              <a:spcAft>
                <a:spcPts val="700"/>
              </a:spcAft>
            </a:pPr>
            <a:r>
              <a:rPr sz="1400" b="1" i="0">
                <a:solidFill>
                  <a:srgbClr val="22C55E"/>
                </a:solidFill>
                <a:latin typeface="Segoe UI"/>
              </a:rPr>
              <a:t>•  </a:t>
            </a:r>
            <a:r>
              <a:rPr sz="1400" b="0" i="0">
                <a:solidFill>
                  <a:srgbClr val="E6E9F2"/>
                </a:solidFill>
                <a:latin typeface="Segoe UI"/>
              </a:rPr>
              <a:t>latency waterfall · HTML / MD / JSON</a:t>
            </a:r>
          </a:p>
        </p:txBody>
      </p:sp>
      <p:sp>
        <p:nvSpPr>
          <p:cNvPr id="17" name="TextBox 16"/>
          <p:cNvSpPr txBox="1"/>
          <p:nvPr/>
        </p:nvSpPr>
        <p:spPr>
          <a:xfrm>
            <a:off x="548640" y="5715000"/>
            <a:ext cx="11155680" cy="548640"/>
          </a:xfrm>
          <a:prstGeom prst="rect">
            <a:avLst/>
          </a:prstGeom>
          <a:noFill/>
        </p:spPr>
        <p:txBody>
          <a:bodyPr wrap="square" anchor="t" lIns="45720" rIns="45720">
            <a:spAutoFit/>
          </a:bodyPr>
          <a:lstStyle/>
          <a:p>
            <a:pPr algn="l">
              <a:lnSpc>
                <a:spcPct val="110000"/>
              </a:lnSpc>
            </a:pPr>
            <a:r>
              <a:rPr sz="1400" b="0" i="0">
                <a:solidFill>
                  <a:srgbClr val="9AA4BF"/>
                </a:solidFill>
                <a:latin typeface="Segoe UI"/>
              </a:rPr>
              <a:t>Works without an API key too: every agent has a deterministic heuristic scorer, so the same pipeline runs offline (and acts as a fallback).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AUTOGRADER+ V2</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The platform: learn full-stack in one place</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4/14</a:t>
            </a:r>
          </a:p>
        </p:txBody>
      </p:sp>
      <p:sp>
        <p:nvSpPr>
          <p:cNvPr id="6" name="Rounded Rectangle 5"/>
          <p:cNvSpPr/>
          <p:nvPr/>
        </p:nvSpPr>
        <p:spPr>
          <a:xfrm>
            <a:off x="548640" y="1508760"/>
            <a:ext cx="3611880" cy="548640"/>
          </a:xfrm>
          <a:prstGeom prst="roundRect">
            <a:avLst>
              <a:gd name="adj" fmla="val 12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0B1020"/>
                </a:solidFill>
                <a:latin typeface="Segoe UI"/>
              </a:rPr>
              <a:t>Students</a:t>
            </a:r>
          </a:p>
        </p:txBody>
      </p:sp>
      <p:sp>
        <p:nvSpPr>
          <p:cNvPr id="7" name="Rounded Rectangle 6"/>
          <p:cNvSpPr/>
          <p:nvPr/>
        </p:nvSpPr>
        <p:spPr>
          <a:xfrm>
            <a:off x="548640" y="2148840"/>
            <a:ext cx="3611880" cy="3246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2286000"/>
            <a:ext cx="3337560" cy="3108960"/>
          </a:xfrm>
          <a:prstGeom prst="rect">
            <a:avLst/>
          </a:prstGeom>
          <a:noFill/>
        </p:spPr>
        <p:txBody>
          <a:bodyPr wrap="square">
            <a:spAutoFit/>
          </a:bodyPr>
          <a:lstStyle/>
          <a:p>
            <a:pPr>
              <a:spcAft>
                <a:spcPts val="700"/>
              </a:spcAft>
            </a:pPr>
            <a:r>
              <a:rPr sz="1300" b="1" i="0">
                <a:solidFill>
                  <a:srgbClr val="7C83FF"/>
                </a:solidFill>
                <a:latin typeface="Segoe UI"/>
              </a:rPr>
              <a:t>•  </a:t>
            </a:r>
            <a:r>
              <a:rPr sz="1300" b="0" i="0">
                <a:solidFill>
                  <a:srgbClr val="E6E9F2"/>
                </a:solidFill>
                <a:latin typeface="Segoe UI"/>
              </a:rPr>
              <a:t>Dashboard: score history, skill radar, XP &amp; level</a:t>
            </a:r>
          </a:p>
          <a:p>
            <a:pPr>
              <a:spcAft>
                <a:spcPts val="700"/>
              </a:spcAft>
            </a:pPr>
            <a:r>
              <a:rPr sz="1300" b="1" i="0">
                <a:solidFill>
                  <a:srgbClr val="7C83FF"/>
                </a:solidFill>
                <a:latin typeface="Segoe UI"/>
              </a:rPr>
              <a:t>•  </a:t>
            </a:r>
            <a:r>
              <a:rPr sz="1300" b="0" i="0">
                <a:solidFill>
                  <a:srgbClr val="E6E9F2"/>
                </a:solidFill>
                <a:latin typeface="Segoe UI"/>
              </a:rPr>
              <a:t>Assignments with rubric-weighted grading</a:t>
            </a:r>
          </a:p>
          <a:p>
            <a:pPr>
              <a:spcAft>
                <a:spcPts val="700"/>
              </a:spcAft>
            </a:pPr>
            <a:r>
              <a:rPr sz="1300" b="1" i="0">
                <a:solidFill>
                  <a:srgbClr val="7C83FF"/>
                </a:solidFill>
                <a:latin typeface="Segoe UI"/>
              </a:rPr>
              <a:t>•  </a:t>
            </a:r>
            <a:r>
              <a:rPr sz="1300" b="0" i="0">
                <a:solidFill>
                  <a:srgbClr val="E6E9F2"/>
                </a:solidFill>
                <a:latin typeface="Segoe UI"/>
              </a:rPr>
              <a:t>Live grading pipeline + full report</a:t>
            </a:r>
          </a:p>
          <a:p>
            <a:pPr>
              <a:spcAft>
                <a:spcPts val="700"/>
              </a:spcAft>
            </a:pPr>
            <a:r>
              <a:rPr sz="1300" b="1" i="0">
                <a:solidFill>
                  <a:srgbClr val="7C83FF"/>
                </a:solidFill>
                <a:latin typeface="Segoe UI"/>
              </a:rPr>
              <a:t>•  </a:t>
            </a:r>
            <a:r>
              <a:rPr sz="1300" b="0" i="0">
                <a:solidFill>
                  <a:srgbClr val="E6E9F2"/>
                </a:solidFill>
                <a:latin typeface="Segoe UI"/>
              </a:rPr>
              <a:t>Leaderboard and personal learning path</a:t>
            </a:r>
          </a:p>
        </p:txBody>
      </p:sp>
      <p:sp>
        <p:nvSpPr>
          <p:cNvPr id="9" name="Rounded Rectangle 8"/>
          <p:cNvSpPr/>
          <p:nvPr/>
        </p:nvSpPr>
        <p:spPr>
          <a:xfrm>
            <a:off x="4389120" y="1508760"/>
            <a:ext cx="3611880" cy="548640"/>
          </a:xfrm>
          <a:prstGeom prst="roundRect">
            <a:avLst>
              <a:gd name="adj" fmla="val 12000"/>
            </a:avLst>
          </a:prstGeom>
          <a:solidFill>
            <a:srgbClr val="22D3EE"/>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0B1020"/>
                </a:solidFill>
                <a:latin typeface="Segoe UI"/>
              </a:rPr>
              <a:t>Hands-on labs</a:t>
            </a:r>
          </a:p>
        </p:txBody>
      </p:sp>
      <p:sp>
        <p:nvSpPr>
          <p:cNvPr id="10" name="Rounded Rectangle 9"/>
          <p:cNvSpPr/>
          <p:nvPr/>
        </p:nvSpPr>
        <p:spPr>
          <a:xfrm>
            <a:off x="4389120" y="2148840"/>
            <a:ext cx="3611880" cy="3246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53712" y="2286000"/>
            <a:ext cx="3337560" cy="3108960"/>
          </a:xfrm>
          <a:prstGeom prst="rect">
            <a:avLst/>
          </a:prstGeom>
          <a:noFill/>
        </p:spPr>
        <p:txBody>
          <a:bodyPr wrap="square">
            <a:spAutoFit/>
          </a:bodyPr>
          <a:lstStyle/>
          <a:p>
            <a:pPr>
              <a:spcAft>
                <a:spcPts val="700"/>
              </a:spcAft>
            </a:pPr>
            <a:r>
              <a:rPr sz="1300" b="1" i="0">
                <a:solidFill>
                  <a:srgbClr val="22D3EE"/>
                </a:solidFill>
                <a:latin typeface="Segoe UI"/>
              </a:rPr>
              <a:t>•  </a:t>
            </a:r>
            <a:r>
              <a:rPr sz="1300" b="0" i="0">
                <a:solidFill>
                  <a:srgbClr val="E6E9F2"/>
                </a:solidFill>
                <a:latin typeface="Segoe UI"/>
              </a:rPr>
              <a:t>Frontend: live HTML/CSS/JS editor, DOM checks</a:t>
            </a:r>
          </a:p>
          <a:p>
            <a:pPr>
              <a:spcAft>
                <a:spcPts val="700"/>
              </a:spcAft>
            </a:pPr>
            <a:r>
              <a:rPr sz="1300" b="1" i="0">
                <a:solidFill>
                  <a:srgbClr val="22D3EE"/>
                </a:solidFill>
                <a:latin typeface="Segoe UI"/>
              </a:rPr>
              <a:t>•  </a:t>
            </a:r>
            <a:r>
              <a:rPr sz="1300" b="0" i="0">
                <a:solidFill>
                  <a:srgbClr val="E6E9F2"/>
                </a:solidFill>
                <a:latin typeface="Segoe UI"/>
              </a:rPr>
              <a:t>Databases: SQL playground + query plans</a:t>
            </a:r>
          </a:p>
          <a:p>
            <a:pPr>
              <a:spcAft>
                <a:spcPts val="700"/>
              </a:spcAft>
            </a:pPr>
            <a:r>
              <a:rPr sz="1300" b="1" i="0">
                <a:solidFill>
                  <a:srgbClr val="22D3EE"/>
                </a:solidFill>
                <a:latin typeface="Segoe UI"/>
              </a:rPr>
              <a:t>•  </a:t>
            </a:r>
            <a:r>
              <a:rPr sz="1300" b="0" i="0">
                <a:solidFill>
                  <a:srgbClr val="E6E9F2"/>
                </a:solidFill>
                <a:latin typeface="Segoe UI"/>
              </a:rPr>
              <a:t>Load balancers: round-robin vs least-conn vs sticky</a:t>
            </a:r>
          </a:p>
          <a:p>
            <a:pPr>
              <a:spcAft>
                <a:spcPts val="700"/>
              </a:spcAft>
            </a:pPr>
            <a:r>
              <a:rPr sz="1300" b="1" i="0">
                <a:solidFill>
                  <a:srgbClr val="22D3EE"/>
                </a:solidFill>
                <a:latin typeface="Segoe UI"/>
              </a:rPr>
              <a:t>•  </a:t>
            </a:r>
            <a:r>
              <a:rPr sz="1300" b="0" i="0">
                <a:solidFill>
                  <a:srgbClr val="E6E9F2"/>
                </a:solidFill>
                <a:latin typeface="Segoe UI"/>
              </a:rPr>
              <a:t>Networks: RTT, proxy headers, Server-Timing</a:t>
            </a:r>
          </a:p>
          <a:p>
            <a:pPr>
              <a:spcAft>
                <a:spcPts val="700"/>
              </a:spcAft>
            </a:pPr>
            <a:r>
              <a:rPr sz="1300" b="1" i="0">
                <a:solidFill>
                  <a:srgbClr val="22D3EE"/>
                </a:solidFill>
                <a:latin typeface="Segoe UI"/>
              </a:rPr>
              <a:t>•  </a:t>
            </a:r>
            <a:r>
              <a:rPr sz="1300" b="0" i="0">
                <a:solidFill>
                  <a:srgbClr val="E6E9F2"/>
                </a:solidFill>
                <a:latin typeface="Segoe UI"/>
              </a:rPr>
              <a:t>Containers: Dockerfile linter (20+ rules)</a:t>
            </a:r>
          </a:p>
        </p:txBody>
      </p:sp>
      <p:sp>
        <p:nvSpPr>
          <p:cNvPr id="12" name="Rounded Rectangle 11"/>
          <p:cNvSpPr/>
          <p:nvPr/>
        </p:nvSpPr>
        <p:spPr>
          <a:xfrm>
            <a:off x="8229600" y="1508760"/>
            <a:ext cx="3611880" cy="548640"/>
          </a:xfrm>
          <a:prstGeom prst="roundRect">
            <a:avLst>
              <a:gd name="adj" fmla="val 12000"/>
            </a:avLst>
          </a:prstGeom>
          <a:solidFill>
            <a:srgbClr val="22C55E"/>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0B1020"/>
                </a:solidFill>
                <a:latin typeface="Segoe UI"/>
              </a:rPr>
              <a:t>Instructors</a:t>
            </a:r>
          </a:p>
        </p:txBody>
      </p:sp>
      <p:sp>
        <p:nvSpPr>
          <p:cNvPr id="13" name="Rounded Rectangle 12"/>
          <p:cNvSpPr/>
          <p:nvPr/>
        </p:nvSpPr>
        <p:spPr>
          <a:xfrm>
            <a:off x="8229600" y="2148840"/>
            <a:ext cx="3611880" cy="3246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394192" y="2286000"/>
            <a:ext cx="3337560" cy="3108960"/>
          </a:xfrm>
          <a:prstGeom prst="rect">
            <a:avLst/>
          </a:prstGeom>
          <a:noFill/>
        </p:spPr>
        <p:txBody>
          <a:bodyPr wrap="square">
            <a:spAutoFit/>
          </a:bodyPr>
          <a:lstStyle/>
          <a:p>
            <a:pPr>
              <a:spcAft>
                <a:spcPts val="700"/>
              </a:spcAft>
            </a:pPr>
            <a:r>
              <a:rPr sz="1300" b="1" i="0">
                <a:solidFill>
                  <a:srgbClr val="22C55E"/>
                </a:solidFill>
                <a:latin typeface="Segoe UI"/>
              </a:rPr>
              <a:t>•  </a:t>
            </a:r>
            <a:r>
              <a:rPr sz="1300" b="0" i="0">
                <a:solidFill>
                  <a:srgbClr val="E6E9F2"/>
                </a:solidFill>
                <a:latin typeface="Segoe UI"/>
              </a:rPr>
              <a:t>Publish assignments, rubric weights, deadlines</a:t>
            </a:r>
          </a:p>
          <a:p>
            <a:pPr>
              <a:spcAft>
                <a:spcPts val="700"/>
              </a:spcAft>
            </a:pPr>
            <a:r>
              <a:rPr sz="1300" b="1" i="0">
                <a:solidFill>
                  <a:srgbClr val="22C55E"/>
                </a:solidFill>
                <a:latin typeface="Segoe UI"/>
              </a:rPr>
              <a:t>•  </a:t>
            </a:r>
            <a:r>
              <a:rPr sz="1300" b="0" i="0">
                <a:solidFill>
                  <a:srgbClr val="E6E9F2"/>
                </a:solidFill>
                <a:latin typeface="Segoe UI"/>
              </a:rPr>
              <a:t>Class overview: grade distribution, weak dimensions</a:t>
            </a:r>
          </a:p>
          <a:p>
            <a:pPr>
              <a:spcAft>
                <a:spcPts val="700"/>
              </a:spcAft>
            </a:pPr>
            <a:r>
              <a:rPr sz="1300" b="1" i="0">
                <a:solidFill>
                  <a:srgbClr val="22C55E"/>
                </a:solidFill>
                <a:latin typeface="Segoe UI"/>
              </a:rPr>
              <a:t>•  </a:t>
            </a:r>
            <a:r>
              <a:rPr sz="1300" b="0" i="0">
                <a:solidFill>
                  <a:srgbClr val="E6E9F2"/>
                </a:solidFill>
                <a:latin typeface="Segoe UI"/>
              </a:rPr>
              <a:t>Shared-repo flag (group work or copying)</a:t>
            </a:r>
          </a:p>
          <a:p>
            <a:pPr>
              <a:spcAft>
                <a:spcPts val="700"/>
              </a:spcAft>
            </a:pPr>
            <a:r>
              <a:rPr sz="1300" b="1" i="0">
                <a:solidFill>
                  <a:srgbClr val="22C55E"/>
                </a:solidFill>
                <a:latin typeface="Segoe UI"/>
              </a:rPr>
              <a:t>•  </a:t>
            </a:r>
            <a:r>
              <a:rPr sz="1300" b="0" i="0">
                <a:solidFill>
                  <a:srgbClr val="E6E9F2"/>
                </a:solidFill>
                <a:latin typeface="Segoe UI"/>
              </a:rPr>
              <a:t>Gradebook export (CSV)</a:t>
            </a:r>
          </a:p>
        </p:txBody>
      </p:sp>
      <p:sp>
        <p:nvSpPr>
          <p:cNvPr id="15" name="Rounded Rectangle 14"/>
          <p:cNvSpPr/>
          <p:nvPr/>
        </p:nvSpPr>
        <p:spPr>
          <a:xfrm>
            <a:off x="548640" y="5577840"/>
            <a:ext cx="11109960" cy="685800"/>
          </a:xfrm>
          <a:prstGeom prst="roundRect">
            <a:avLst>
              <a:gd name="adj" fmla="val 8000"/>
            </a:avLst>
          </a:prstGeom>
          <a:solidFill>
            <a:srgbClr val="182244"/>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31520" y="5650992"/>
            <a:ext cx="10789920" cy="548640"/>
          </a:xfrm>
          <a:prstGeom prst="rect">
            <a:avLst/>
          </a:prstGeom>
          <a:noFill/>
        </p:spPr>
        <p:txBody>
          <a:bodyPr wrap="square" anchor="t" lIns="45720" rIns="45720">
            <a:spAutoFit/>
          </a:bodyPr>
          <a:lstStyle/>
          <a:p>
            <a:pPr algn="l">
              <a:lnSpc>
                <a:spcPct val="110000"/>
              </a:lnSpc>
            </a:pPr>
            <a:r>
              <a:rPr sz="1300" b="0" i="0">
                <a:solidFill>
                  <a:srgbClr val="E6E9F2"/>
                </a:solidFill>
                <a:latin typeface="Segoe UI"/>
              </a:rPr>
              <a:t>Every lab runs on the platform's real infrastructure: its PostgreSQL, its Nginx load balancer, its API replicas. Web + installable mobile app (PWA). Accounts, sessions, server-verified tasks.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LAYERED, EVENT-DRIVEN, SINGLE-PASS</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System architecture</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5/14</a:t>
            </a:r>
          </a:p>
        </p:txBody>
      </p:sp>
      <p:sp>
        <p:nvSpPr>
          <p:cNvPr id="6" name="Rounded Rectangle 5"/>
          <p:cNvSpPr/>
          <p:nvPr/>
        </p:nvSpPr>
        <p:spPr>
          <a:xfrm>
            <a:off x="457200" y="1737360"/>
            <a:ext cx="1737360" cy="1005840"/>
          </a:xfrm>
          <a:prstGeom prst="roundRect">
            <a:avLst>
              <a:gd name="adj" fmla="val 12000"/>
            </a:avLst>
          </a:prstGeom>
          <a:solidFill>
            <a:srgbClr val="121933"/>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E6E9F2"/>
                </a:solidFill>
                <a:latin typeface="Segoe UI"/>
              </a:rPr>
              <a:t>Web / PWA</a:t>
            </a:r>
          </a:p>
          <a:p>
            <a:pPr algn="ctr"/>
            <a:r>
              <a:rPr sz="1200" b="0" i="0">
                <a:solidFill>
                  <a:srgbClr val="9AA4BF"/>
                </a:solidFill>
                <a:latin typeface="Segoe UI"/>
              </a:rPr>
              <a:t>dashboards · labs</a:t>
            </a:r>
          </a:p>
          <a:p>
            <a:pPr algn="ctr"/>
            <a:r>
              <a:rPr sz="1200" b="0" i="0">
                <a:solidFill>
                  <a:srgbClr val="9AA4BF"/>
                </a:solidFill>
                <a:latin typeface="Segoe UI"/>
              </a:rPr>
              <a:t>SSE · report</a:t>
            </a:r>
          </a:p>
        </p:txBody>
      </p:sp>
      <p:sp>
        <p:nvSpPr>
          <p:cNvPr id="7" name="Rounded Rectangle 6"/>
          <p:cNvSpPr/>
          <p:nvPr/>
        </p:nvSpPr>
        <p:spPr>
          <a:xfrm>
            <a:off x="2606040" y="1737360"/>
            <a:ext cx="1737360" cy="1005840"/>
          </a:xfrm>
          <a:prstGeom prst="roundRect">
            <a:avLst>
              <a:gd name="adj" fmla="val 12000"/>
            </a:avLst>
          </a:prstGeom>
          <a:solidFill>
            <a:srgbClr val="121933"/>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E6E9F2"/>
                </a:solidFill>
                <a:latin typeface="Segoe UI"/>
              </a:rPr>
              <a:t>Nginx LB</a:t>
            </a:r>
          </a:p>
          <a:p>
            <a:pPr algn="ctr"/>
            <a:r>
              <a:rPr sz="1200" b="0" i="0">
                <a:solidFill>
                  <a:srgbClr val="9AA4BF"/>
                </a:solidFill>
                <a:latin typeface="Segoe UI"/>
              </a:rPr>
              <a:t>sticky · rr · least</a:t>
            </a:r>
          </a:p>
          <a:p>
            <a:pPr algn="ctr"/>
            <a:r>
              <a:rPr sz="1200" b="0" i="0">
                <a:solidFill>
                  <a:srgbClr val="9AA4BF"/>
                </a:solidFill>
                <a:latin typeface="Segoe UI"/>
              </a:rPr>
              <a:t>rate limit · SSE</a:t>
            </a:r>
          </a:p>
        </p:txBody>
      </p:sp>
      <p:sp>
        <p:nvSpPr>
          <p:cNvPr id="8" name="Rounded Rectangle 7"/>
          <p:cNvSpPr/>
          <p:nvPr/>
        </p:nvSpPr>
        <p:spPr>
          <a:xfrm>
            <a:off x="4754880" y="1737360"/>
            <a:ext cx="1828800" cy="100584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E6E9F2"/>
                </a:solidFill>
                <a:latin typeface="Segoe UI"/>
              </a:rPr>
              <a:t>API ×3</a:t>
            </a:r>
          </a:p>
          <a:p>
            <a:pPr algn="ctr"/>
            <a:r>
              <a:rPr sz="1200" b="0" i="0">
                <a:solidFill>
                  <a:srgbClr val="9AA4BF"/>
                </a:solidFill>
                <a:latin typeface="Segoe UI"/>
              </a:rPr>
              <a:t>FastAPI replicas</a:t>
            </a:r>
          </a:p>
          <a:p>
            <a:pPr algn="ctr"/>
            <a:r>
              <a:rPr sz="1200" b="0" i="0">
                <a:solidFill>
                  <a:srgbClr val="9AA4BF"/>
                </a:solidFill>
                <a:latin typeface="Segoe UI"/>
              </a:rPr>
              <a:t>auth · REST · SSE</a:t>
            </a:r>
          </a:p>
        </p:txBody>
      </p:sp>
      <p:sp>
        <p:nvSpPr>
          <p:cNvPr id="9" name="Rounded Rectangle 8"/>
          <p:cNvSpPr/>
          <p:nvPr/>
        </p:nvSpPr>
        <p:spPr>
          <a:xfrm>
            <a:off x="6995160" y="1737360"/>
            <a:ext cx="2011680" cy="100584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E6E9F2"/>
                </a:solidFill>
                <a:latin typeface="Segoe UI"/>
              </a:rPr>
              <a:t>JobManager</a:t>
            </a:r>
          </a:p>
          <a:p>
            <a:pPr algn="ctr"/>
            <a:r>
              <a:rPr sz="1200" b="0" i="0">
                <a:solidFill>
                  <a:srgbClr val="9AA4BF"/>
                </a:solidFill>
                <a:latin typeface="Segoe UI"/>
              </a:rPr>
              <a:t>admission control</a:t>
            </a:r>
          </a:p>
          <a:p>
            <a:pPr algn="ctr"/>
            <a:r>
              <a:rPr sz="1200" b="0" i="0">
                <a:solidFill>
                  <a:srgbClr val="9AA4BF"/>
                </a:solidFill>
                <a:latin typeface="Segoe UI"/>
              </a:rPr>
              <a:t>single-flight · events</a:t>
            </a:r>
          </a:p>
        </p:txBody>
      </p:sp>
      <p:cxnSp>
        <p:nvCxnSpPr>
          <p:cNvPr id="10" name="Connector 9"/>
          <p:cNvCxnSpPr/>
          <p:nvPr/>
        </p:nvCxnSpPr>
        <p:spPr>
          <a:xfrm>
            <a:off x="2194560" y="2240280"/>
            <a:ext cx="411480"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343400" y="2240280"/>
            <a:ext cx="411480"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2240280"/>
            <a:ext cx="411480"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57200" y="3154680"/>
            <a:ext cx="8549640" cy="2697480"/>
          </a:xfrm>
          <a:prstGeom prst="roundRect">
            <a:avLst>
              <a:gd name="adj" fmla="val 5000"/>
            </a:avLst>
          </a:prstGeom>
          <a:solidFill>
            <a:srgbClr val="182244"/>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3200400"/>
            <a:ext cx="5486400" cy="365760"/>
          </a:xfrm>
          <a:prstGeom prst="rect">
            <a:avLst/>
          </a:prstGeom>
          <a:noFill/>
        </p:spPr>
        <p:txBody>
          <a:bodyPr wrap="square" anchor="t" lIns="45720" rIns="45720">
            <a:spAutoFit/>
          </a:bodyPr>
          <a:lstStyle/>
          <a:p>
            <a:pPr algn="l">
              <a:lnSpc>
                <a:spcPct val="110000"/>
              </a:lnSpc>
            </a:pPr>
            <a:r>
              <a:rPr sz="1400" b="1" i="0">
                <a:solidFill>
                  <a:srgbClr val="7C83FF"/>
                </a:solidFill>
                <a:latin typeface="Segoe UI"/>
              </a:rPr>
              <a:t>Grading pipeline (asyncio DAG)</a:t>
            </a:r>
          </a:p>
        </p:txBody>
      </p:sp>
      <p:cxnSp>
        <p:nvCxnSpPr>
          <p:cNvPr id="15" name="Connector 14"/>
          <p:cNvCxnSpPr/>
          <p:nvPr/>
        </p:nvCxnSpPr>
        <p:spPr>
          <a:xfrm>
            <a:off x="8001000" y="2743200"/>
            <a:ext cx="0" cy="41148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85800" y="3703320"/>
            <a:ext cx="1463040" cy="868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Ingest</a:t>
            </a:r>
          </a:p>
          <a:p>
            <a:pPr algn="ctr"/>
            <a:r>
              <a:rPr sz="1100" b="0" i="0">
                <a:solidFill>
                  <a:srgbClr val="9AA4BF"/>
                </a:solidFill>
                <a:latin typeface="Segoe UI"/>
              </a:rPr>
              <a:t>resolve ‖ clone</a:t>
            </a:r>
          </a:p>
        </p:txBody>
      </p:sp>
      <p:cxnSp>
        <p:nvCxnSpPr>
          <p:cNvPr id="17" name="Connector 16"/>
          <p:cNvCxnSpPr/>
          <p:nvPr/>
        </p:nvCxnSpPr>
        <p:spPr>
          <a:xfrm>
            <a:off x="2148840" y="4133087"/>
            <a:ext cx="201168"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350008" y="3703320"/>
            <a:ext cx="1463040" cy="868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Index</a:t>
            </a:r>
          </a:p>
          <a:p>
            <a:pPr algn="ctr"/>
            <a:r>
              <a:rPr sz="1100" b="0" i="0">
                <a:solidFill>
                  <a:srgbClr val="9AA4BF"/>
                </a:solidFill>
                <a:latin typeface="Segoe UI"/>
              </a:rPr>
              <a:t>1-pass blackboard</a:t>
            </a:r>
          </a:p>
        </p:txBody>
      </p:sp>
      <p:cxnSp>
        <p:nvCxnSpPr>
          <p:cNvPr id="19" name="Connector 18"/>
          <p:cNvCxnSpPr/>
          <p:nvPr/>
        </p:nvCxnSpPr>
        <p:spPr>
          <a:xfrm>
            <a:off x="3813048" y="4133087"/>
            <a:ext cx="201168"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014216" y="3703320"/>
            <a:ext cx="1463040" cy="868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Specialists ×5</a:t>
            </a:r>
          </a:p>
          <a:p>
            <a:pPr algn="ctr"/>
            <a:r>
              <a:rPr sz="1100" b="0" i="0">
                <a:solidFill>
                  <a:srgbClr val="9AA4BF"/>
                </a:solidFill>
                <a:latin typeface="Segoe UI"/>
              </a:rPr>
              <a:t>parallel</a:t>
            </a:r>
          </a:p>
        </p:txBody>
      </p:sp>
      <p:cxnSp>
        <p:nvCxnSpPr>
          <p:cNvPr id="21" name="Connector 20"/>
          <p:cNvCxnSpPr/>
          <p:nvPr/>
        </p:nvCxnSpPr>
        <p:spPr>
          <a:xfrm>
            <a:off x="5477256" y="4133087"/>
            <a:ext cx="201168"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678424" y="3703320"/>
            <a:ext cx="1463040" cy="868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Judge</a:t>
            </a:r>
          </a:p>
          <a:p>
            <a:pPr algn="ctr"/>
            <a:r>
              <a:rPr sz="1100" b="0" i="0">
                <a:solidFill>
                  <a:srgbClr val="9AA4BF"/>
                </a:solidFill>
                <a:latin typeface="Segoe UI"/>
              </a:rPr>
              <a:t>calibrate</a:t>
            </a:r>
          </a:p>
        </p:txBody>
      </p:sp>
      <p:cxnSp>
        <p:nvCxnSpPr>
          <p:cNvPr id="23" name="Connector 22"/>
          <p:cNvCxnSpPr/>
          <p:nvPr/>
        </p:nvCxnSpPr>
        <p:spPr>
          <a:xfrm>
            <a:off x="7141464" y="4133087"/>
            <a:ext cx="201167"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342632" y="3703320"/>
            <a:ext cx="1463040" cy="868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Report</a:t>
            </a:r>
          </a:p>
          <a:p>
            <a:pPr algn="ctr"/>
            <a:r>
              <a:rPr sz="1100" b="0" i="0">
                <a:solidFill>
                  <a:srgbClr val="9AA4BF"/>
                </a:solidFill>
                <a:latin typeface="Segoe UI"/>
              </a:rPr>
              <a:t>HTML·MD·JSON</a:t>
            </a:r>
          </a:p>
        </p:txBody>
      </p:sp>
      <p:sp>
        <p:nvSpPr>
          <p:cNvPr id="25" name="Rounded Rectangle 24"/>
          <p:cNvSpPr/>
          <p:nvPr/>
        </p:nvSpPr>
        <p:spPr>
          <a:xfrm>
            <a:off x="4014215" y="4846320"/>
            <a:ext cx="1463040" cy="73152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Docker sandbox</a:t>
            </a:r>
          </a:p>
          <a:p>
            <a:pPr algn="ctr"/>
            <a:r>
              <a:rPr sz="1000" b="0" i="0">
                <a:solidFill>
                  <a:srgbClr val="9AA4BF"/>
                </a:solidFill>
                <a:latin typeface="Segoe UI"/>
              </a:rPr>
              <a:t>lint · build · run</a:t>
            </a:r>
          </a:p>
        </p:txBody>
      </p:sp>
      <p:cxnSp>
        <p:nvCxnSpPr>
          <p:cNvPr id="26" name="Connector 25"/>
          <p:cNvCxnSpPr/>
          <p:nvPr/>
        </p:nvCxnSpPr>
        <p:spPr>
          <a:xfrm>
            <a:off x="2167128" y="4572000"/>
            <a:ext cx="1847087" cy="548640"/>
          </a:xfrm>
          <a:prstGeom prst="line">
            <a:avLst/>
          </a:prstGeom>
          <a:ln w="19050">
            <a:solidFill>
              <a:srgbClr val="F59E0B"/>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745736" y="4572000"/>
            <a:ext cx="0" cy="274320"/>
          </a:xfrm>
          <a:prstGeom prst="line">
            <a:avLst/>
          </a:prstGeom>
          <a:ln w="19050">
            <a:solidFill>
              <a:srgbClr val="F59E0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464040" y="1737360"/>
            <a:ext cx="2286000" cy="868680"/>
          </a:xfrm>
          <a:prstGeom prst="roundRect">
            <a:avLst>
              <a:gd name="adj" fmla="val 12000"/>
            </a:avLst>
          </a:prstGeom>
          <a:solidFill>
            <a:srgbClr val="121933"/>
          </a:solidFill>
          <a:ln w="19050">
            <a:solidFill>
              <a:srgbClr val="9AA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GitHub</a:t>
            </a:r>
          </a:p>
          <a:p>
            <a:pPr algn="ctr"/>
            <a:r>
              <a:rPr sz="1000" b="0" i="0">
                <a:solidFill>
                  <a:srgbClr val="9AA4BF"/>
                </a:solidFill>
                <a:latin typeface="Segoe UI"/>
              </a:rPr>
              <a:t>ls-remote · shallow clone</a:t>
            </a:r>
          </a:p>
        </p:txBody>
      </p:sp>
      <p:cxnSp>
        <p:nvCxnSpPr>
          <p:cNvPr id="29" name="Connector 28"/>
          <p:cNvCxnSpPr/>
          <p:nvPr/>
        </p:nvCxnSpPr>
        <p:spPr>
          <a:xfrm flipV="1">
            <a:off x="9006840" y="2167128"/>
            <a:ext cx="457200" cy="1764792"/>
          </a:xfrm>
          <a:prstGeom prst="line">
            <a:avLst/>
          </a:prstGeom>
          <a:ln w="15875">
            <a:solidFill>
              <a:srgbClr val="9AA4B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464040" y="2816352"/>
            <a:ext cx="2286000" cy="86868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Claude API</a:t>
            </a:r>
          </a:p>
          <a:p>
            <a:pPr algn="ctr"/>
            <a:r>
              <a:rPr sz="1000" b="0" i="0">
                <a:solidFill>
                  <a:srgbClr val="9AA4BF"/>
                </a:solidFill>
                <a:latin typeface="Segoe UI"/>
              </a:rPr>
              <a:t>tool-use JSON · prompt cache</a:t>
            </a:r>
          </a:p>
        </p:txBody>
      </p:sp>
      <p:cxnSp>
        <p:nvCxnSpPr>
          <p:cNvPr id="31" name="Connector 30"/>
          <p:cNvCxnSpPr/>
          <p:nvPr/>
        </p:nvCxnSpPr>
        <p:spPr>
          <a:xfrm flipV="1">
            <a:off x="9006840" y="3246120"/>
            <a:ext cx="457200" cy="1234440"/>
          </a:xfrm>
          <a:prstGeom prst="line">
            <a:avLst/>
          </a:prstGeom>
          <a:ln w="15875">
            <a:solidFill>
              <a:srgbClr val="7C83F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464040" y="3895344"/>
            <a:ext cx="2286000" cy="86868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Docker daemon</a:t>
            </a:r>
          </a:p>
          <a:p>
            <a:pPr algn="ctr"/>
            <a:r>
              <a:rPr sz="1000" b="0" i="0">
                <a:solidFill>
                  <a:srgbClr val="9AA4BF"/>
                </a:solidFill>
                <a:latin typeface="Segoe UI"/>
              </a:rPr>
              <a:t>BuildKit · locked-down run</a:t>
            </a:r>
          </a:p>
        </p:txBody>
      </p:sp>
      <p:cxnSp>
        <p:nvCxnSpPr>
          <p:cNvPr id="33" name="Connector 32"/>
          <p:cNvCxnSpPr/>
          <p:nvPr/>
        </p:nvCxnSpPr>
        <p:spPr>
          <a:xfrm flipV="1">
            <a:off x="9006840" y="4325112"/>
            <a:ext cx="457200" cy="155448"/>
          </a:xfrm>
          <a:prstGeom prst="line">
            <a:avLst/>
          </a:prstGeom>
          <a:ln w="15875">
            <a:solidFill>
              <a:srgbClr val="F59E0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464040" y="4974336"/>
            <a:ext cx="2286000" cy="86868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PostgreSQL</a:t>
            </a:r>
          </a:p>
          <a:p>
            <a:pPr algn="ctr"/>
            <a:r>
              <a:rPr sz="1000" b="0" i="0">
                <a:solidFill>
                  <a:srgbClr val="9AA4BF"/>
                </a:solidFill>
                <a:latin typeface="Segoe UI"/>
              </a:rPr>
              <a:t>users · grades · reports</a:t>
            </a:r>
          </a:p>
        </p:txBody>
      </p:sp>
      <p:cxnSp>
        <p:nvCxnSpPr>
          <p:cNvPr id="35" name="Connector 34"/>
          <p:cNvCxnSpPr/>
          <p:nvPr/>
        </p:nvCxnSpPr>
        <p:spPr>
          <a:xfrm>
            <a:off x="9006840" y="4480560"/>
            <a:ext cx="457200" cy="923543"/>
          </a:xfrm>
          <a:prstGeom prst="line">
            <a:avLst/>
          </a:prstGeom>
          <a:ln w="15875">
            <a:solidFill>
              <a:srgbClr val="22C55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57200" y="6035040"/>
            <a:ext cx="11338560" cy="365760"/>
          </a:xfrm>
          <a:prstGeom prst="rect">
            <a:avLst/>
          </a:prstGeom>
          <a:noFill/>
        </p:spPr>
        <p:txBody>
          <a:bodyPr wrap="square" anchor="t" lIns="45720" rIns="45720">
            <a:spAutoFit/>
          </a:bodyPr>
          <a:lstStyle/>
          <a:p>
            <a:pPr algn="l">
              <a:lnSpc>
                <a:spcPct val="110000"/>
              </a:lnSpc>
            </a:pPr>
            <a:r>
              <a:rPr sz="1200" b="0" i="0">
                <a:solidFill>
                  <a:srgbClr val="9AA4BF"/>
                </a:solidFill>
                <a:latin typeface="Segoe UI"/>
              </a:rPr>
              <a:t>Dependencies point one way: UI → API → jobs/pipeline → agents → infrastructure. Agents never touch disk or network directly.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SEPARATION OF CONCERNS</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Multi-agent design: 5 specialists + 1 judge</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6/14</a:t>
            </a:r>
          </a:p>
        </p:txBody>
      </p:sp>
      <p:sp>
        <p:nvSpPr>
          <p:cNvPr id="6" name="Rounded Rectangle 5"/>
          <p:cNvSpPr/>
          <p:nvPr/>
        </p:nvSpPr>
        <p:spPr>
          <a:xfrm>
            <a:off x="548640" y="1554480"/>
            <a:ext cx="2103120" cy="196596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645920"/>
            <a:ext cx="1920240" cy="411480"/>
          </a:xfrm>
          <a:prstGeom prst="rect">
            <a:avLst/>
          </a:prstGeom>
          <a:noFill/>
        </p:spPr>
        <p:txBody>
          <a:bodyPr wrap="square" anchor="t" lIns="45720" rIns="45720">
            <a:spAutoFit/>
          </a:bodyPr>
          <a:lstStyle/>
          <a:p>
            <a:pPr algn="l">
              <a:lnSpc>
                <a:spcPct val="110000"/>
              </a:lnSpc>
            </a:pPr>
            <a:r>
              <a:rPr sz="1500" b="1" i="0">
                <a:solidFill>
                  <a:srgbClr val="7C83FF"/>
                </a:solidFill>
                <a:latin typeface="Segoe UI"/>
              </a:rPr>
              <a:t>Code Quality</a:t>
            </a:r>
          </a:p>
        </p:txBody>
      </p:sp>
      <p:sp>
        <p:nvSpPr>
          <p:cNvPr id="8" name="TextBox 7"/>
          <p:cNvSpPr txBox="1"/>
          <p:nvPr/>
        </p:nvSpPr>
        <p:spPr>
          <a:xfrm>
            <a:off x="658368" y="2057400"/>
            <a:ext cx="1920240" cy="731520"/>
          </a:xfrm>
          <a:prstGeom prst="rect">
            <a:avLst/>
          </a:prstGeom>
          <a:noFill/>
        </p:spPr>
        <p:txBody>
          <a:bodyPr wrap="square" anchor="t" lIns="45720" rIns="45720">
            <a:spAutoFit/>
          </a:bodyPr>
          <a:lstStyle/>
          <a:p>
            <a:pPr algn="l">
              <a:lnSpc>
                <a:spcPct val="110000"/>
              </a:lnSpc>
            </a:pPr>
            <a:r>
              <a:rPr sz="1200" b="0" i="0">
                <a:solidFill>
                  <a:srgbClr val="E6E9F2"/>
                </a:solidFill>
                <a:latin typeface="Segoe UI"/>
              </a:rPr>
              <a:t>size · duplication · linting · naming</a:t>
            </a:r>
          </a:p>
        </p:txBody>
      </p:sp>
      <p:sp>
        <p:nvSpPr>
          <p:cNvPr id="9" name="TextBox 8"/>
          <p:cNvSpPr txBox="1"/>
          <p:nvPr/>
        </p:nvSpPr>
        <p:spPr>
          <a:xfrm>
            <a:off x="658368" y="2788920"/>
            <a:ext cx="1920240" cy="685800"/>
          </a:xfrm>
          <a:prstGeom prst="rect">
            <a:avLst/>
          </a:prstGeom>
          <a:noFill/>
        </p:spPr>
        <p:txBody>
          <a:bodyPr wrap="square" anchor="t" lIns="45720" rIns="45720">
            <a:spAutoFit/>
          </a:bodyPr>
          <a:lstStyle/>
          <a:p>
            <a:pPr algn="l">
              <a:lnSpc>
                <a:spcPct val="110000"/>
              </a:lnSpc>
            </a:pPr>
            <a:r>
              <a:rPr sz="1100" b="0" i="0">
                <a:solidFill>
                  <a:srgbClr val="9AA4BF"/>
                </a:solidFill>
                <a:latin typeface="Segoe UI"/>
              </a:rPr>
              <a:t>evidence: largest + diverse files, dup ratio</a:t>
            </a:r>
          </a:p>
        </p:txBody>
      </p:sp>
      <p:cxnSp>
        <p:nvCxnSpPr>
          <p:cNvPr id="10" name="Connector 9"/>
          <p:cNvCxnSpPr/>
          <p:nvPr/>
        </p:nvCxnSpPr>
        <p:spPr>
          <a:xfrm>
            <a:off x="1600200" y="3520440"/>
            <a:ext cx="4480560" cy="548640"/>
          </a:xfrm>
          <a:prstGeom prst="line">
            <a:avLst/>
          </a:prstGeom>
          <a:ln w="15875">
            <a:solidFill>
              <a:srgbClr val="7C83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807208" y="1554480"/>
            <a:ext cx="2103120" cy="1965960"/>
          </a:xfrm>
          <a:prstGeom prst="roundRect">
            <a:avLst>
              <a:gd name="adj" fmla="val 12000"/>
            </a:avLst>
          </a:prstGeom>
          <a:solidFill>
            <a:srgbClr val="121933"/>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2916936" y="1645920"/>
            <a:ext cx="1920240" cy="411480"/>
          </a:xfrm>
          <a:prstGeom prst="rect">
            <a:avLst/>
          </a:prstGeom>
          <a:noFill/>
        </p:spPr>
        <p:txBody>
          <a:bodyPr wrap="square" anchor="t" lIns="45720" rIns="45720">
            <a:spAutoFit/>
          </a:bodyPr>
          <a:lstStyle/>
          <a:p>
            <a:pPr algn="l">
              <a:lnSpc>
                <a:spcPct val="110000"/>
              </a:lnSpc>
            </a:pPr>
            <a:r>
              <a:rPr sz="1500" b="1" i="0">
                <a:solidFill>
                  <a:srgbClr val="22D3EE"/>
                </a:solidFill>
                <a:latin typeface="Segoe UI"/>
              </a:rPr>
              <a:t>Architecture</a:t>
            </a:r>
          </a:p>
        </p:txBody>
      </p:sp>
      <p:sp>
        <p:nvSpPr>
          <p:cNvPr id="13" name="TextBox 12"/>
          <p:cNvSpPr txBox="1"/>
          <p:nvPr/>
        </p:nvSpPr>
        <p:spPr>
          <a:xfrm>
            <a:off x="2916936" y="2057400"/>
            <a:ext cx="1920240" cy="731520"/>
          </a:xfrm>
          <a:prstGeom prst="rect">
            <a:avLst/>
          </a:prstGeom>
          <a:noFill/>
        </p:spPr>
        <p:txBody>
          <a:bodyPr wrap="square" anchor="t" lIns="45720" rIns="45720">
            <a:spAutoFit/>
          </a:bodyPr>
          <a:lstStyle/>
          <a:p>
            <a:pPr algn="l">
              <a:lnSpc>
                <a:spcPct val="110000"/>
              </a:lnSpc>
            </a:pPr>
            <a:r>
              <a:rPr sz="1200" b="0" i="0">
                <a:solidFill>
                  <a:srgbClr val="E6E9F2"/>
                </a:solidFill>
                <a:latin typeface="Segoe UI"/>
              </a:rPr>
              <a:t>layering · coupling · API &amp; DB design</a:t>
            </a:r>
          </a:p>
        </p:txBody>
      </p:sp>
      <p:sp>
        <p:nvSpPr>
          <p:cNvPr id="14" name="TextBox 13"/>
          <p:cNvSpPr txBox="1"/>
          <p:nvPr/>
        </p:nvSpPr>
        <p:spPr>
          <a:xfrm>
            <a:off x="2916936" y="2788920"/>
            <a:ext cx="1920240" cy="685800"/>
          </a:xfrm>
          <a:prstGeom prst="rect">
            <a:avLst/>
          </a:prstGeom>
          <a:noFill/>
        </p:spPr>
        <p:txBody>
          <a:bodyPr wrap="square" anchor="t" lIns="45720" rIns="45720">
            <a:spAutoFit/>
          </a:bodyPr>
          <a:lstStyle/>
          <a:p>
            <a:pPr algn="l">
              <a:lnSpc>
                <a:spcPct val="110000"/>
              </a:lnSpc>
            </a:pPr>
            <a:r>
              <a:rPr sz="1100" b="0" i="0">
                <a:solidFill>
                  <a:srgbClr val="9AA4BF"/>
                </a:solidFill>
                <a:latin typeface="Segoe UI"/>
              </a:rPr>
              <a:t>evidence: module dependency graph + cycles</a:t>
            </a:r>
          </a:p>
        </p:txBody>
      </p:sp>
      <p:cxnSp>
        <p:nvCxnSpPr>
          <p:cNvPr id="15" name="Connector 14"/>
          <p:cNvCxnSpPr/>
          <p:nvPr/>
        </p:nvCxnSpPr>
        <p:spPr>
          <a:xfrm>
            <a:off x="3858768" y="3520440"/>
            <a:ext cx="2221992" cy="548640"/>
          </a:xfrm>
          <a:prstGeom prst="line">
            <a:avLst/>
          </a:prstGeom>
          <a:ln w="15875">
            <a:solidFill>
              <a:srgbClr val="22D3E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65776" y="1554480"/>
            <a:ext cx="2103120" cy="196596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75504" y="1645920"/>
            <a:ext cx="1920240" cy="411480"/>
          </a:xfrm>
          <a:prstGeom prst="rect">
            <a:avLst/>
          </a:prstGeom>
          <a:noFill/>
        </p:spPr>
        <p:txBody>
          <a:bodyPr wrap="square" anchor="t" lIns="45720" rIns="45720">
            <a:spAutoFit/>
          </a:bodyPr>
          <a:lstStyle/>
          <a:p>
            <a:pPr algn="l">
              <a:lnSpc>
                <a:spcPct val="110000"/>
              </a:lnSpc>
            </a:pPr>
            <a:r>
              <a:rPr sz="1500" b="1" i="0">
                <a:solidFill>
                  <a:srgbClr val="F43F5E"/>
                </a:solidFill>
                <a:latin typeface="Segoe UI"/>
              </a:rPr>
              <a:t>Security</a:t>
            </a:r>
          </a:p>
        </p:txBody>
      </p:sp>
      <p:sp>
        <p:nvSpPr>
          <p:cNvPr id="18" name="TextBox 17"/>
          <p:cNvSpPr txBox="1"/>
          <p:nvPr/>
        </p:nvSpPr>
        <p:spPr>
          <a:xfrm>
            <a:off x="5175504" y="2057400"/>
            <a:ext cx="1920240" cy="731520"/>
          </a:xfrm>
          <a:prstGeom prst="rect">
            <a:avLst/>
          </a:prstGeom>
          <a:noFill/>
        </p:spPr>
        <p:txBody>
          <a:bodyPr wrap="square" anchor="t" lIns="45720" rIns="45720">
            <a:spAutoFit/>
          </a:bodyPr>
          <a:lstStyle/>
          <a:p>
            <a:pPr algn="l">
              <a:lnSpc>
                <a:spcPct val="110000"/>
              </a:lnSpc>
            </a:pPr>
            <a:r>
              <a:rPr sz="1200" b="0" i="0">
                <a:solidFill>
                  <a:srgbClr val="E6E9F2"/>
                </a:solidFill>
                <a:latin typeface="Segoe UI"/>
              </a:rPr>
              <a:t>OWASP Top 10 · secrets · authN/Z</a:t>
            </a:r>
          </a:p>
        </p:txBody>
      </p:sp>
      <p:sp>
        <p:nvSpPr>
          <p:cNvPr id="19" name="TextBox 18"/>
          <p:cNvSpPr txBox="1"/>
          <p:nvPr/>
        </p:nvSpPr>
        <p:spPr>
          <a:xfrm>
            <a:off x="5175504" y="2788920"/>
            <a:ext cx="1920240" cy="685800"/>
          </a:xfrm>
          <a:prstGeom prst="rect">
            <a:avLst/>
          </a:prstGeom>
          <a:noFill/>
        </p:spPr>
        <p:txBody>
          <a:bodyPr wrap="square" anchor="t" lIns="45720" rIns="45720">
            <a:spAutoFit/>
          </a:bodyPr>
          <a:lstStyle/>
          <a:p>
            <a:pPr algn="l">
              <a:lnSpc>
                <a:spcPct val="110000"/>
              </a:lnSpc>
            </a:pPr>
            <a:r>
              <a:rPr sz="1100" b="0" i="0">
                <a:solidFill>
                  <a:srgbClr val="9AA4BF"/>
                </a:solidFill>
                <a:latin typeface="Segoe UI"/>
              </a:rPr>
              <a:t>evidence: scanner leads, auth files (redacted)</a:t>
            </a:r>
          </a:p>
        </p:txBody>
      </p:sp>
      <p:cxnSp>
        <p:nvCxnSpPr>
          <p:cNvPr id="20" name="Connector 19"/>
          <p:cNvCxnSpPr/>
          <p:nvPr/>
        </p:nvCxnSpPr>
        <p:spPr>
          <a:xfrm flipH="1">
            <a:off x="6080760" y="3520440"/>
            <a:ext cx="36576" cy="548640"/>
          </a:xfrm>
          <a:prstGeom prst="line">
            <a:avLst/>
          </a:prstGeom>
          <a:ln w="15875">
            <a:solidFill>
              <a:srgbClr val="F43F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1554480"/>
            <a:ext cx="2103120" cy="196596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1645920"/>
            <a:ext cx="1920240" cy="411480"/>
          </a:xfrm>
          <a:prstGeom prst="rect">
            <a:avLst/>
          </a:prstGeom>
          <a:noFill/>
        </p:spPr>
        <p:txBody>
          <a:bodyPr wrap="square" anchor="t" lIns="45720" rIns="45720">
            <a:spAutoFit/>
          </a:bodyPr>
          <a:lstStyle/>
          <a:p>
            <a:pPr algn="l">
              <a:lnSpc>
                <a:spcPct val="110000"/>
              </a:lnSpc>
            </a:pPr>
            <a:r>
              <a:rPr sz="1500" b="1" i="0">
                <a:solidFill>
                  <a:srgbClr val="22C55E"/>
                </a:solidFill>
                <a:latin typeface="Segoe UI"/>
              </a:rPr>
              <a:t>Testing</a:t>
            </a:r>
          </a:p>
        </p:txBody>
      </p:sp>
      <p:sp>
        <p:nvSpPr>
          <p:cNvPr id="23" name="TextBox 22"/>
          <p:cNvSpPr txBox="1"/>
          <p:nvPr/>
        </p:nvSpPr>
        <p:spPr>
          <a:xfrm>
            <a:off x="7434071" y="2057400"/>
            <a:ext cx="1920240" cy="731520"/>
          </a:xfrm>
          <a:prstGeom prst="rect">
            <a:avLst/>
          </a:prstGeom>
          <a:noFill/>
        </p:spPr>
        <p:txBody>
          <a:bodyPr wrap="square" anchor="t" lIns="45720" rIns="45720">
            <a:spAutoFit/>
          </a:bodyPr>
          <a:lstStyle/>
          <a:p>
            <a:pPr algn="l">
              <a:lnSpc>
                <a:spcPct val="110000"/>
              </a:lnSpc>
            </a:pPr>
            <a:r>
              <a:rPr sz="1200" b="0" i="0">
                <a:solidFill>
                  <a:srgbClr val="E6E9F2"/>
                </a:solidFill>
                <a:latin typeface="Segoe UI"/>
              </a:rPr>
              <a:t>unit · integration · e2e · CI</a:t>
            </a:r>
          </a:p>
        </p:txBody>
      </p:sp>
      <p:sp>
        <p:nvSpPr>
          <p:cNvPr id="24" name="TextBox 23"/>
          <p:cNvSpPr txBox="1"/>
          <p:nvPr/>
        </p:nvSpPr>
        <p:spPr>
          <a:xfrm>
            <a:off x="7434071" y="2788920"/>
            <a:ext cx="1920240" cy="685800"/>
          </a:xfrm>
          <a:prstGeom prst="rect">
            <a:avLst/>
          </a:prstGeom>
          <a:noFill/>
        </p:spPr>
        <p:txBody>
          <a:bodyPr wrap="square" anchor="t" lIns="45720" rIns="45720">
            <a:spAutoFit/>
          </a:bodyPr>
          <a:lstStyle/>
          <a:p>
            <a:pPr algn="l">
              <a:lnSpc>
                <a:spcPct val="110000"/>
              </a:lnSpc>
            </a:pPr>
            <a:r>
              <a:rPr sz="1100" b="0" i="0">
                <a:solidFill>
                  <a:srgbClr val="9AA4BF"/>
                </a:solidFill>
                <a:latin typeface="Segoe UI"/>
              </a:rPr>
              <a:t>evidence: test files, test/src ratio, CI</a:t>
            </a:r>
          </a:p>
        </p:txBody>
      </p:sp>
      <p:cxnSp>
        <p:nvCxnSpPr>
          <p:cNvPr id="25" name="Connector 24"/>
          <p:cNvCxnSpPr/>
          <p:nvPr/>
        </p:nvCxnSpPr>
        <p:spPr>
          <a:xfrm flipH="1">
            <a:off x="6080760" y="3520440"/>
            <a:ext cx="2295144" cy="548640"/>
          </a:xfrm>
          <a:prstGeom prst="line">
            <a:avLst/>
          </a:prstGeom>
          <a:ln w="15875">
            <a:solidFill>
              <a:srgbClr val="22C5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582912" y="1554480"/>
            <a:ext cx="2103120" cy="196596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692640" y="1645920"/>
            <a:ext cx="1920240" cy="411480"/>
          </a:xfrm>
          <a:prstGeom prst="rect">
            <a:avLst/>
          </a:prstGeom>
          <a:noFill/>
        </p:spPr>
        <p:txBody>
          <a:bodyPr wrap="square" anchor="t" lIns="45720" rIns="45720">
            <a:spAutoFit/>
          </a:bodyPr>
          <a:lstStyle/>
          <a:p>
            <a:pPr algn="l">
              <a:lnSpc>
                <a:spcPct val="110000"/>
              </a:lnSpc>
            </a:pPr>
            <a:r>
              <a:rPr sz="1500" b="1" i="0">
                <a:solidFill>
                  <a:srgbClr val="F59E0B"/>
                </a:solidFill>
                <a:latin typeface="Segoe UI"/>
              </a:rPr>
              <a:t>DevOps &amp; Docker</a:t>
            </a:r>
          </a:p>
        </p:txBody>
      </p:sp>
      <p:sp>
        <p:nvSpPr>
          <p:cNvPr id="28" name="TextBox 27"/>
          <p:cNvSpPr txBox="1"/>
          <p:nvPr/>
        </p:nvSpPr>
        <p:spPr>
          <a:xfrm>
            <a:off x="9692640" y="2057400"/>
            <a:ext cx="1920240" cy="731520"/>
          </a:xfrm>
          <a:prstGeom prst="rect">
            <a:avLst/>
          </a:prstGeom>
          <a:noFill/>
        </p:spPr>
        <p:txBody>
          <a:bodyPr wrap="square" anchor="t" lIns="45720" rIns="45720">
            <a:spAutoFit/>
          </a:bodyPr>
          <a:lstStyle/>
          <a:p>
            <a:pPr algn="l">
              <a:lnSpc>
                <a:spcPct val="110000"/>
              </a:lnSpc>
            </a:pPr>
            <a:r>
              <a:rPr sz="1200" b="0" i="0">
                <a:solidFill>
                  <a:srgbClr val="E6E9F2"/>
                </a:solidFill>
                <a:latin typeface="Segoe UI"/>
              </a:rPr>
              <a:t>Dockerfile · compose · CI/CD</a:t>
            </a:r>
          </a:p>
        </p:txBody>
      </p:sp>
      <p:sp>
        <p:nvSpPr>
          <p:cNvPr id="29" name="TextBox 28"/>
          <p:cNvSpPr txBox="1"/>
          <p:nvPr/>
        </p:nvSpPr>
        <p:spPr>
          <a:xfrm>
            <a:off x="9692640" y="2788920"/>
            <a:ext cx="1920240" cy="685800"/>
          </a:xfrm>
          <a:prstGeom prst="rect">
            <a:avLst/>
          </a:prstGeom>
          <a:noFill/>
        </p:spPr>
        <p:txBody>
          <a:bodyPr wrap="square" anchor="t" lIns="45720" rIns="45720">
            <a:spAutoFit/>
          </a:bodyPr>
          <a:lstStyle/>
          <a:p>
            <a:pPr algn="l">
              <a:lnSpc>
                <a:spcPct val="110000"/>
              </a:lnSpc>
            </a:pPr>
            <a:r>
              <a:rPr sz="1100" b="0" i="0">
                <a:solidFill>
                  <a:srgbClr val="9AA4BF"/>
                </a:solidFill>
                <a:latin typeface="Segoe UI"/>
              </a:rPr>
              <a:t>evidence: lint + real build/run logs</a:t>
            </a:r>
          </a:p>
        </p:txBody>
      </p:sp>
      <p:cxnSp>
        <p:nvCxnSpPr>
          <p:cNvPr id="30" name="Connector 29"/>
          <p:cNvCxnSpPr/>
          <p:nvPr/>
        </p:nvCxnSpPr>
        <p:spPr>
          <a:xfrm flipH="1">
            <a:off x="6080760" y="3520440"/>
            <a:ext cx="4553712" cy="548640"/>
          </a:xfrm>
          <a:prstGeom prst="line">
            <a:avLst/>
          </a:prstGeom>
          <a:ln w="15875">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3108960" y="4069080"/>
            <a:ext cx="5943600" cy="1143000"/>
          </a:xfrm>
          <a:prstGeom prst="roundRect">
            <a:avLst>
              <a:gd name="adj" fmla="val 12000"/>
            </a:avLst>
          </a:prstGeom>
          <a:solidFill>
            <a:srgbClr val="182244"/>
          </a:solidFill>
          <a:ln w="19050">
            <a:solidFill>
              <a:srgbClr val="E6E9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E6E9F2"/>
                </a:solidFill>
                <a:latin typeface="Segoe UI"/>
              </a:rPr>
              <a:t>Judge agent</a:t>
            </a:r>
          </a:p>
          <a:p>
            <a:pPr algn="ctr"/>
            <a:r>
              <a:rPr sz="1200" b="0" i="0">
                <a:solidFill>
                  <a:srgbClr val="9AA4BF"/>
                </a:solidFill>
                <a:latin typeface="Segoe UI"/>
              </a:rPr>
              <a:t>reads the 5 structured reports, never raw code (~1k tokens)</a:t>
            </a:r>
          </a:p>
          <a:p>
            <a:pPr algn="ctr"/>
            <a:r>
              <a:rPr sz="1200" b="0" i="0">
                <a:solidFill>
                  <a:srgbClr val="9AA4BF"/>
                </a:solidFill>
                <a:latin typeface="Segoe UI"/>
              </a:rPr>
              <a:t>finds contradictions &amp; double counting · ±1.5 bounded calibration</a:t>
            </a:r>
          </a:p>
        </p:txBody>
      </p:sp>
      <p:sp>
        <p:nvSpPr>
          <p:cNvPr id="32" name="TextBox 31"/>
          <p:cNvSpPr txBox="1"/>
          <p:nvPr/>
        </p:nvSpPr>
        <p:spPr>
          <a:xfrm>
            <a:off x="548640" y="5440680"/>
            <a:ext cx="11247120" cy="914400"/>
          </a:xfrm>
          <a:prstGeom prst="rect">
            <a:avLst/>
          </a:prstGeom>
          <a:noFill/>
        </p:spPr>
        <p:txBody>
          <a:bodyPr wrap="square">
            <a:spAutoFit/>
          </a:bodyPr>
          <a:lstStyle/>
          <a:p>
            <a:pPr>
              <a:spcAft>
                <a:spcPts val="300"/>
              </a:spcAft>
            </a:pPr>
            <a:r>
              <a:rPr sz="1300" b="1" i="0">
                <a:solidFill>
                  <a:srgbClr val="7C83FF"/>
                </a:solidFill>
                <a:latin typeface="Segoe UI"/>
              </a:rPr>
              <a:t>•  </a:t>
            </a:r>
            <a:r>
              <a:rPr sz="1300" b="1" i="0">
                <a:solidFill>
                  <a:srgbClr val="E6E9F2"/>
                </a:solidFill>
                <a:latin typeface="Segoe UI"/>
              </a:rPr>
              <a:t>Structured output</a:t>
            </a:r>
            <a:r>
              <a:rPr sz="1300" b="0" i="0">
                <a:solidFill>
                  <a:srgbClr val="9AA4BF"/>
                </a:solidFill>
                <a:latin typeface="Segoe UI"/>
              </a:rPr>
              <a:t> — forced tool-use JSON schema per agent: no free-text parsing, scores clamped in code</a:t>
            </a:r>
          </a:p>
          <a:p>
            <a:pPr>
              <a:spcAft>
                <a:spcPts val="300"/>
              </a:spcAft>
            </a:pPr>
            <a:r>
              <a:rPr sz="1300" b="1" i="0">
                <a:solidFill>
                  <a:srgbClr val="7C83FF"/>
                </a:solidFill>
                <a:latin typeface="Segoe UI"/>
              </a:rPr>
              <a:t>•  </a:t>
            </a:r>
            <a:r>
              <a:rPr sz="1300" b="1" i="0">
                <a:solidFill>
                  <a:srgbClr val="E6E9F2"/>
                </a:solidFill>
                <a:latin typeface="Segoe UI"/>
              </a:rPr>
              <a:t>Reproducible</a:t>
            </a:r>
            <a:r>
              <a:rPr sz="1300" b="0" i="0">
                <a:solidFill>
                  <a:srgbClr val="9AA4BF"/>
                </a:solidFill>
                <a:latin typeface="Segoe UI"/>
              </a:rPr>
              <a:t> — final score = Σ weight × dimension score, computed in code, not by the LLM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LATENCY BY CONSTRUCTION</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Pipeline DAG and critical path</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7/14</a:t>
            </a:r>
          </a:p>
        </p:txBody>
      </p:sp>
      <p:sp>
        <p:nvSpPr>
          <p:cNvPr id="6" name="Rounded Rectangle 5"/>
          <p:cNvSpPr/>
          <p:nvPr/>
        </p:nvSpPr>
        <p:spPr>
          <a:xfrm>
            <a:off x="411480" y="2743200"/>
            <a:ext cx="1051560" cy="6400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submit</a:t>
            </a:r>
          </a:p>
        </p:txBody>
      </p:sp>
      <p:sp>
        <p:nvSpPr>
          <p:cNvPr id="7" name="Rounded Rectangle 6"/>
          <p:cNvSpPr/>
          <p:nvPr/>
        </p:nvSpPr>
        <p:spPr>
          <a:xfrm>
            <a:off x="1828800" y="1600200"/>
            <a:ext cx="1508760" cy="68580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resolve</a:t>
            </a:r>
          </a:p>
          <a:p>
            <a:pPr algn="ctr"/>
            <a:r>
              <a:rPr sz="1000" b="0" i="0">
                <a:solidFill>
                  <a:srgbClr val="9AA4BF"/>
                </a:solidFill>
                <a:latin typeface="Segoe UI"/>
              </a:rPr>
              <a:t>git ls-remote</a:t>
            </a:r>
          </a:p>
        </p:txBody>
      </p:sp>
      <p:sp>
        <p:nvSpPr>
          <p:cNvPr id="8" name="Rounded Rectangle 7"/>
          <p:cNvSpPr/>
          <p:nvPr/>
        </p:nvSpPr>
        <p:spPr>
          <a:xfrm>
            <a:off x="1828800" y="3794760"/>
            <a:ext cx="1508760" cy="68580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clone</a:t>
            </a:r>
          </a:p>
          <a:p>
            <a:pPr algn="ctr"/>
            <a:r>
              <a:rPr sz="1000" b="0" i="0">
                <a:solidFill>
                  <a:srgbClr val="9AA4BF"/>
                </a:solidFill>
                <a:latin typeface="Segoe UI"/>
              </a:rPr>
              <a:t>speculative · depth 1</a:t>
            </a:r>
          </a:p>
        </p:txBody>
      </p:sp>
      <p:sp>
        <p:nvSpPr>
          <p:cNvPr id="9" name="Rounded Rectangle 8"/>
          <p:cNvSpPr/>
          <p:nvPr/>
        </p:nvSpPr>
        <p:spPr>
          <a:xfrm>
            <a:off x="3703320" y="1600200"/>
            <a:ext cx="1371600" cy="68580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cache?</a:t>
            </a:r>
          </a:p>
          <a:p>
            <a:pPr algn="ctr"/>
            <a:r>
              <a:rPr sz="1000" b="0" i="0">
                <a:solidFill>
                  <a:srgbClr val="9AA4BF"/>
                </a:solidFill>
                <a:latin typeface="Segoe UI"/>
              </a:rPr>
              <a:t>hit → reuse report</a:t>
            </a:r>
          </a:p>
        </p:txBody>
      </p:sp>
      <p:sp>
        <p:nvSpPr>
          <p:cNvPr id="10" name="Rounded Rectangle 9"/>
          <p:cNvSpPr/>
          <p:nvPr/>
        </p:nvSpPr>
        <p:spPr>
          <a:xfrm>
            <a:off x="3703320" y="3063240"/>
            <a:ext cx="1371600" cy="68580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index</a:t>
            </a:r>
          </a:p>
          <a:p>
            <a:pPr algn="ctr"/>
            <a:r>
              <a:rPr sz="1000" b="0" i="0">
                <a:solidFill>
                  <a:srgbClr val="9AA4BF"/>
                </a:solidFill>
                <a:latin typeface="Segoe UI"/>
              </a:rPr>
              <a:t>1 pass · 35 ms</a:t>
            </a:r>
          </a:p>
        </p:txBody>
      </p:sp>
      <p:sp>
        <p:nvSpPr>
          <p:cNvPr id="11" name="Rounded Rectangle 10"/>
          <p:cNvSpPr/>
          <p:nvPr/>
        </p:nvSpPr>
        <p:spPr>
          <a:xfrm>
            <a:off x="3703320" y="4709160"/>
            <a:ext cx="1371600" cy="68580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docker</a:t>
            </a:r>
          </a:p>
          <a:p>
            <a:pPr algn="ctr"/>
            <a:r>
              <a:rPr sz="1000" b="0" i="0">
                <a:solidFill>
                  <a:srgbClr val="9AA4BF"/>
                </a:solidFill>
                <a:latin typeface="Segoe UI"/>
              </a:rPr>
              <a:t>lint · build · run</a:t>
            </a:r>
          </a:p>
        </p:txBody>
      </p:sp>
      <p:cxnSp>
        <p:nvCxnSpPr>
          <p:cNvPr id="12" name="Connector 11"/>
          <p:cNvCxnSpPr/>
          <p:nvPr/>
        </p:nvCxnSpPr>
        <p:spPr>
          <a:xfrm flipV="1">
            <a:off x="1463040" y="1938528"/>
            <a:ext cx="365760" cy="1124712"/>
          </a:xfrm>
          <a:prstGeom prst="line">
            <a:avLst/>
          </a:prstGeom>
          <a:ln w="19050">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463040" y="3063240"/>
            <a:ext cx="365760" cy="1069847"/>
          </a:xfrm>
          <a:prstGeom prst="line">
            <a:avLst/>
          </a:prstGeom>
          <a:ln w="31750">
            <a:solidFill>
              <a:srgbClr val="F43F5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337560" y="1938528"/>
            <a:ext cx="365760" cy="0"/>
          </a:xfrm>
          <a:prstGeom prst="line">
            <a:avLst/>
          </a:prstGeom>
          <a:ln w="19050">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3337560" y="3401568"/>
            <a:ext cx="365760" cy="731519"/>
          </a:xfrm>
          <a:prstGeom prst="line">
            <a:avLst/>
          </a:prstGeom>
          <a:ln w="31750">
            <a:solidFill>
              <a:srgbClr val="F43F5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389120" y="2286000"/>
            <a:ext cx="0" cy="777240"/>
          </a:xfrm>
          <a:prstGeom prst="line">
            <a:avLst/>
          </a:prstGeom>
          <a:ln w="19050">
            <a:solidFill>
              <a:srgbClr val="9AA4B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37560" y="4206240"/>
            <a:ext cx="365760" cy="822960"/>
          </a:xfrm>
          <a:prstGeom prst="line">
            <a:avLst/>
          </a:prstGeom>
          <a:ln w="1905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532120" y="1417320"/>
            <a:ext cx="1691640" cy="59436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Code Quality</a:t>
            </a:r>
          </a:p>
        </p:txBody>
      </p:sp>
      <p:cxnSp>
        <p:nvCxnSpPr>
          <p:cNvPr id="19" name="Connector 18"/>
          <p:cNvCxnSpPr/>
          <p:nvPr/>
        </p:nvCxnSpPr>
        <p:spPr>
          <a:xfrm flipV="1">
            <a:off x="5074920" y="1709928"/>
            <a:ext cx="457200" cy="1691640"/>
          </a:xfrm>
          <a:prstGeom prst="line">
            <a:avLst/>
          </a:prstGeom>
          <a:ln w="15875">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223760" y="1709928"/>
            <a:ext cx="502919" cy="1856232"/>
          </a:xfrm>
          <a:prstGeom prst="line">
            <a:avLst/>
          </a:prstGeom>
          <a:ln w="15875">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532120" y="2194560"/>
            <a:ext cx="1691640" cy="59436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Architecture</a:t>
            </a:r>
          </a:p>
        </p:txBody>
      </p:sp>
      <p:cxnSp>
        <p:nvCxnSpPr>
          <p:cNvPr id="22" name="Connector 21"/>
          <p:cNvCxnSpPr/>
          <p:nvPr/>
        </p:nvCxnSpPr>
        <p:spPr>
          <a:xfrm flipV="1">
            <a:off x="5074920" y="2487168"/>
            <a:ext cx="457200" cy="914400"/>
          </a:xfrm>
          <a:prstGeom prst="line">
            <a:avLst/>
          </a:prstGeom>
          <a:ln w="15875">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23760" y="2487168"/>
            <a:ext cx="502919" cy="1078992"/>
          </a:xfrm>
          <a:prstGeom prst="line">
            <a:avLst/>
          </a:prstGeom>
          <a:ln w="15875">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532120" y="2971800"/>
            <a:ext cx="1691640" cy="59436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Security</a:t>
            </a:r>
          </a:p>
        </p:txBody>
      </p:sp>
      <p:cxnSp>
        <p:nvCxnSpPr>
          <p:cNvPr id="25" name="Connector 24"/>
          <p:cNvCxnSpPr/>
          <p:nvPr/>
        </p:nvCxnSpPr>
        <p:spPr>
          <a:xfrm flipV="1">
            <a:off x="5074920" y="3264408"/>
            <a:ext cx="457200" cy="137160"/>
          </a:xfrm>
          <a:prstGeom prst="line">
            <a:avLst/>
          </a:prstGeom>
          <a:ln w="31750">
            <a:solidFill>
              <a:srgbClr val="F43F5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223760" y="3264408"/>
            <a:ext cx="502919" cy="301752"/>
          </a:xfrm>
          <a:prstGeom prst="line">
            <a:avLst/>
          </a:prstGeom>
          <a:ln w="31750">
            <a:solidFill>
              <a:srgbClr val="F43F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532120" y="3749039"/>
            <a:ext cx="1691640" cy="59436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Testing</a:t>
            </a:r>
          </a:p>
        </p:txBody>
      </p:sp>
      <p:cxnSp>
        <p:nvCxnSpPr>
          <p:cNvPr id="28" name="Connector 27"/>
          <p:cNvCxnSpPr/>
          <p:nvPr/>
        </p:nvCxnSpPr>
        <p:spPr>
          <a:xfrm>
            <a:off x="5074920" y="3401568"/>
            <a:ext cx="457200" cy="640080"/>
          </a:xfrm>
          <a:prstGeom prst="line">
            <a:avLst/>
          </a:prstGeom>
          <a:ln w="15875">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7223760" y="3566160"/>
            <a:ext cx="502919" cy="475488"/>
          </a:xfrm>
          <a:prstGeom prst="line">
            <a:avLst/>
          </a:prstGeom>
          <a:ln w="15875">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532120" y="4709160"/>
            <a:ext cx="1691640" cy="68580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DevOps</a:t>
            </a:r>
          </a:p>
          <a:p>
            <a:pPr algn="ctr"/>
            <a:r>
              <a:rPr sz="1000" b="0" i="0">
                <a:solidFill>
                  <a:srgbClr val="9AA4BF"/>
                </a:solidFill>
                <a:latin typeface="Segoe UI"/>
              </a:rPr>
              <a:t>waits for docker</a:t>
            </a:r>
          </a:p>
        </p:txBody>
      </p:sp>
      <p:cxnSp>
        <p:nvCxnSpPr>
          <p:cNvPr id="31" name="Connector 30"/>
          <p:cNvCxnSpPr/>
          <p:nvPr/>
        </p:nvCxnSpPr>
        <p:spPr>
          <a:xfrm>
            <a:off x="5074920" y="5047488"/>
            <a:ext cx="457200" cy="0"/>
          </a:xfrm>
          <a:prstGeom prst="line">
            <a:avLst/>
          </a:prstGeom>
          <a:ln w="1905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074920" y="3520440"/>
            <a:ext cx="457200" cy="1325880"/>
          </a:xfrm>
          <a:prstGeom prst="line">
            <a:avLst/>
          </a:prstGeom>
          <a:ln w="12700">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7223760" y="3749039"/>
            <a:ext cx="502919" cy="1298449"/>
          </a:xfrm>
          <a:prstGeom prst="line">
            <a:avLst/>
          </a:prstGeom>
          <a:ln w="1905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726679" y="3246120"/>
            <a:ext cx="1325880" cy="68580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Judge</a:t>
            </a:r>
          </a:p>
          <a:p>
            <a:pPr algn="ctr"/>
            <a:r>
              <a:rPr sz="1000" b="0" i="0">
                <a:solidFill>
                  <a:srgbClr val="9AA4BF"/>
                </a:solidFill>
                <a:latin typeface="Segoe UI"/>
              </a:rPr>
              <a:t>calibrate</a:t>
            </a:r>
          </a:p>
        </p:txBody>
      </p:sp>
      <p:sp>
        <p:nvSpPr>
          <p:cNvPr id="35" name="Rounded Rectangle 34"/>
          <p:cNvSpPr/>
          <p:nvPr/>
        </p:nvSpPr>
        <p:spPr>
          <a:xfrm>
            <a:off x="9418320" y="3246120"/>
            <a:ext cx="1325880" cy="68580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Report</a:t>
            </a:r>
          </a:p>
          <a:p>
            <a:pPr algn="ctr"/>
            <a:r>
              <a:rPr sz="1000" b="0" i="0">
                <a:solidFill>
                  <a:srgbClr val="9AA4BF"/>
                </a:solidFill>
                <a:latin typeface="Segoe UI"/>
              </a:rPr>
              <a:t>HTML·MD·JSON</a:t>
            </a:r>
          </a:p>
        </p:txBody>
      </p:sp>
      <p:cxnSp>
        <p:nvCxnSpPr>
          <p:cNvPr id="36" name="Connector 35"/>
          <p:cNvCxnSpPr/>
          <p:nvPr/>
        </p:nvCxnSpPr>
        <p:spPr>
          <a:xfrm>
            <a:off x="9052560" y="3584448"/>
            <a:ext cx="365760" cy="0"/>
          </a:xfrm>
          <a:prstGeom prst="line">
            <a:avLst/>
          </a:prstGeom>
          <a:ln w="31750">
            <a:solidFill>
              <a:srgbClr val="F43F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11480" y="5577840"/>
            <a:ext cx="11338560" cy="777240"/>
          </a:xfrm>
          <a:prstGeom prst="roundRect">
            <a:avLst>
              <a:gd name="adj" fmla="val 8000"/>
            </a:avLst>
          </a:prstGeom>
          <a:solidFill>
            <a:srgbClr val="182244"/>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94360" y="5623560"/>
            <a:ext cx="10972800" cy="731520"/>
          </a:xfrm>
          <a:prstGeom prst="rect">
            <a:avLst/>
          </a:prstGeom>
          <a:noFill/>
        </p:spPr>
        <p:txBody>
          <a:bodyPr wrap="square" anchor="t" lIns="45720" rIns="45720">
            <a:spAutoFit/>
          </a:bodyPr>
          <a:lstStyle/>
          <a:p>
            <a:pPr algn="l">
              <a:lnSpc>
                <a:spcPct val="110000"/>
              </a:lnSpc>
            </a:pPr>
            <a:r>
              <a:rPr sz="1300" b="1" i="0">
                <a:solidFill>
                  <a:srgbClr val="E6E9F2"/>
                </a:solidFill>
                <a:latin typeface="Consolas"/>
              </a:rPr>
              <a:t>T_total ≈ max(T_resolve, T_clone) + max(T_index + max(T_agent1..4), T_docker + T_devops) + T_judge</a:t>
            </a:r>
          </a:p>
          <a:p>
            <a:pPr algn="l">
              <a:lnSpc>
                <a:spcPct val="110000"/>
              </a:lnSpc>
            </a:pPr>
            <a:r>
              <a:rPr sz="1100" b="0" i="0">
                <a:solidFill>
                  <a:srgbClr val="9AA4BF"/>
                </a:solidFill>
                <a:latin typeface="Segoe UI"/>
              </a:rPr>
              <a:t>Red = critical path measured in the benchmark run. Every report computes it by walking back along the last-finishing dependency.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WHERE THE MILLISECONDS GO</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Latency engineering: 3 principles, 15 techniques</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8/14</a:t>
            </a:r>
          </a:p>
        </p:txBody>
      </p:sp>
      <p:sp>
        <p:nvSpPr>
          <p:cNvPr id="6" name="Rounded Rectangle 5"/>
          <p:cNvSpPr/>
          <p:nvPr/>
        </p:nvSpPr>
        <p:spPr>
          <a:xfrm>
            <a:off x="548640" y="1508760"/>
            <a:ext cx="3611880" cy="502920"/>
          </a:xfrm>
          <a:prstGeom prst="roundRect">
            <a:avLst>
              <a:gd name="adj" fmla="val 12000"/>
            </a:avLst>
          </a:prstGeom>
          <a:solidFill>
            <a:srgbClr val="22C55E"/>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Do less work</a:t>
            </a:r>
          </a:p>
        </p:txBody>
      </p:sp>
      <p:sp>
        <p:nvSpPr>
          <p:cNvPr id="7" name="Rounded Rectangle 6"/>
          <p:cNvSpPr/>
          <p:nvPr/>
        </p:nvSpPr>
        <p:spPr>
          <a:xfrm>
            <a:off x="548640" y="2084831"/>
            <a:ext cx="3611880" cy="37947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2194560"/>
            <a:ext cx="3383280" cy="3657600"/>
          </a:xfrm>
          <a:prstGeom prst="rect">
            <a:avLst/>
          </a:prstGeom>
          <a:noFill/>
        </p:spPr>
        <p:txBody>
          <a:bodyPr wrap="square">
            <a:spAutoFit/>
          </a:bodyPr>
          <a:lstStyle/>
          <a:p>
            <a:pPr>
              <a:spcAft>
                <a:spcPts val="500"/>
              </a:spcAft>
            </a:pPr>
            <a:r>
              <a:rPr sz="1400" b="1" i="0">
                <a:solidFill>
                  <a:srgbClr val="E6E9F2"/>
                </a:solidFill>
                <a:latin typeface="Segoe UI"/>
              </a:rPr>
              <a:t>Result cache</a:t>
            </a:r>
          </a:p>
          <a:p>
            <a:pPr>
              <a:spcAft>
                <a:spcPts val="600"/>
              </a:spcAft>
            </a:pPr>
            <a:r>
              <a:rPr sz="1150" b="0" i="0">
                <a:solidFill>
                  <a:srgbClr val="9AA4BF"/>
                </a:solidFill>
                <a:latin typeface="Segoe UI"/>
              </a:rPr>
              <a:t>key = commit SHA + Dockerfile + rubric + models</a:t>
            </a:r>
          </a:p>
          <a:p>
            <a:pPr>
              <a:spcAft>
                <a:spcPts val="500"/>
              </a:spcAft>
            </a:pPr>
            <a:r>
              <a:rPr sz="1400" b="1" i="0">
                <a:solidFill>
                  <a:srgbClr val="E6E9F2"/>
                </a:solidFill>
                <a:latin typeface="Segoe UI"/>
              </a:rPr>
              <a:t>Single-flight</a:t>
            </a:r>
          </a:p>
          <a:p>
            <a:pPr>
              <a:spcAft>
                <a:spcPts val="600"/>
              </a:spcAft>
            </a:pPr>
            <a:r>
              <a:rPr sz="1150" b="0" i="0">
                <a:solidFill>
                  <a:srgbClr val="9AA4BF"/>
                </a:solidFill>
                <a:latin typeface="Segoe UI"/>
              </a:rPr>
              <a:t>identical in-flight jobs are merged</a:t>
            </a:r>
          </a:p>
          <a:p>
            <a:pPr>
              <a:spcAft>
                <a:spcPts val="500"/>
              </a:spcAft>
            </a:pPr>
            <a:r>
              <a:rPr sz="1400" b="1" i="0">
                <a:solidFill>
                  <a:srgbClr val="E6E9F2"/>
                </a:solidFill>
                <a:latin typeface="Segoe UI"/>
              </a:rPr>
              <a:t>Shallow clone</a:t>
            </a:r>
          </a:p>
          <a:p>
            <a:pPr>
              <a:spcAft>
                <a:spcPts val="600"/>
              </a:spcAft>
            </a:pPr>
            <a:r>
              <a:rPr sz="1150" b="0" i="0">
                <a:solidFill>
                  <a:srgbClr val="9AA4BF"/>
                </a:solidFill>
                <a:latin typeface="Segoe UI"/>
              </a:rPr>
              <a:t>depth 1, single branch, no tags</a:t>
            </a:r>
          </a:p>
          <a:p>
            <a:pPr>
              <a:spcAft>
                <a:spcPts val="500"/>
              </a:spcAft>
            </a:pPr>
            <a:r>
              <a:rPr sz="1400" b="1" i="0">
                <a:solidFill>
                  <a:srgbClr val="E6E9F2"/>
                </a:solidFill>
                <a:latin typeface="Segoe UI"/>
              </a:rPr>
              <a:t>One-pass index</a:t>
            </a:r>
          </a:p>
          <a:p>
            <a:pPr>
              <a:spcAft>
                <a:spcPts val="600"/>
              </a:spcAft>
            </a:pPr>
            <a:r>
              <a:rPr sz="1150" b="0" i="0">
                <a:solidFill>
                  <a:srgbClr val="9AA4BF"/>
                </a:solidFill>
                <a:latin typeface="Segoe UI"/>
              </a:rPr>
              <a:t>scan once, every agent reads memory</a:t>
            </a:r>
          </a:p>
          <a:p>
            <a:pPr>
              <a:spcAft>
                <a:spcPts val="500"/>
              </a:spcAft>
            </a:pPr>
            <a:r>
              <a:rPr sz="1400" b="1" i="0">
                <a:solidFill>
                  <a:srgbClr val="E6E9F2"/>
                </a:solidFill>
                <a:latin typeface="Segoe UI"/>
              </a:rPr>
              <a:t>Ranked evidence budgets</a:t>
            </a:r>
          </a:p>
          <a:p>
            <a:pPr>
              <a:spcAft>
                <a:spcPts val="600"/>
              </a:spcAft>
            </a:pPr>
            <a:r>
              <a:rPr sz="1150" b="0" i="0">
                <a:solidFill>
                  <a:srgbClr val="9AA4BF"/>
                </a:solidFill>
                <a:latin typeface="Segoe UI"/>
              </a:rPr>
              <a:t>3.6k–7.2k tokens per agent</a:t>
            </a:r>
          </a:p>
          <a:p>
            <a:pPr>
              <a:spcAft>
                <a:spcPts val="500"/>
              </a:spcAft>
            </a:pPr>
            <a:r>
              <a:rPr sz="1400" b="1" i="0">
                <a:solidFill>
                  <a:srgbClr val="E6E9F2"/>
                </a:solidFill>
                <a:latin typeface="Segoe UI"/>
              </a:rPr>
              <a:t>Capped output tokens</a:t>
            </a:r>
          </a:p>
          <a:p>
            <a:pPr>
              <a:spcAft>
                <a:spcPts val="600"/>
              </a:spcAft>
            </a:pPr>
            <a:r>
              <a:rPr sz="1150" b="0" i="0">
                <a:solidFill>
                  <a:srgbClr val="9AA4BF"/>
                </a:solidFill>
                <a:latin typeface="Segoe UI"/>
              </a:rPr>
              <a:t>decode time dominates LLM latency</a:t>
            </a:r>
          </a:p>
        </p:txBody>
      </p:sp>
      <p:sp>
        <p:nvSpPr>
          <p:cNvPr id="9" name="Rounded Rectangle 8"/>
          <p:cNvSpPr/>
          <p:nvPr/>
        </p:nvSpPr>
        <p:spPr>
          <a:xfrm>
            <a:off x="4343400" y="1508760"/>
            <a:ext cx="3611880" cy="502920"/>
          </a:xfrm>
          <a:prstGeom prst="roundRect">
            <a:avLst>
              <a:gd name="adj" fmla="val 12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Do it in parallel / earlier</a:t>
            </a:r>
          </a:p>
        </p:txBody>
      </p:sp>
      <p:sp>
        <p:nvSpPr>
          <p:cNvPr id="10" name="Rounded Rectangle 9"/>
          <p:cNvSpPr/>
          <p:nvPr/>
        </p:nvSpPr>
        <p:spPr>
          <a:xfrm>
            <a:off x="4343400" y="2084831"/>
            <a:ext cx="3611880" cy="37947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480560" y="2194560"/>
            <a:ext cx="3383280" cy="3657600"/>
          </a:xfrm>
          <a:prstGeom prst="rect">
            <a:avLst/>
          </a:prstGeom>
          <a:noFill/>
        </p:spPr>
        <p:txBody>
          <a:bodyPr wrap="square">
            <a:spAutoFit/>
          </a:bodyPr>
          <a:lstStyle/>
          <a:p>
            <a:pPr>
              <a:spcAft>
                <a:spcPts val="500"/>
              </a:spcAft>
            </a:pPr>
            <a:r>
              <a:rPr sz="1400" b="1" i="0">
                <a:solidFill>
                  <a:srgbClr val="E6E9F2"/>
                </a:solidFill>
                <a:latin typeface="Segoe UI"/>
              </a:rPr>
              <a:t>5-agent fan-out</a:t>
            </a:r>
          </a:p>
          <a:p>
            <a:pPr>
              <a:spcAft>
                <a:spcPts val="600"/>
              </a:spcAft>
            </a:pPr>
            <a:r>
              <a:rPr sz="1150" b="0" i="0">
                <a:solidFill>
                  <a:srgbClr val="9AA4BF"/>
                </a:solidFill>
                <a:latin typeface="Segoe UI"/>
              </a:rPr>
              <a:t>pay max(), not sum()</a:t>
            </a:r>
          </a:p>
          <a:p>
            <a:pPr>
              <a:spcAft>
                <a:spcPts val="500"/>
              </a:spcAft>
            </a:pPr>
            <a:r>
              <a:rPr sz="1400" b="1" i="0">
                <a:solidFill>
                  <a:srgbClr val="E6E9F2"/>
                </a:solidFill>
                <a:latin typeface="Segoe UI"/>
              </a:rPr>
              <a:t>Docker ‖ code agents</a:t>
            </a:r>
          </a:p>
          <a:p>
            <a:pPr>
              <a:spcAft>
                <a:spcPts val="600"/>
              </a:spcAft>
            </a:pPr>
            <a:r>
              <a:rPr sz="1150" b="0" i="0">
                <a:solidFill>
                  <a:srgbClr val="9AA4BF"/>
                </a:solidFill>
                <a:latin typeface="Segoe UI"/>
              </a:rPr>
              <a:t>build is off the critical path</a:t>
            </a:r>
          </a:p>
          <a:p>
            <a:pPr>
              <a:spcAft>
                <a:spcPts val="500"/>
              </a:spcAft>
            </a:pPr>
            <a:r>
              <a:rPr sz="1400" b="1" i="0">
                <a:solidFill>
                  <a:srgbClr val="E6E9F2"/>
                </a:solidFill>
                <a:latin typeface="Segoe UI"/>
              </a:rPr>
              <a:t>Speculative clone ‖ ls-remote</a:t>
            </a:r>
          </a:p>
          <a:p>
            <a:pPr>
              <a:spcAft>
                <a:spcPts val="600"/>
              </a:spcAft>
            </a:pPr>
            <a:r>
              <a:rPr sz="1150" b="0" i="0">
                <a:solidFill>
                  <a:srgbClr val="9AA4BF"/>
                </a:solidFill>
                <a:latin typeface="Segoe UI"/>
              </a:rPr>
              <a:t>cancelled on cache hit</a:t>
            </a:r>
          </a:p>
          <a:p>
            <a:pPr>
              <a:spcAft>
                <a:spcPts val="500"/>
              </a:spcAft>
            </a:pPr>
            <a:r>
              <a:rPr sz="1400" b="1" i="0">
                <a:solidFill>
                  <a:srgbClr val="E6E9F2"/>
                </a:solidFill>
                <a:latin typeface="Segoe UI"/>
              </a:rPr>
              <a:t>Prompt-cache prefix</a:t>
            </a:r>
          </a:p>
          <a:p>
            <a:pPr>
              <a:spcAft>
                <a:spcPts val="600"/>
              </a:spcAft>
            </a:pPr>
            <a:r>
              <a:rPr sz="1150" b="0" i="0">
                <a:solidFill>
                  <a:srgbClr val="9AA4BF"/>
                </a:solidFill>
                <a:latin typeface="Segoe UI"/>
              </a:rPr>
              <a:t>byte-identical shared context</a:t>
            </a:r>
          </a:p>
          <a:p>
            <a:pPr>
              <a:spcAft>
                <a:spcPts val="500"/>
              </a:spcAft>
            </a:pPr>
            <a:r>
              <a:rPr sz="1400" b="1" i="0">
                <a:solidFill>
                  <a:srgbClr val="E6E9F2"/>
                </a:solidFill>
                <a:latin typeface="Segoe UI"/>
              </a:rPr>
              <a:t>Tiny judge input</a:t>
            </a:r>
          </a:p>
          <a:p>
            <a:pPr>
              <a:spcAft>
                <a:spcPts val="600"/>
              </a:spcAft>
            </a:pPr>
            <a:r>
              <a:rPr sz="1150" b="0" i="0">
                <a:solidFill>
                  <a:srgbClr val="9AA4BF"/>
                </a:solidFill>
                <a:latin typeface="Segoe UI"/>
              </a:rPr>
              <a:t>~1k tokens on the only sequential LLM call</a:t>
            </a:r>
          </a:p>
        </p:txBody>
      </p:sp>
      <p:sp>
        <p:nvSpPr>
          <p:cNvPr id="12" name="Rounded Rectangle 11"/>
          <p:cNvSpPr/>
          <p:nvPr/>
        </p:nvSpPr>
        <p:spPr>
          <a:xfrm>
            <a:off x="8138160" y="1508760"/>
            <a:ext cx="3611880" cy="502920"/>
          </a:xfrm>
          <a:prstGeom prst="roundRect">
            <a:avLst>
              <a:gd name="adj" fmla="val 12000"/>
            </a:avLst>
          </a:prstGeom>
          <a:solidFill>
            <a:srgbClr val="F59E0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Bound the tail (p95/p99)</a:t>
            </a:r>
          </a:p>
        </p:txBody>
      </p:sp>
      <p:sp>
        <p:nvSpPr>
          <p:cNvPr id="13" name="Rounded Rectangle 12"/>
          <p:cNvSpPr/>
          <p:nvPr/>
        </p:nvSpPr>
        <p:spPr>
          <a:xfrm>
            <a:off x="8138160" y="2084831"/>
            <a:ext cx="3611880" cy="37947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275320" y="2194560"/>
            <a:ext cx="3383280" cy="3657600"/>
          </a:xfrm>
          <a:prstGeom prst="rect">
            <a:avLst/>
          </a:prstGeom>
          <a:noFill/>
        </p:spPr>
        <p:txBody>
          <a:bodyPr wrap="square">
            <a:spAutoFit/>
          </a:bodyPr>
          <a:lstStyle/>
          <a:p>
            <a:pPr>
              <a:spcAft>
                <a:spcPts val="500"/>
              </a:spcAft>
            </a:pPr>
            <a:r>
              <a:rPr sz="1400" b="1" i="0">
                <a:solidFill>
                  <a:srgbClr val="E6E9F2"/>
                </a:solidFill>
                <a:latin typeface="Segoe UI"/>
              </a:rPr>
              <a:t>Deadlines per agent</a:t>
            </a:r>
          </a:p>
          <a:p>
            <a:pPr>
              <a:spcAft>
                <a:spcPts val="600"/>
              </a:spcAft>
            </a:pPr>
            <a:r>
              <a:rPr sz="1150" b="0" i="0">
                <a:solidFill>
                  <a:srgbClr val="9AA4BF"/>
                </a:solidFill>
                <a:latin typeface="Segoe UI"/>
              </a:rPr>
              <a:t>timeout → heuristic fallback</a:t>
            </a:r>
          </a:p>
          <a:p>
            <a:pPr>
              <a:spcAft>
                <a:spcPts val="500"/>
              </a:spcAft>
            </a:pPr>
            <a:r>
              <a:rPr sz="1400" b="1" i="0">
                <a:solidFill>
                  <a:srgbClr val="E6E9F2"/>
                </a:solidFill>
                <a:latin typeface="Segoe UI"/>
              </a:rPr>
              <a:t>Retries with backoff</a:t>
            </a:r>
          </a:p>
          <a:p>
            <a:pPr>
              <a:spcAft>
                <a:spcPts val="600"/>
              </a:spcAft>
            </a:pPr>
            <a:r>
              <a:rPr sz="1150" b="0" i="0">
                <a:solidFill>
                  <a:srgbClr val="9AA4BF"/>
                </a:solidFill>
                <a:latin typeface="Segoe UI"/>
              </a:rPr>
              <a:t>429 / 5xx handled by the SDK</a:t>
            </a:r>
          </a:p>
          <a:p>
            <a:pPr>
              <a:spcAft>
                <a:spcPts val="500"/>
              </a:spcAft>
            </a:pPr>
            <a:r>
              <a:rPr sz="1400" b="1" i="0">
                <a:solidFill>
                  <a:srgbClr val="E6E9F2"/>
                </a:solidFill>
                <a:latin typeface="Segoe UI"/>
              </a:rPr>
              <a:t>Global LLM semaphore</a:t>
            </a:r>
          </a:p>
          <a:p>
            <a:pPr>
              <a:spcAft>
                <a:spcPts val="600"/>
              </a:spcAft>
            </a:pPr>
            <a:r>
              <a:rPr sz="1150" b="0" i="0">
                <a:solidFill>
                  <a:srgbClr val="9AA4BF"/>
                </a:solidFill>
                <a:latin typeface="Segoe UI"/>
              </a:rPr>
              <a:t>queue locally, avoid 429 storms</a:t>
            </a:r>
          </a:p>
          <a:p>
            <a:pPr>
              <a:spcAft>
                <a:spcPts val="500"/>
              </a:spcAft>
            </a:pPr>
            <a:r>
              <a:rPr sz="1400" b="1" i="0">
                <a:solidFill>
                  <a:srgbClr val="E6E9F2"/>
                </a:solidFill>
                <a:latin typeface="Segoe UI"/>
              </a:rPr>
              <a:t>Admission control</a:t>
            </a:r>
          </a:p>
          <a:p>
            <a:pPr>
              <a:spcAft>
                <a:spcPts val="600"/>
              </a:spcAft>
            </a:pPr>
            <a:r>
              <a:rPr sz="1150" b="0" i="0">
                <a:solidFill>
                  <a:srgbClr val="9AA4BF"/>
                </a:solidFill>
                <a:latin typeface="Segoe UI"/>
              </a:rPr>
              <a:t>bounded concurrent jobs, FIFO</a:t>
            </a:r>
          </a:p>
        </p:txBody>
      </p:sp>
      <p:sp>
        <p:nvSpPr>
          <p:cNvPr id="15" name="TextBox 14"/>
          <p:cNvSpPr txBox="1"/>
          <p:nvPr/>
        </p:nvSpPr>
        <p:spPr>
          <a:xfrm>
            <a:off x="548640" y="6035040"/>
            <a:ext cx="11247120" cy="365760"/>
          </a:xfrm>
          <a:prstGeom prst="rect">
            <a:avLst/>
          </a:prstGeom>
          <a:noFill/>
        </p:spPr>
        <p:txBody>
          <a:bodyPr wrap="square" anchor="t" lIns="45720" rIns="45720">
            <a:spAutoFit/>
          </a:bodyPr>
          <a:lstStyle/>
          <a:p>
            <a:pPr algn="l">
              <a:lnSpc>
                <a:spcPct val="110000"/>
              </a:lnSpc>
            </a:pPr>
            <a:r>
              <a:rPr sz="1200" b="0" i="0">
                <a:solidFill>
                  <a:srgbClr val="9AA4BF"/>
                </a:solidFill>
                <a:latin typeface="Segoe UI"/>
              </a:rPr>
              <a:t>Plus: non-blocking subprocesses (event loop stays free for SSE), live progress over Server-Sent Events, and p50/p95 per stage at /api/metrics.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BENCHMARK: DOCKERSAMPLES/EXAMPLE-VOTING-APP (5 SERVICES)</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Results</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9/14</a:t>
            </a:r>
          </a:p>
        </p:txBody>
      </p:sp>
      <p:sp>
        <p:nvSpPr>
          <p:cNvPr id="6" name="Rounded Rectangle 5"/>
          <p:cNvSpPr/>
          <p:nvPr/>
        </p:nvSpPr>
        <p:spPr>
          <a:xfrm>
            <a:off x="548640" y="1508760"/>
            <a:ext cx="2651760" cy="141732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48640" y="1554480"/>
            <a:ext cx="2651760" cy="685800"/>
          </a:xfrm>
          <a:prstGeom prst="rect">
            <a:avLst/>
          </a:prstGeom>
          <a:noFill/>
        </p:spPr>
        <p:txBody>
          <a:bodyPr wrap="square" anchor="t" lIns="45720" rIns="45720">
            <a:spAutoFit/>
          </a:bodyPr>
          <a:lstStyle/>
          <a:p>
            <a:pPr algn="ctr">
              <a:lnSpc>
                <a:spcPct val="110000"/>
              </a:lnSpc>
            </a:pPr>
            <a:r>
              <a:rPr sz="3400" b="1" i="0">
                <a:solidFill>
                  <a:srgbClr val="22C55E"/>
                </a:solidFill>
                <a:latin typeface="Segoe UI"/>
              </a:rPr>
              <a:t>2.74×</a:t>
            </a:r>
          </a:p>
        </p:txBody>
      </p:sp>
      <p:sp>
        <p:nvSpPr>
          <p:cNvPr id="8" name="TextBox 7"/>
          <p:cNvSpPr txBox="1"/>
          <p:nvPr/>
        </p:nvSpPr>
        <p:spPr>
          <a:xfrm>
            <a:off x="548640" y="2212848"/>
            <a:ext cx="2651760" cy="320040"/>
          </a:xfrm>
          <a:prstGeom prst="rect">
            <a:avLst/>
          </a:prstGeom>
          <a:noFill/>
        </p:spPr>
        <p:txBody>
          <a:bodyPr wrap="square" anchor="t" lIns="45720" rIns="45720">
            <a:spAutoFit/>
          </a:bodyPr>
          <a:lstStyle/>
          <a:p>
            <a:pPr algn="ctr">
              <a:lnSpc>
                <a:spcPct val="110000"/>
              </a:lnSpc>
            </a:pPr>
            <a:r>
              <a:rPr sz="1300" b="1" i="0">
                <a:solidFill>
                  <a:srgbClr val="E6E9F2"/>
                </a:solidFill>
                <a:latin typeface="Segoe UI"/>
              </a:rPr>
              <a:t>speed-up vs sequential</a:t>
            </a:r>
          </a:p>
        </p:txBody>
      </p:sp>
      <p:sp>
        <p:nvSpPr>
          <p:cNvPr id="9" name="TextBox 8"/>
          <p:cNvSpPr txBox="1"/>
          <p:nvPr/>
        </p:nvSpPr>
        <p:spPr>
          <a:xfrm>
            <a:off x="548640" y="2514600"/>
            <a:ext cx="2651760" cy="320040"/>
          </a:xfrm>
          <a:prstGeom prst="rect">
            <a:avLst/>
          </a:prstGeom>
          <a:noFill/>
        </p:spPr>
        <p:txBody>
          <a:bodyPr wrap="square" anchor="t" lIns="45720" rIns="45720">
            <a:spAutoFit/>
          </a:bodyPr>
          <a:lstStyle/>
          <a:p>
            <a:pPr algn="ctr">
              <a:lnSpc>
                <a:spcPct val="110000"/>
              </a:lnSpc>
            </a:pPr>
            <a:r>
              <a:rPr sz="1100" b="0" i="0">
                <a:solidFill>
                  <a:srgbClr val="9AA4BF"/>
                </a:solidFill>
                <a:latin typeface="Segoe UI"/>
              </a:rPr>
              <a:t>27.5 s vs 75.5 s*</a:t>
            </a:r>
          </a:p>
        </p:txBody>
      </p:sp>
      <p:sp>
        <p:nvSpPr>
          <p:cNvPr id="10" name="Rounded Rectangle 9"/>
          <p:cNvSpPr/>
          <p:nvPr/>
        </p:nvSpPr>
        <p:spPr>
          <a:xfrm>
            <a:off x="3383280" y="1508760"/>
            <a:ext cx="2651760" cy="1417320"/>
          </a:xfrm>
          <a:prstGeom prst="roundRect">
            <a:avLst>
              <a:gd name="adj" fmla="val 12000"/>
            </a:avLst>
          </a:prstGeom>
          <a:solidFill>
            <a:srgbClr val="121933"/>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383280" y="1554480"/>
            <a:ext cx="2651760" cy="685800"/>
          </a:xfrm>
          <a:prstGeom prst="rect">
            <a:avLst/>
          </a:prstGeom>
          <a:noFill/>
        </p:spPr>
        <p:txBody>
          <a:bodyPr wrap="square" anchor="t" lIns="45720" rIns="45720">
            <a:spAutoFit/>
          </a:bodyPr>
          <a:lstStyle/>
          <a:p>
            <a:pPr algn="ctr">
              <a:lnSpc>
                <a:spcPct val="110000"/>
              </a:lnSpc>
            </a:pPr>
            <a:r>
              <a:rPr sz="3400" b="1" i="0">
                <a:solidFill>
                  <a:srgbClr val="22D3EE"/>
                </a:solidFill>
                <a:latin typeface="Segoe UI"/>
              </a:rPr>
              <a:t>1.2 s</a:t>
            </a:r>
          </a:p>
        </p:txBody>
      </p:sp>
      <p:sp>
        <p:nvSpPr>
          <p:cNvPr id="12" name="TextBox 11"/>
          <p:cNvSpPr txBox="1"/>
          <p:nvPr/>
        </p:nvSpPr>
        <p:spPr>
          <a:xfrm>
            <a:off x="3383280" y="2212848"/>
            <a:ext cx="2651760" cy="320040"/>
          </a:xfrm>
          <a:prstGeom prst="rect">
            <a:avLst/>
          </a:prstGeom>
          <a:noFill/>
        </p:spPr>
        <p:txBody>
          <a:bodyPr wrap="square" anchor="t" lIns="45720" rIns="45720">
            <a:spAutoFit/>
          </a:bodyPr>
          <a:lstStyle/>
          <a:p>
            <a:pPr algn="ctr">
              <a:lnSpc>
                <a:spcPct val="110000"/>
              </a:lnSpc>
            </a:pPr>
            <a:r>
              <a:rPr sz="1300" b="1" i="0">
                <a:solidFill>
                  <a:srgbClr val="E6E9F2"/>
                </a:solidFill>
                <a:latin typeface="Segoe UI"/>
              </a:rPr>
              <a:t>cache-hit re-grade</a:t>
            </a:r>
          </a:p>
        </p:txBody>
      </p:sp>
      <p:sp>
        <p:nvSpPr>
          <p:cNvPr id="13" name="TextBox 12"/>
          <p:cNvSpPr txBox="1"/>
          <p:nvPr/>
        </p:nvSpPr>
        <p:spPr>
          <a:xfrm>
            <a:off x="3383280" y="2514600"/>
            <a:ext cx="2651760" cy="320040"/>
          </a:xfrm>
          <a:prstGeom prst="rect">
            <a:avLst/>
          </a:prstGeom>
          <a:noFill/>
        </p:spPr>
        <p:txBody>
          <a:bodyPr wrap="square" anchor="t" lIns="45720" rIns="45720">
            <a:spAutoFit/>
          </a:bodyPr>
          <a:lstStyle/>
          <a:p>
            <a:pPr algn="ctr">
              <a:lnSpc>
                <a:spcPct val="110000"/>
              </a:lnSpc>
            </a:pPr>
            <a:r>
              <a:rPr sz="1100" b="0" i="0">
                <a:solidFill>
                  <a:srgbClr val="9AA4BF"/>
                </a:solidFill>
                <a:latin typeface="Segoe UI"/>
              </a:rPr>
              <a:t>real, ls-remote bound</a:t>
            </a:r>
          </a:p>
        </p:txBody>
      </p:sp>
      <p:sp>
        <p:nvSpPr>
          <p:cNvPr id="14" name="Rounded Rectangle 13"/>
          <p:cNvSpPr/>
          <p:nvPr/>
        </p:nvSpPr>
        <p:spPr>
          <a:xfrm>
            <a:off x="6217920" y="1508760"/>
            <a:ext cx="2651760" cy="141732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17920" y="1554480"/>
            <a:ext cx="2651760" cy="685800"/>
          </a:xfrm>
          <a:prstGeom prst="rect">
            <a:avLst/>
          </a:prstGeom>
          <a:noFill/>
        </p:spPr>
        <p:txBody>
          <a:bodyPr wrap="square" anchor="t" lIns="45720" rIns="45720">
            <a:spAutoFit/>
          </a:bodyPr>
          <a:lstStyle/>
          <a:p>
            <a:pPr algn="ctr">
              <a:lnSpc>
                <a:spcPct val="110000"/>
              </a:lnSpc>
            </a:pPr>
            <a:r>
              <a:rPr sz="3400" b="1" i="0">
                <a:solidFill>
                  <a:srgbClr val="7C83FF"/>
                </a:solidFill>
                <a:latin typeface="Segoe UI"/>
              </a:rPr>
              <a:t>35 ms</a:t>
            </a:r>
          </a:p>
        </p:txBody>
      </p:sp>
      <p:sp>
        <p:nvSpPr>
          <p:cNvPr id="16" name="TextBox 15"/>
          <p:cNvSpPr txBox="1"/>
          <p:nvPr/>
        </p:nvSpPr>
        <p:spPr>
          <a:xfrm>
            <a:off x="6217920" y="2212848"/>
            <a:ext cx="2651760" cy="320040"/>
          </a:xfrm>
          <a:prstGeom prst="rect">
            <a:avLst/>
          </a:prstGeom>
          <a:noFill/>
        </p:spPr>
        <p:txBody>
          <a:bodyPr wrap="square" anchor="t" lIns="45720" rIns="45720">
            <a:spAutoFit/>
          </a:bodyPr>
          <a:lstStyle/>
          <a:p>
            <a:pPr algn="ctr">
              <a:lnSpc>
                <a:spcPct val="110000"/>
              </a:lnSpc>
            </a:pPr>
            <a:r>
              <a:rPr sz="1300" b="1" i="0">
                <a:solidFill>
                  <a:srgbClr val="E6E9F2"/>
                </a:solidFill>
                <a:latin typeface="Segoe UI"/>
              </a:rPr>
              <a:t>single-pass index</a:t>
            </a:r>
          </a:p>
        </p:txBody>
      </p:sp>
      <p:sp>
        <p:nvSpPr>
          <p:cNvPr id="17" name="TextBox 16"/>
          <p:cNvSpPr txBox="1"/>
          <p:nvPr/>
        </p:nvSpPr>
        <p:spPr>
          <a:xfrm>
            <a:off x="6217920" y="2514600"/>
            <a:ext cx="2651760" cy="320040"/>
          </a:xfrm>
          <a:prstGeom prst="rect">
            <a:avLst/>
          </a:prstGeom>
          <a:noFill/>
        </p:spPr>
        <p:txBody>
          <a:bodyPr wrap="square" anchor="t" lIns="45720" rIns="45720">
            <a:spAutoFit/>
          </a:bodyPr>
          <a:lstStyle/>
          <a:p>
            <a:pPr algn="ctr">
              <a:lnSpc>
                <a:spcPct val="110000"/>
              </a:lnSpc>
            </a:pPr>
            <a:r>
              <a:rPr sz="1100" b="0" i="0">
                <a:solidFill>
                  <a:srgbClr val="9AA4BF"/>
                </a:solidFill>
                <a:latin typeface="Segoe UI"/>
              </a:rPr>
              <a:t>real, 8 code files + infra</a:t>
            </a:r>
          </a:p>
        </p:txBody>
      </p:sp>
      <p:sp>
        <p:nvSpPr>
          <p:cNvPr id="18" name="Rounded Rectangle 17"/>
          <p:cNvSpPr/>
          <p:nvPr/>
        </p:nvSpPr>
        <p:spPr>
          <a:xfrm>
            <a:off x="9052560" y="1508760"/>
            <a:ext cx="2651760" cy="141732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052560" y="1554480"/>
            <a:ext cx="2651760" cy="685800"/>
          </a:xfrm>
          <a:prstGeom prst="rect">
            <a:avLst/>
          </a:prstGeom>
          <a:noFill/>
        </p:spPr>
        <p:txBody>
          <a:bodyPr wrap="square" anchor="t" lIns="45720" rIns="45720">
            <a:spAutoFit/>
          </a:bodyPr>
          <a:lstStyle/>
          <a:p>
            <a:pPr algn="ctr">
              <a:lnSpc>
                <a:spcPct val="110000"/>
              </a:lnSpc>
            </a:pPr>
            <a:r>
              <a:rPr sz="3400" b="1" i="0">
                <a:solidFill>
                  <a:srgbClr val="F59E0B"/>
                </a:solidFill>
                <a:latin typeface="Segoe UI"/>
              </a:rPr>
              <a:t>~1k</a:t>
            </a:r>
          </a:p>
        </p:txBody>
      </p:sp>
      <p:sp>
        <p:nvSpPr>
          <p:cNvPr id="20" name="TextBox 19"/>
          <p:cNvSpPr txBox="1"/>
          <p:nvPr/>
        </p:nvSpPr>
        <p:spPr>
          <a:xfrm>
            <a:off x="9052560" y="2212848"/>
            <a:ext cx="2651760" cy="320040"/>
          </a:xfrm>
          <a:prstGeom prst="rect">
            <a:avLst/>
          </a:prstGeom>
          <a:noFill/>
        </p:spPr>
        <p:txBody>
          <a:bodyPr wrap="square" anchor="t" lIns="45720" rIns="45720">
            <a:spAutoFit/>
          </a:bodyPr>
          <a:lstStyle/>
          <a:p>
            <a:pPr algn="ctr">
              <a:lnSpc>
                <a:spcPct val="110000"/>
              </a:lnSpc>
            </a:pPr>
            <a:r>
              <a:rPr sz="1300" b="1" i="0">
                <a:solidFill>
                  <a:srgbClr val="E6E9F2"/>
                </a:solidFill>
                <a:latin typeface="Segoe UI"/>
              </a:rPr>
              <a:t>judge input tokens</a:t>
            </a:r>
          </a:p>
        </p:txBody>
      </p:sp>
      <p:sp>
        <p:nvSpPr>
          <p:cNvPr id="21" name="TextBox 20"/>
          <p:cNvSpPr txBox="1"/>
          <p:nvPr/>
        </p:nvSpPr>
        <p:spPr>
          <a:xfrm>
            <a:off x="9052560" y="2514600"/>
            <a:ext cx="2651760" cy="320040"/>
          </a:xfrm>
          <a:prstGeom prst="rect">
            <a:avLst/>
          </a:prstGeom>
          <a:noFill/>
        </p:spPr>
        <p:txBody>
          <a:bodyPr wrap="square" anchor="t" lIns="45720" rIns="45720">
            <a:spAutoFit/>
          </a:bodyPr>
          <a:lstStyle/>
          <a:p>
            <a:pPr algn="ctr">
              <a:lnSpc>
                <a:spcPct val="110000"/>
              </a:lnSpc>
            </a:pPr>
            <a:r>
              <a:rPr sz="1100" b="0" i="0">
                <a:solidFill>
                  <a:srgbClr val="9AA4BF"/>
                </a:solidFill>
                <a:latin typeface="Segoe UI"/>
              </a:rPr>
              <a:t>vs 3.6–7.2k per agent</a:t>
            </a:r>
          </a:p>
        </p:txBody>
      </p:sp>
      <p:sp>
        <p:nvSpPr>
          <p:cNvPr id="22" name="TextBox 21"/>
          <p:cNvSpPr txBox="1"/>
          <p:nvPr/>
        </p:nvSpPr>
        <p:spPr>
          <a:xfrm>
            <a:off x="548640" y="3017520"/>
            <a:ext cx="1554480" cy="320040"/>
          </a:xfrm>
          <a:prstGeom prst="rect">
            <a:avLst/>
          </a:prstGeom>
          <a:noFill/>
        </p:spPr>
        <p:txBody>
          <a:bodyPr wrap="square" anchor="t" lIns="45720" rIns="45720">
            <a:spAutoFit/>
          </a:bodyPr>
          <a:lstStyle/>
          <a:p>
            <a:pPr algn="l">
              <a:lnSpc>
                <a:spcPct val="110000"/>
              </a:lnSpc>
            </a:pPr>
            <a:r>
              <a:rPr sz="1200" b="1" i="0">
                <a:solidFill>
                  <a:srgbClr val="9AA4BF"/>
                </a:solidFill>
                <a:latin typeface="Segoe UI"/>
              </a:rPr>
              <a:t>Waterfall</a:t>
            </a:r>
          </a:p>
        </p:txBody>
      </p:sp>
      <p:sp>
        <p:nvSpPr>
          <p:cNvPr id="23" name="TextBox 22"/>
          <p:cNvSpPr txBox="1"/>
          <p:nvPr/>
        </p:nvSpPr>
        <p:spPr>
          <a:xfrm>
            <a:off x="548640" y="3209544"/>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resolve</a:t>
            </a:r>
          </a:p>
        </p:txBody>
      </p:sp>
      <p:sp>
        <p:nvSpPr>
          <p:cNvPr id="24" name="Rectangle 23"/>
          <p:cNvSpPr/>
          <p:nvPr/>
        </p:nvSpPr>
        <p:spPr>
          <a:xfrm>
            <a:off x="2103120" y="3273551"/>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103120" y="3273551"/>
            <a:ext cx="270644" cy="173736"/>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19484" y="3209544"/>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858ms</a:t>
            </a:r>
          </a:p>
        </p:txBody>
      </p:sp>
      <p:sp>
        <p:nvSpPr>
          <p:cNvPr id="27" name="TextBox 26"/>
          <p:cNvSpPr txBox="1"/>
          <p:nvPr/>
        </p:nvSpPr>
        <p:spPr>
          <a:xfrm>
            <a:off x="548640" y="3456432"/>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clone</a:t>
            </a:r>
          </a:p>
        </p:txBody>
      </p:sp>
      <p:sp>
        <p:nvSpPr>
          <p:cNvPr id="28" name="Rectangle 27"/>
          <p:cNvSpPr/>
          <p:nvPr/>
        </p:nvSpPr>
        <p:spPr>
          <a:xfrm>
            <a:off x="2103120" y="3520439"/>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103120" y="3520439"/>
            <a:ext cx="434986" cy="173736"/>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583826" y="3456432"/>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1.4s</a:t>
            </a:r>
          </a:p>
        </p:txBody>
      </p:sp>
      <p:sp>
        <p:nvSpPr>
          <p:cNvPr id="31" name="TextBox 30"/>
          <p:cNvSpPr txBox="1"/>
          <p:nvPr/>
        </p:nvSpPr>
        <p:spPr>
          <a:xfrm>
            <a:off x="548640" y="3703320"/>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index</a:t>
            </a:r>
          </a:p>
        </p:txBody>
      </p:sp>
      <p:sp>
        <p:nvSpPr>
          <p:cNvPr id="32" name="Rectangle 31"/>
          <p:cNvSpPr/>
          <p:nvPr/>
        </p:nvSpPr>
        <p:spPr>
          <a:xfrm>
            <a:off x="2103120" y="3767328"/>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538737" y="3767328"/>
            <a:ext cx="27432" cy="173736"/>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595182" y="3703320"/>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34ms</a:t>
            </a:r>
          </a:p>
        </p:txBody>
      </p:sp>
      <p:sp>
        <p:nvSpPr>
          <p:cNvPr id="35" name="TextBox 34"/>
          <p:cNvSpPr txBox="1"/>
          <p:nvPr/>
        </p:nvSpPr>
        <p:spPr>
          <a:xfrm>
            <a:off x="548640" y="3950207"/>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docker</a:t>
            </a:r>
          </a:p>
        </p:txBody>
      </p:sp>
      <p:sp>
        <p:nvSpPr>
          <p:cNvPr id="36" name="Rectangle 35"/>
          <p:cNvSpPr/>
          <p:nvPr/>
        </p:nvSpPr>
        <p:spPr>
          <a:xfrm>
            <a:off x="2103120" y="4014215"/>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538737" y="4014215"/>
            <a:ext cx="27432" cy="173736"/>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88242" y="3950207"/>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12ms</a:t>
            </a:r>
          </a:p>
        </p:txBody>
      </p:sp>
      <p:sp>
        <p:nvSpPr>
          <p:cNvPr id="39" name="TextBox 38"/>
          <p:cNvSpPr txBox="1"/>
          <p:nvPr/>
        </p:nvSpPr>
        <p:spPr>
          <a:xfrm>
            <a:off x="548640" y="4197096"/>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code_quality</a:t>
            </a:r>
          </a:p>
        </p:txBody>
      </p:sp>
      <p:sp>
        <p:nvSpPr>
          <p:cNvPr id="40" name="Rectangle 39"/>
          <p:cNvSpPr/>
          <p:nvPr/>
        </p:nvSpPr>
        <p:spPr>
          <a:xfrm>
            <a:off x="2103120" y="4261104"/>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549462" y="4261104"/>
            <a:ext cx="3618685" cy="173736"/>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13867" y="4197096"/>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11.5s</a:t>
            </a:r>
          </a:p>
        </p:txBody>
      </p:sp>
      <p:sp>
        <p:nvSpPr>
          <p:cNvPr id="43" name="TextBox 42"/>
          <p:cNvSpPr txBox="1"/>
          <p:nvPr/>
        </p:nvSpPr>
        <p:spPr>
          <a:xfrm>
            <a:off x="548640" y="4443984"/>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architecture</a:t>
            </a:r>
          </a:p>
        </p:txBody>
      </p:sp>
      <p:sp>
        <p:nvSpPr>
          <p:cNvPr id="44" name="Rectangle 43"/>
          <p:cNvSpPr/>
          <p:nvPr/>
        </p:nvSpPr>
        <p:spPr>
          <a:xfrm>
            <a:off x="2103120" y="4507992"/>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549462" y="4507992"/>
            <a:ext cx="3838544" cy="173736"/>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33726" y="4443984"/>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12.2s</a:t>
            </a:r>
          </a:p>
        </p:txBody>
      </p:sp>
      <p:sp>
        <p:nvSpPr>
          <p:cNvPr id="47" name="TextBox 46"/>
          <p:cNvSpPr txBox="1"/>
          <p:nvPr/>
        </p:nvSpPr>
        <p:spPr>
          <a:xfrm>
            <a:off x="548640" y="4690872"/>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security</a:t>
            </a:r>
          </a:p>
        </p:txBody>
      </p:sp>
      <p:sp>
        <p:nvSpPr>
          <p:cNvPr id="48" name="Rectangle 47"/>
          <p:cNvSpPr/>
          <p:nvPr/>
        </p:nvSpPr>
        <p:spPr>
          <a:xfrm>
            <a:off x="2103120" y="4754880"/>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549777" y="4754880"/>
            <a:ext cx="4290879" cy="173736"/>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886377" y="4690872"/>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13.6s</a:t>
            </a:r>
          </a:p>
        </p:txBody>
      </p:sp>
      <p:sp>
        <p:nvSpPr>
          <p:cNvPr id="51" name="TextBox 50"/>
          <p:cNvSpPr txBox="1"/>
          <p:nvPr/>
        </p:nvSpPr>
        <p:spPr>
          <a:xfrm>
            <a:off x="548640" y="4937759"/>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testing</a:t>
            </a:r>
          </a:p>
        </p:txBody>
      </p:sp>
      <p:sp>
        <p:nvSpPr>
          <p:cNvPr id="52" name="Rectangle 51"/>
          <p:cNvSpPr/>
          <p:nvPr/>
        </p:nvSpPr>
        <p:spPr>
          <a:xfrm>
            <a:off x="2103120" y="5001768"/>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550408" y="5001768"/>
            <a:ext cx="3968503" cy="173736"/>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564632" y="4937759"/>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12.6s</a:t>
            </a:r>
          </a:p>
        </p:txBody>
      </p:sp>
      <p:sp>
        <p:nvSpPr>
          <p:cNvPr id="55" name="TextBox 54"/>
          <p:cNvSpPr txBox="1"/>
          <p:nvPr/>
        </p:nvSpPr>
        <p:spPr>
          <a:xfrm>
            <a:off x="548640" y="5184648"/>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devops</a:t>
            </a:r>
          </a:p>
        </p:txBody>
      </p:sp>
      <p:sp>
        <p:nvSpPr>
          <p:cNvPr id="56" name="Rectangle 55"/>
          <p:cNvSpPr/>
          <p:nvPr/>
        </p:nvSpPr>
        <p:spPr>
          <a:xfrm>
            <a:off x="2103120" y="5248656"/>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550408" y="5248656"/>
            <a:ext cx="3425007" cy="173736"/>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021135" y="5184648"/>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10.9s</a:t>
            </a:r>
          </a:p>
        </p:txBody>
      </p:sp>
      <p:sp>
        <p:nvSpPr>
          <p:cNvPr id="59" name="TextBox 58"/>
          <p:cNvSpPr txBox="1"/>
          <p:nvPr/>
        </p:nvSpPr>
        <p:spPr>
          <a:xfrm>
            <a:off x="548640" y="5431536"/>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judge</a:t>
            </a:r>
          </a:p>
        </p:txBody>
      </p:sp>
      <p:sp>
        <p:nvSpPr>
          <p:cNvPr id="60" name="Rectangle 59"/>
          <p:cNvSpPr/>
          <p:nvPr/>
        </p:nvSpPr>
        <p:spPr>
          <a:xfrm>
            <a:off x="2103120" y="5495544"/>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840657" y="5495544"/>
            <a:ext cx="3948631" cy="173736"/>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835009" y="5431536"/>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12.5s</a:t>
            </a:r>
          </a:p>
        </p:txBody>
      </p:sp>
      <p:sp>
        <p:nvSpPr>
          <p:cNvPr id="63" name="TextBox 62"/>
          <p:cNvSpPr txBox="1"/>
          <p:nvPr/>
        </p:nvSpPr>
        <p:spPr>
          <a:xfrm>
            <a:off x="548640" y="5678424"/>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report</a:t>
            </a:r>
          </a:p>
        </p:txBody>
      </p:sp>
      <p:sp>
        <p:nvSpPr>
          <p:cNvPr id="64" name="Rectangle 63"/>
          <p:cNvSpPr/>
          <p:nvPr/>
        </p:nvSpPr>
        <p:spPr>
          <a:xfrm>
            <a:off x="2103120" y="5742432"/>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789604" y="5742432"/>
            <a:ext cx="27432" cy="173736"/>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835640" y="5678424"/>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1ms</a:t>
            </a:r>
          </a:p>
        </p:txBody>
      </p:sp>
      <p:sp>
        <p:nvSpPr>
          <p:cNvPr id="67" name="TextBox 66"/>
          <p:cNvSpPr txBox="1"/>
          <p:nvPr/>
        </p:nvSpPr>
        <p:spPr>
          <a:xfrm>
            <a:off x="548640" y="6053328"/>
            <a:ext cx="11247120" cy="457200"/>
          </a:xfrm>
          <a:prstGeom prst="rect">
            <a:avLst/>
          </a:prstGeom>
          <a:noFill/>
        </p:spPr>
        <p:txBody>
          <a:bodyPr wrap="square" anchor="t" lIns="45720" rIns="45720">
            <a:spAutoFit/>
          </a:bodyPr>
          <a:lstStyle/>
          <a:p>
            <a:pPr algn="l">
              <a:lnSpc>
                <a:spcPct val="110000"/>
              </a:lnSpc>
            </a:pPr>
            <a:r>
              <a:rPr sz="1050" b="0" i="0">
                <a:solidFill>
                  <a:srgbClr val="9AA4BF"/>
                </a:solidFill>
                <a:latin typeface="Segoe UI"/>
              </a:rPr>
              <a:t>* Clone, index, lint, evidence building and judge clamping are real. LLM latency is simulated (TTFT 0.8 s + 20k tok/s prefill + 70 tok/s decode) to isolate the architecture's effect. Red = measured critical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OUTPUT</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The report: explainable and teaching-oriented</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10/14</a:t>
            </a:r>
          </a:p>
        </p:txBody>
      </p:sp>
      <p:sp>
        <p:nvSpPr>
          <p:cNvPr id="6" name="Rounded Rectangle 5"/>
          <p:cNvSpPr/>
          <p:nvPr/>
        </p:nvSpPr>
        <p:spPr>
          <a:xfrm>
            <a:off x="548640" y="1508760"/>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Score &amp; grade</a:t>
            </a:r>
          </a:p>
          <a:p>
            <a:pPr algn="l"/>
            <a:r>
              <a:rPr sz="1100" b="0" i="0">
                <a:solidFill>
                  <a:srgbClr val="9AA4BF"/>
                </a:solidFill>
                <a:latin typeface="Segoe UI"/>
              </a:rPr>
              <a:t>weighted /100, letter grade, judge confidence</a:t>
            </a:r>
          </a:p>
        </p:txBody>
      </p:sp>
      <p:sp>
        <p:nvSpPr>
          <p:cNvPr id="7" name="Rounded Rectangle 6"/>
          <p:cNvSpPr/>
          <p:nvPr/>
        </p:nvSpPr>
        <p:spPr>
          <a:xfrm>
            <a:off x="3611880" y="1508760"/>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Dimension table</a:t>
            </a:r>
          </a:p>
          <a:p>
            <a:pPr algn="l"/>
            <a:r>
              <a:rPr sz="1100" b="0" i="0">
                <a:solidFill>
                  <a:srgbClr val="9AA4BF"/>
                </a:solidFill>
                <a:latin typeface="Segoe UI"/>
              </a:rPr>
              <a:t>specialist score → judge score + rationale</a:t>
            </a:r>
          </a:p>
        </p:txBody>
      </p:sp>
      <p:sp>
        <p:nvSpPr>
          <p:cNvPr id="8" name="Rounded Rectangle 7"/>
          <p:cNvSpPr/>
          <p:nvPr/>
        </p:nvSpPr>
        <p:spPr>
          <a:xfrm>
            <a:off x="548640" y="2606039"/>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Top priorities</a:t>
            </a:r>
          </a:p>
          <a:p>
            <a:pPr algn="l"/>
            <a:r>
              <a:rPr sz="1100" b="0" i="0">
                <a:solidFill>
                  <a:srgbClr val="9AA4BF"/>
                </a:solidFill>
                <a:latin typeface="Segoe UI"/>
              </a:rPr>
              <a:t>highest-impact fixes, ordered</a:t>
            </a:r>
          </a:p>
        </p:txBody>
      </p:sp>
      <p:sp>
        <p:nvSpPr>
          <p:cNvPr id="9" name="Rounded Rectangle 8"/>
          <p:cNvSpPr/>
          <p:nvPr/>
        </p:nvSpPr>
        <p:spPr>
          <a:xfrm>
            <a:off x="3611880" y="2606039"/>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Learning path</a:t>
            </a:r>
          </a:p>
          <a:p>
            <a:pPr algn="l"/>
            <a:r>
              <a:rPr sz="1100" b="0" i="0">
                <a:solidFill>
                  <a:srgbClr val="9AA4BF"/>
                </a:solidFill>
                <a:latin typeface="Segoe UI"/>
              </a:rPr>
              <a:t>what to learn next: DBs, LB, CI, security</a:t>
            </a:r>
          </a:p>
        </p:txBody>
      </p:sp>
      <p:sp>
        <p:nvSpPr>
          <p:cNvPr id="10" name="Rounded Rectangle 9"/>
          <p:cNvSpPr/>
          <p:nvPr/>
        </p:nvSpPr>
        <p:spPr>
          <a:xfrm>
            <a:off x="548640" y="3703320"/>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Agent findings</a:t>
            </a:r>
          </a:p>
          <a:p>
            <a:pPr algn="l"/>
            <a:r>
              <a:rPr sz="1100" b="0" i="0">
                <a:solidFill>
                  <a:srgbClr val="9AA4BF"/>
                </a:solidFill>
                <a:latin typeface="Segoe UI"/>
              </a:rPr>
              <a:t>severity · file path · concrete fix</a:t>
            </a:r>
          </a:p>
        </p:txBody>
      </p:sp>
      <p:sp>
        <p:nvSpPr>
          <p:cNvPr id="11" name="Rounded Rectangle 10"/>
          <p:cNvSpPr/>
          <p:nvPr/>
        </p:nvSpPr>
        <p:spPr>
          <a:xfrm>
            <a:off x="3611880" y="3703320"/>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Docker sandbox</a:t>
            </a:r>
          </a:p>
          <a:p>
            <a:pPr algn="l"/>
            <a:r>
              <a:rPr sz="1100" b="0" i="0">
                <a:solidFill>
                  <a:srgbClr val="9AA4BF"/>
                </a:solidFill>
                <a:latin typeface="Segoe UI"/>
              </a:rPr>
              <a:t>lint, build time, image size, run logs</a:t>
            </a:r>
          </a:p>
        </p:txBody>
      </p:sp>
      <p:sp>
        <p:nvSpPr>
          <p:cNvPr id="12" name="Rounded Rectangle 11"/>
          <p:cNvSpPr/>
          <p:nvPr/>
        </p:nvSpPr>
        <p:spPr>
          <a:xfrm>
            <a:off x="548640" y="4800600"/>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Grouped fixes</a:t>
            </a:r>
          </a:p>
          <a:p>
            <a:pPr algn="l"/>
            <a:r>
              <a:rPr sz="1100" b="0" i="0">
                <a:solidFill>
                  <a:srgbClr val="9AA4BF"/>
                </a:solidFill>
                <a:latin typeface="Segoe UI"/>
              </a:rPr>
              <a:t>one issue in 5 files = one item, with every file listed</a:t>
            </a:r>
          </a:p>
        </p:txBody>
      </p:sp>
      <p:sp>
        <p:nvSpPr>
          <p:cNvPr id="13" name="Rounded Rectangle 12"/>
          <p:cNvSpPr/>
          <p:nvPr/>
        </p:nvSpPr>
        <p:spPr>
          <a:xfrm>
            <a:off x="3611880" y="4800600"/>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Formats</a:t>
            </a:r>
          </a:p>
          <a:p>
            <a:pPr algn="l"/>
            <a:r>
              <a:rPr sz="1100" b="0" i="0">
                <a:solidFill>
                  <a:srgbClr val="9AA4BF"/>
                </a:solidFill>
                <a:latin typeface="Segoe UI"/>
              </a:rPr>
              <a:t>in-app feedback page · printable HTML · Markdown · JSON</a:t>
            </a:r>
          </a:p>
        </p:txBody>
      </p:sp>
      <p:sp>
        <p:nvSpPr>
          <p:cNvPr id="14" name="Rounded Rectangle 13"/>
          <p:cNvSpPr/>
          <p:nvPr/>
        </p:nvSpPr>
        <p:spPr>
          <a:xfrm>
            <a:off x="6858000" y="1508760"/>
            <a:ext cx="4800600" cy="4251960"/>
          </a:xfrm>
          <a:prstGeom prst="roundRect">
            <a:avLst>
              <a:gd name="adj" fmla="val 5000"/>
            </a:avLst>
          </a:prstGeom>
          <a:solidFill>
            <a:srgbClr val="182244"/>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040880" y="1600200"/>
            <a:ext cx="4480560" cy="365760"/>
          </a:xfrm>
          <a:prstGeom prst="rect">
            <a:avLst/>
          </a:prstGeom>
          <a:noFill/>
        </p:spPr>
        <p:txBody>
          <a:bodyPr wrap="square" anchor="t" lIns="45720" rIns="45720">
            <a:spAutoFit/>
          </a:bodyPr>
          <a:lstStyle/>
          <a:p>
            <a:pPr algn="l">
              <a:lnSpc>
                <a:spcPct val="110000"/>
              </a:lnSpc>
            </a:pPr>
            <a:r>
              <a:rPr sz="1500" b="1" i="0">
                <a:solidFill>
                  <a:srgbClr val="22D3EE"/>
                </a:solidFill>
                <a:latin typeface="Segoe UI"/>
              </a:rPr>
              <a:t>Real findings on example-voting-app</a:t>
            </a:r>
          </a:p>
        </p:txBody>
      </p:sp>
      <p:sp>
        <p:nvSpPr>
          <p:cNvPr id="16" name="TextBox 15"/>
          <p:cNvSpPr txBox="1"/>
          <p:nvPr/>
        </p:nvSpPr>
        <p:spPr>
          <a:xfrm>
            <a:off x="7040880" y="2057400"/>
            <a:ext cx="4480560" cy="3657600"/>
          </a:xfrm>
          <a:prstGeom prst="rect">
            <a:avLst/>
          </a:prstGeom>
          <a:noFill/>
        </p:spPr>
        <p:txBody>
          <a:bodyPr wrap="square">
            <a:spAutoFit/>
          </a:bodyPr>
          <a:lstStyle/>
          <a:p>
            <a:pPr>
              <a:spcAft>
                <a:spcPts val="500"/>
              </a:spcAft>
            </a:pPr>
            <a:r>
              <a:rPr sz="1300" b="1" i="0">
                <a:solidFill>
                  <a:srgbClr val="22D3EE"/>
                </a:solidFill>
                <a:latin typeface="Segoe UI"/>
              </a:rPr>
              <a:t>•  </a:t>
            </a:r>
            <a:r>
              <a:rPr sz="1300" b="1" i="0">
                <a:solidFill>
                  <a:srgbClr val="E6E9F2"/>
                </a:solidFill>
                <a:latin typeface="Segoe UI"/>
              </a:rPr>
              <a:t>Hard-coded DB credential</a:t>
            </a:r>
            <a:r>
              <a:rPr sz="1300" b="0" i="0">
                <a:solidFill>
                  <a:srgbClr val="9AA4BF"/>
                </a:solidFill>
                <a:latin typeface="Segoe UI"/>
              </a:rPr>
              <a:t> — result/server.js:21, value redacted in report</a:t>
            </a:r>
          </a:p>
          <a:p>
            <a:pPr>
              <a:spcAft>
                <a:spcPts val="500"/>
              </a:spcAft>
            </a:pPr>
            <a:r>
              <a:rPr sz="1300" b="1" i="0">
                <a:solidFill>
                  <a:srgbClr val="22D3EE"/>
                </a:solidFill>
                <a:latin typeface="Segoe UI"/>
              </a:rPr>
              <a:t>•  </a:t>
            </a:r>
            <a:r>
              <a:rPr sz="1300" b="1" i="0">
                <a:solidFill>
                  <a:srgbClr val="E6E9F2"/>
                </a:solidFill>
                <a:latin typeface="Segoe UI"/>
              </a:rPr>
              <a:t>Containers run as root</a:t>
            </a:r>
            <a:r>
              <a:rPr sz="1300" b="0" i="0">
                <a:solidFill>
                  <a:srgbClr val="9AA4BF"/>
                </a:solidFill>
                <a:latin typeface="Segoe UI"/>
              </a:rPr>
              <a:t> — all 5 Dockerfiles in the repo</a:t>
            </a:r>
          </a:p>
          <a:p>
            <a:pPr>
              <a:spcAft>
                <a:spcPts val="500"/>
              </a:spcAft>
            </a:pPr>
            <a:r>
              <a:rPr sz="1300" b="1" i="0">
                <a:solidFill>
                  <a:srgbClr val="22D3EE"/>
                </a:solidFill>
                <a:latin typeface="Segoe UI"/>
              </a:rPr>
              <a:t>•  </a:t>
            </a:r>
            <a:r>
              <a:rPr sz="1300" b="1" i="0">
                <a:solidFill>
                  <a:srgbClr val="E6E9F2"/>
                </a:solidFill>
                <a:latin typeface="Segoe UI"/>
              </a:rPr>
              <a:t>No .dockerignore</a:t>
            </a:r>
            <a:r>
              <a:rPr sz="1300" b="0" i="0">
                <a:solidFill>
                  <a:srgbClr val="9AA4BF"/>
                </a:solidFill>
                <a:latin typeface="Segoe UI"/>
              </a:rPr>
              <a:t> — slower builds, risk of leaking .env</a:t>
            </a:r>
          </a:p>
          <a:p>
            <a:pPr>
              <a:spcAft>
                <a:spcPts val="500"/>
              </a:spcAft>
            </a:pPr>
            <a:r>
              <a:rPr sz="1300" b="1" i="0">
                <a:solidFill>
                  <a:srgbClr val="22D3EE"/>
                </a:solidFill>
                <a:latin typeface="Segoe UI"/>
              </a:rPr>
              <a:t>•  </a:t>
            </a:r>
            <a:r>
              <a:rPr sz="1300" b="1" i="0">
                <a:solidFill>
                  <a:srgbClr val="E6E9F2"/>
                </a:solidFill>
                <a:latin typeface="Segoe UI"/>
              </a:rPr>
              <a:t>Flask debug=True</a:t>
            </a:r>
            <a:r>
              <a:rPr sz="1300" b="0" i="0">
                <a:solidFill>
                  <a:srgbClr val="9AA4BF"/>
                </a:solidFill>
                <a:latin typeface="Segoe UI"/>
              </a:rPr>
              <a:t> — vote/app.py:51</a:t>
            </a:r>
          </a:p>
          <a:p>
            <a:pPr>
              <a:spcAft>
                <a:spcPts val="500"/>
              </a:spcAft>
            </a:pPr>
            <a:r>
              <a:rPr sz="1300" b="1" i="0">
                <a:solidFill>
                  <a:srgbClr val="22D3EE"/>
                </a:solidFill>
                <a:latin typeface="Segoe UI"/>
              </a:rPr>
              <a:t>•  </a:t>
            </a:r>
            <a:r>
              <a:rPr sz="1300" b="1" i="0">
                <a:solidFill>
                  <a:srgbClr val="E6E9F2"/>
                </a:solidFill>
                <a:latin typeface="Segoe UI"/>
              </a:rPr>
              <a:t>Thin test suite</a:t>
            </a:r>
            <a:r>
              <a:rPr sz="1300" b="0" i="0">
                <a:solidFill>
                  <a:srgbClr val="9AA4BF"/>
                </a:solidFill>
                <a:latin typeface="Segoe UI"/>
              </a:rPr>
              <a:t> — test/source ratio 0.09</a:t>
            </a:r>
          </a:p>
          <a:p>
            <a:pPr>
              <a:spcAft>
                <a:spcPts val="500"/>
              </a:spcAft>
            </a:pPr>
            <a:r>
              <a:rPr sz="1300" b="1" i="0">
                <a:solidFill>
                  <a:srgbClr val="22D3EE"/>
                </a:solidFill>
                <a:latin typeface="Segoe UI"/>
              </a:rPr>
              <a:t>•  </a:t>
            </a:r>
            <a:r>
              <a:rPr sz="1300" b="1" i="0">
                <a:solidFill>
                  <a:srgbClr val="E6E9F2"/>
                </a:solidFill>
                <a:latin typeface="Segoe UI"/>
              </a:rPr>
              <a:t>Learning path</a:t>
            </a:r>
            <a:r>
              <a:rPr sz="1300" b="0" i="0">
                <a:solidFill>
                  <a:srgbClr val="9AA4BF"/>
                </a:solidFill>
                <a:latin typeface="Segoe UI"/>
              </a:rPr>
              <a:t> — layered backend, OWASP basics, Nginx load balancing</a:t>
            </a:r>
          </a:p>
        </p:txBody>
      </p:sp>
      <p:sp>
        <p:nvSpPr>
          <p:cNvPr id="17" name="TextBox 16"/>
          <p:cNvSpPr txBox="1"/>
          <p:nvPr/>
        </p:nvSpPr>
        <p:spPr>
          <a:xfrm>
            <a:off x="548640" y="5989320"/>
            <a:ext cx="11247120" cy="365760"/>
          </a:xfrm>
          <a:prstGeom prst="rect">
            <a:avLst/>
          </a:prstGeom>
          <a:noFill/>
        </p:spPr>
        <p:txBody>
          <a:bodyPr wrap="square" anchor="t" lIns="45720" rIns="45720">
            <a:spAutoFit/>
          </a:bodyPr>
          <a:lstStyle/>
          <a:p>
            <a:pPr algn="l">
              <a:lnSpc>
                <a:spcPct val="110000"/>
              </a:lnSpc>
            </a:pPr>
            <a:r>
              <a:rPr sz="1200" b="0" i="0">
                <a:solidFill>
                  <a:srgbClr val="9AA4BF"/>
                </a:solidFill>
                <a:latin typeface="Segoe UI"/>
              </a:rPr>
              <a:t>Students see plain-language feedback only. Engine latency and metrics live on the instructor's Platform health page.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GRADING UNTRUSTED CODE SAFELY</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Security &amp; reliability</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11/14</a:t>
            </a:r>
          </a:p>
        </p:txBody>
      </p:sp>
      <p:sp>
        <p:nvSpPr>
          <p:cNvPr id="6" name="Rounded Rectangle 5"/>
          <p:cNvSpPr/>
          <p:nvPr/>
        </p:nvSpPr>
        <p:spPr>
          <a:xfrm>
            <a:off x="548640" y="1508760"/>
            <a:ext cx="5440680" cy="438912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1600200"/>
            <a:ext cx="5029200" cy="411480"/>
          </a:xfrm>
          <a:prstGeom prst="rect">
            <a:avLst/>
          </a:prstGeom>
          <a:noFill/>
        </p:spPr>
        <p:txBody>
          <a:bodyPr wrap="square" anchor="t" lIns="45720" rIns="45720">
            <a:spAutoFit/>
          </a:bodyPr>
          <a:lstStyle/>
          <a:p>
            <a:pPr algn="l">
              <a:lnSpc>
                <a:spcPct val="110000"/>
              </a:lnSpc>
            </a:pPr>
            <a:r>
              <a:rPr sz="1900" b="1" i="0">
                <a:solidFill>
                  <a:srgbClr val="F43F5E"/>
                </a:solidFill>
                <a:latin typeface="Segoe UI"/>
              </a:rPr>
              <a:t>Security</a:t>
            </a:r>
          </a:p>
        </p:txBody>
      </p:sp>
      <p:sp>
        <p:nvSpPr>
          <p:cNvPr id="8" name="TextBox 7"/>
          <p:cNvSpPr txBox="1"/>
          <p:nvPr/>
        </p:nvSpPr>
        <p:spPr>
          <a:xfrm>
            <a:off x="777240" y="2103120"/>
            <a:ext cx="5029200" cy="3749039"/>
          </a:xfrm>
          <a:prstGeom prst="rect">
            <a:avLst/>
          </a:prstGeom>
          <a:noFill/>
        </p:spPr>
        <p:txBody>
          <a:bodyPr wrap="square">
            <a:spAutoFit/>
          </a:bodyPr>
          <a:lstStyle/>
          <a:p>
            <a:pPr>
              <a:spcAft>
                <a:spcPts val="600"/>
              </a:spcAft>
            </a:pPr>
            <a:r>
              <a:rPr sz="1350" b="1" i="0">
                <a:solidFill>
                  <a:srgbClr val="F43F5E"/>
                </a:solidFill>
                <a:latin typeface="Segoe UI"/>
              </a:rPr>
              <a:t>•  </a:t>
            </a:r>
            <a:r>
              <a:rPr sz="1350" b="1" i="0">
                <a:solidFill>
                  <a:srgbClr val="E6E9F2"/>
                </a:solidFill>
                <a:latin typeface="Segoe UI"/>
              </a:rPr>
              <a:t>URL allow-list</a:t>
            </a:r>
            <a:r>
              <a:rPr sz="1350" b="0" i="0">
                <a:solidFill>
                  <a:srgbClr val="9AA4BF"/>
                </a:solidFill>
                <a:latin typeface="Segoe UI"/>
              </a:rPr>
              <a:t> — https://github.com/owner/repo only; blocks file://, ext::, SSRF</a:t>
            </a:r>
          </a:p>
          <a:p>
            <a:pPr>
              <a:spcAft>
                <a:spcPts val="600"/>
              </a:spcAft>
            </a:pPr>
            <a:r>
              <a:rPr sz="1350" b="1" i="0">
                <a:solidFill>
                  <a:srgbClr val="F43F5E"/>
                </a:solidFill>
                <a:latin typeface="Segoe UI"/>
              </a:rPr>
              <a:t>•  </a:t>
            </a:r>
            <a:r>
              <a:rPr sz="1350" b="1" i="0">
                <a:solidFill>
                  <a:srgbClr val="E6E9F2"/>
                </a:solidFill>
                <a:latin typeface="Segoe UI"/>
              </a:rPr>
              <a:t>No shell, ever</a:t>
            </a:r>
            <a:r>
              <a:rPr sz="1350" b="0" i="0">
                <a:solidFill>
                  <a:srgbClr val="9AA4BF"/>
                </a:solidFill>
                <a:latin typeface="Segoe UI"/>
              </a:rPr>
              <a:t> — argument lists; refs can't start with '-'</a:t>
            </a:r>
          </a:p>
          <a:p>
            <a:pPr>
              <a:spcAft>
                <a:spcPts val="600"/>
              </a:spcAft>
            </a:pPr>
            <a:r>
              <a:rPr sz="1350" b="1" i="0">
                <a:solidFill>
                  <a:srgbClr val="F43F5E"/>
                </a:solidFill>
                <a:latin typeface="Segoe UI"/>
              </a:rPr>
              <a:t>•  </a:t>
            </a:r>
            <a:r>
              <a:rPr sz="1350" b="1" i="0">
                <a:solidFill>
                  <a:srgbClr val="E6E9F2"/>
                </a:solidFill>
                <a:latin typeface="Segoe UI"/>
              </a:rPr>
              <a:t>Secret redaction</a:t>
            </a:r>
            <a:r>
              <a:rPr sz="1350" b="0" i="0">
                <a:solidFill>
                  <a:srgbClr val="9AA4BF"/>
                </a:solidFill>
                <a:latin typeface="Segoe UI"/>
              </a:rPr>
              <a:t> — 9 scanners; redacted before prompts and reports</a:t>
            </a:r>
          </a:p>
          <a:p>
            <a:pPr>
              <a:spcAft>
                <a:spcPts val="600"/>
              </a:spcAft>
            </a:pPr>
            <a:r>
              <a:rPr sz="1350" b="1" i="0">
                <a:solidFill>
                  <a:srgbClr val="F43F5E"/>
                </a:solidFill>
                <a:latin typeface="Segoe UI"/>
              </a:rPr>
              <a:t>•  </a:t>
            </a:r>
            <a:r>
              <a:rPr sz="1350" b="1" i="0">
                <a:solidFill>
                  <a:srgbClr val="E6E9F2"/>
                </a:solidFill>
                <a:latin typeface="Segoe UI"/>
              </a:rPr>
              <a:t>Locked-down run</a:t>
            </a:r>
            <a:r>
              <a:rPr sz="1350" b="0" i="0">
                <a:solidFill>
                  <a:srgbClr val="9AA4BF"/>
                </a:solidFill>
                <a:latin typeface="Segoe UI"/>
              </a:rPr>
              <a:t> — --network none, 512 MB, 1 CPU, 256 PIDs, cap-drop ALL</a:t>
            </a:r>
          </a:p>
          <a:p>
            <a:pPr>
              <a:spcAft>
                <a:spcPts val="600"/>
              </a:spcAft>
            </a:pPr>
            <a:r>
              <a:rPr sz="1350" b="1" i="0">
                <a:solidFill>
                  <a:srgbClr val="F43F5E"/>
                </a:solidFill>
                <a:latin typeface="Segoe UI"/>
              </a:rPr>
              <a:t>•  </a:t>
            </a:r>
            <a:r>
              <a:rPr sz="1350" b="1" i="0">
                <a:solidFill>
                  <a:srgbClr val="E6E9F2"/>
                </a:solidFill>
                <a:latin typeface="Segoe UI"/>
              </a:rPr>
              <a:t>Edge protection</a:t>
            </a:r>
            <a:r>
              <a:rPr sz="1350" b="0" i="0">
                <a:solidFill>
                  <a:srgbClr val="9AA4BF"/>
                </a:solidFill>
                <a:latin typeface="Segoe UI"/>
              </a:rPr>
              <a:t> — Nginx rate limits, scrypt passwords, HttpOnly sessions, CSRF checks, strict CSP</a:t>
            </a:r>
          </a:p>
          <a:p>
            <a:pPr>
              <a:spcAft>
                <a:spcPts val="600"/>
              </a:spcAft>
            </a:pPr>
            <a:r>
              <a:rPr sz="1350" b="1" i="0">
                <a:solidFill>
                  <a:srgbClr val="F43F5E"/>
                </a:solidFill>
                <a:latin typeface="Segoe UI"/>
              </a:rPr>
              <a:t>•  </a:t>
            </a:r>
            <a:r>
              <a:rPr sz="1350" b="1" i="0">
                <a:solidFill>
                  <a:srgbClr val="E6E9F2"/>
                </a:solidFill>
                <a:latin typeface="Segoe UI"/>
              </a:rPr>
              <a:t>Opt-in build sandbox</a:t>
            </a:r>
            <a:r>
              <a:rPr sz="1350" b="0" i="0">
                <a:solidFill>
                  <a:srgbClr val="9AA4BF"/>
                </a:solidFill>
                <a:latin typeface="Segoe UI"/>
              </a:rPr>
              <a:t> — docker build runs untrusted RUN steps → isolated VM</a:t>
            </a:r>
          </a:p>
        </p:txBody>
      </p:sp>
      <p:sp>
        <p:nvSpPr>
          <p:cNvPr id="9" name="Rounded Rectangle 8"/>
          <p:cNvSpPr/>
          <p:nvPr/>
        </p:nvSpPr>
        <p:spPr>
          <a:xfrm>
            <a:off x="6217920" y="1508760"/>
            <a:ext cx="5440680" cy="438912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46520" y="1600200"/>
            <a:ext cx="5029200" cy="411480"/>
          </a:xfrm>
          <a:prstGeom prst="rect">
            <a:avLst/>
          </a:prstGeom>
          <a:noFill/>
        </p:spPr>
        <p:txBody>
          <a:bodyPr wrap="square" anchor="t" lIns="45720" rIns="45720">
            <a:spAutoFit/>
          </a:bodyPr>
          <a:lstStyle/>
          <a:p>
            <a:pPr algn="l">
              <a:lnSpc>
                <a:spcPct val="110000"/>
              </a:lnSpc>
            </a:pPr>
            <a:r>
              <a:rPr sz="1900" b="1" i="0">
                <a:solidFill>
                  <a:srgbClr val="22C55E"/>
                </a:solidFill>
                <a:latin typeface="Segoe UI"/>
              </a:rPr>
              <a:t>Reliability</a:t>
            </a:r>
          </a:p>
        </p:txBody>
      </p:sp>
      <p:sp>
        <p:nvSpPr>
          <p:cNvPr id="11" name="TextBox 10"/>
          <p:cNvSpPr txBox="1"/>
          <p:nvPr/>
        </p:nvSpPr>
        <p:spPr>
          <a:xfrm>
            <a:off x="6446520" y="2103120"/>
            <a:ext cx="5029200" cy="3749039"/>
          </a:xfrm>
          <a:prstGeom prst="rect">
            <a:avLst/>
          </a:prstGeom>
          <a:noFill/>
        </p:spPr>
        <p:txBody>
          <a:bodyPr wrap="square">
            <a:spAutoFit/>
          </a:bodyPr>
          <a:lstStyle/>
          <a:p>
            <a:pPr>
              <a:spcAft>
                <a:spcPts val="600"/>
              </a:spcAft>
            </a:pPr>
            <a:r>
              <a:rPr sz="1350" b="1" i="0">
                <a:solidFill>
                  <a:srgbClr val="22C55E"/>
                </a:solidFill>
                <a:latin typeface="Segoe UI"/>
              </a:rPr>
              <a:t>•  </a:t>
            </a:r>
            <a:r>
              <a:rPr sz="1350" b="1" i="0">
                <a:solidFill>
                  <a:srgbClr val="E6E9F2"/>
                </a:solidFill>
                <a:latin typeface="Segoe UI"/>
              </a:rPr>
              <a:t>Deadlines everywhere</a:t>
            </a:r>
            <a:r>
              <a:rPr sz="1350" b="0" i="0">
                <a:solidFill>
                  <a:srgbClr val="9AA4BF"/>
                </a:solidFill>
                <a:latin typeface="Segoe UI"/>
              </a:rPr>
              <a:t> — git, docker, every LLM call, judge</a:t>
            </a:r>
          </a:p>
          <a:p>
            <a:pPr>
              <a:spcAft>
                <a:spcPts val="600"/>
              </a:spcAft>
            </a:pPr>
            <a:r>
              <a:rPr sz="1350" b="1" i="0">
                <a:solidFill>
                  <a:srgbClr val="22C55E"/>
                </a:solidFill>
                <a:latin typeface="Segoe UI"/>
              </a:rPr>
              <a:t>•  </a:t>
            </a:r>
            <a:r>
              <a:rPr sz="1350" b="1" i="0">
                <a:solidFill>
                  <a:srgbClr val="E6E9F2"/>
                </a:solidFill>
                <a:latin typeface="Segoe UI"/>
              </a:rPr>
              <a:t>Graceful degradation</a:t>
            </a:r>
            <a:r>
              <a:rPr sz="1350" b="0" i="0">
                <a:solidFill>
                  <a:srgbClr val="9AA4BF"/>
                </a:solidFill>
                <a:latin typeface="Segoe UI"/>
              </a:rPr>
              <a:t> — an agent failure → heuristic score, job still completes</a:t>
            </a:r>
          </a:p>
          <a:p>
            <a:pPr>
              <a:spcAft>
                <a:spcPts val="600"/>
              </a:spcAft>
            </a:pPr>
            <a:r>
              <a:rPr sz="1350" b="1" i="0">
                <a:solidFill>
                  <a:srgbClr val="22C55E"/>
                </a:solidFill>
                <a:latin typeface="Segoe UI"/>
              </a:rPr>
              <a:t>•  </a:t>
            </a:r>
            <a:r>
              <a:rPr sz="1350" b="1" i="0">
                <a:solidFill>
                  <a:srgbClr val="E6E9F2"/>
                </a:solidFill>
                <a:latin typeface="Segoe UI"/>
              </a:rPr>
              <a:t>Bounded judge</a:t>
            </a:r>
            <a:r>
              <a:rPr sz="1350" b="0" i="0">
                <a:solidFill>
                  <a:srgbClr val="9AA4BF"/>
                </a:solidFill>
                <a:latin typeface="Segoe UI"/>
              </a:rPr>
              <a:t> — ±1.5 per dimension, rationale required</a:t>
            </a:r>
          </a:p>
          <a:p>
            <a:pPr>
              <a:spcAft>
                <a:spcPts val="600"/>
              </a:spcAft>
            </a:pPr>
            <a:r>
              <a:rPr sz="1350" b="1" i="0">
                <a:solidFill>
                  <a:srgbClr val="22C55E"/>
                </a:solidFill>
                <a:latin typeface="Segoe UI"/>
              </a:rPr>
              <a:t>•  </a:t>
            </a:r>
            <a:r>
              <a:rPr sz="1350" b="1" i="0">
                <a:solidFill>
                  <a:srgbClr val="E6E9F2"/>
                </a:solidFill>
                <a:latin typeface="Segoe UI"/>
              </a:rPr>
              <a:t>Clean failure</a:t>
            </a:r>
            <a:r>
              <a:rPr sz="1350" b="0" i="0">
                <a:solidFill>
                  <a:srgbClr val="9AA4BF"/>
                </a:solidFill>
                <a:latin typeface="Segoe UI"/>
              </a:rPr>
              <a:t> — cancel clone/build, delete workspace, purge orphans</a:t>
            </a:r>
          </a:p>
          <a:p>
            <a:pPr>
              <a:spcAft>
                <a:spcPts val="600"/>
              </a:spcAft>
            </a:pPr>
            <a:r>
              <a:rPr sz="1350" b="1" i="0">
                <a:solidFill>
                  <a:srgbClr val="22C55E"/>
                </a:solidFill>
                <a:latin typeface="Segoe UI"/>
              </a:rPr>
              <a:t>•  </a:t>
            </a:r>
            <a:r>
              <a:rPr sz="1350" b="1" i="0">
                <a:solidFill>
                  <a:srgbClr val="E6E9F2"/>
                </a:solidFill>
                <a:latin typeface="Segoe UI"/>
              </a:rPr>
              <a:t>Atomic artifacts</a:t>
            </a:r>
            <a:r>
              <a:rPr sz="1350" b="0" i="0">
                <a:solidFill>
                  <a:srgbClr val="9AA4BF"/>
                </a:solidFill>
                <a:latin typeface="Segoe UI"/>
              </a:rPr>
              <a:t> — write-then-rename; reports survive restarts</a:t>
            </a:r>
          </a:p>
          <a:p>
            <a:pPr>
              <a:spcAft>
                <a:spcPts val="600"/>
              </a:spcAft>
            </a:pPr>
            <a:r>
              <a:rPr sz="1350" b="1" i="0">
                <a:solidFill>
                  <a:srgbClr val="22C55E"/>
                </a:solidFill>
                <a:latin typeface="Segoe UI"/>
              </a:rPr>
              <a:t>•  </a:t>
            </a:r>
            <a:r>
              <a:rPr sz="1350" b="1" i="0">
                <a:solidFill>
                  <a:srgbClr val="E6E9F2"/>
                </a:solidFill>
                <a:latin typeface="Segoe UI"/>
              </a:rPr>
              <a:t>Observability</a:t>
            </a:r>
            <a:r>
              <a:rPr sz="1350" b="0" i="0">
                <a:solidFill>
                  <a:srgbClr val="9AA4BF"/>
                </a:solidFill>
                <a:latin typeface="Segoe UI"/>
              </a:rPr>
              <a:t> — per-stage timings, critical path, p50/p95 metrics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BUILT WITH</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Tech stack</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12/14</a:t>
            </a:r>
          </a:p>
        </p:txBody>
      </p:sp>
      <p:sp>
        <p:nvSpPr>
          <p:cNvPr id="6" name="Rounded Rectangle 5"/>
          <p:cNvSpPr/>
          <p:nvPr/>
        </p:nvSpPr>
        <p:spPr>
          <a:xfrm>
            <a:off x="548640" y="1554480"/>
            <a:ext cx="2194560" cy="594360"/>
          </a:xfrm>
          <a:prstGeom prst="roundRect">
            <a:avLst>
              <a:gd name="adj" fmla="val 12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Backend</a:t>
            </a:r>
          </a:p>
        </p:txBody>
      </p:sp>
      <p:sp>
        <p:nvSpPr>
          <p:cNvPr id="7" name="Rounded Rectangle 6"/>
          <p:cNvSpPr/>
          <p:nvPr/>
        </p:nvSpPr>
        <p:spPr>
          <a:xfrm>
            <a:off x="2880360" y="1554480"/>
            <a:ext cx="8778240" cy="5943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Python 3.12 · FastAPI · asyncio · Pydantic v2 · scrypt-hashed accounts, HttpOnly sessions</a:t>
            </a:r>
          </a:p>
        </p:txBody>
      </p:sp>
      <p:sp>
        <p:nvSpPr>
          <p:cNvPr id="8" name="Rounded Rectangle 7"/>
          <p:cNvSpPr/>
          <p:nvPr/>
        </p:nvSpPr>
        <p:spPr>
          <a:xfrm>
            <a:off x="548640" y="2286000"/>
            <a:ext cx="2194560" cy="594360"/>
          </a:xfrm>
          <a:prstGeom prst="roundRect">
            <a:avLst>
              <a:gd name="adj" fmla="val 12000"/>
            </a:avLst>
          </a:prstGeom>
          <a:solidFill>
            <a:srgbClr val="22D3EE"/>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AI</a:t>
            </a:r>
          </a:p>
        </p:txBody>
      </p:sp>
      <p:sp>
        <p:nvSpPr>
          <p:cNvPr id="9" name="Rounded Rectangle 8"/>
          <p:cNvSpPr/>
          <p:nvPr/>
        </p:nvSpPr>
        <p:spPr>
          <a:xfrm>
            <a:off x="2880360" y="2286000"/>
            <a:ext cx="8778240" cy="5943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Anthropic Claude: tool-use structured output, prompt caching, model tiering</a:t>
            </a:r>
          </a:p>
        </p:txBody>
      </p:sp>
      <p:sp>
        <p:nvSpPr>
          <p:cNvPr id="10" name="Rounded Rectangle 9"/>
          <p:cNvSpPr/>
          <p:nvPr/>
        </p:nvSpPr>
        <p:spPr>
          <a:xfrm>
            <a:off x="548640" y="3017520"/>
            <a:ext cx="2194560" cy="594360"/>
          </a:xfrm>
          <a:prstGeom prst="roundRect">
            <a:avLst>
              <a:gd name="adj" fmla="val 12000"/>
            </a:avLst>
          </a:prstGeom>
          <a:solidFill>
            <a:srgbClr val="22C55E"/>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Data</a:t>
            </a:r>
          </a:p>
        </p:txBody>
      </p:sp>
      <p:sp>
        <p:nvSpPr>
          <p:cNvPr id="11" name="Rounded Rectangle 10"/>
          <p:cNvSpPr/>
          <p:nvPr/>
        </p:nvSpPr>
        <p:spPr>
          <a:xfrm>
            <a:off x="2880360" y="3017520"/>
            <a:ext cx="8778240" cy="5943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PostgreSQL 17 (docker compose) or SQLite (zero setup) · portable SQL layer, heartbeats</a:t>
            </a:r>
          </a:p>
        </p:txBody>
      </p:sp>
      <p:sp>
        <p:nvSpPr>
          <p:cNvPr id="12" name="Rounded Rectangle 11"/>
          <p:cNvSpPr/>
          <p:nvPr/>
        </p:nvSpPr>
        <p:spPr>
          <a:xfrm>
            <a:off x="548640" y="3749040"/>
            <a:ext cx="2194560" cy="594360"/>
          </a:xfrm>
          <a:prstGeom prst="roundRect">
            <a:avLst>
              <a:gd name="adj" fmla="val 12000"/>
            </a:avLst>
          </a:prstGeom>
          <a:solidFill>
            <a:srgbClr val="F59E0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Edge</a:t>
            </a:r>
          </a:p>
        </p:txBody>
      </p:sp>
      <p:sp>
        <p:nvSpPr>
          <p:cNvPr id="13" name="Rounded Rectangle 12"/>
          <p:cNvSpPr/>
          <p:nvPr/>
        </p:nvSpPr>
        <p:spPr>
          <a:xfrm>
            <a:off x="2880360" y="3749040"/>
            <a:ext cx="8778240" cy="5943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Nginx: load balancing (sticky / round-robin / least-conn), rate limits, SSE passthrough</a:t>
            </a:r>
          </a:p>
        </p:txBody>
      </p:sp>
      <p:sp>
        <p:nvSpPr>
          <p:cNvPr id="14" name="Rounded Rectangle 13"/>
          <p:cNvSpPr/>
          <p:nvPr/>
        </p:nvSpPr>
        <p:spPr>
          <a:xfrm>
            <a:off x="548640" y="4480560"/>
            <a:ext cx="2194560" cy="594360"/>
          </a:xfrm>
          <a:prstGeom prst="roundRect">
            <a:avLst>
              <a:gd name="adj" fmla="val 12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Frontend</a:t>
            </a:r>
          </a:p>
        </p:txBody>
      </p:sp>
      <p:sp>
        <p:nvSpPr>
          <p:cNvPr id="15" name="Rounded Rectangle 14"/>
          <p:cNvSpPr/>
          <p:nvPr/>
        </p:nvSpPr>
        <p:spPr>
          <a:xfrm>
            <a:off x="2880360" y="4480560"/>
            <a:ext cx="8778240" cy="5943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Vanilla JS SPA + SSE · SVG charts · installable PWA · strict CSP · sandboxed code lab</a:t>
            </a:r>
          </a:p>
        </p:txBody>
      </p:sp>
      <p:sp>
        <p:nvSpPr>
          <p:cNvPr id="16" name="Rounded Rectangle 15"/>
          <p:cNvSpPr/>
          <p:nvPr/>
        </p:nvSpPr>
        <p:spPr>
          <a:xfrm>
            <a:off x="548640" y="5212080"/>
            <a:ext cx="2194560" cy="594360"/>
          </a:xfrm>
          <a:prstGeom prst="roundRect">
            <a:avLst>
              <a:gd name="adj" fmla="val 12000"/>
            </a:avLst>
          </a:prstGeom>
          <a:solidFill>
            <a:srgbClr val="22D3EE"/>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Packaging</a:t>
            </a:r>
          </a:p>
        </p:txBody>
      </p:sp>
      <p:sp>
        <p:nvSpPr>
          <p:cNvPr id="17" name="Rounded Rectangle 16"/>
          <p:cNvSpPr/>
          <p:nvPr/>
        </p:nvSpPr>
        <p:spPr>
          <a:xfrm>
            <a:off x="2880360" y="5212080"/>
            <a:ext cx="8778240" cy="5943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Multi-stage Dockerfile (non-root, healthcheck) · compose: nginx + 3 API replicas + Postgres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WHERE WE ARE</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Roadmap: from grader to full-stack learning platform</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13/14</a:t>
            </a:r>
          </a:p>
        </p:txBody>
      </p:sp>
      <p:sp>
        <p:nvSpPr>
          <p:cNvPr id="6" name="Rounded Rectangle 5"/>
          <p:cNvSpPr/>
          <p:nvPr/>
        </p:nvSpPr>
        <p:spPr>
          <a:xfrm>
            <a:off x="548640" y="1600200"/>
            <a:ext cx="3566160" cy="868680"/>
          </a:xfrm>
          <a:prstGeom prst="roundRect">
            <a:avLst>
              <a:gd name="adj" fmla="val 12000"/>
            </a:avLst>
          </a:prstGeom>
          <a:solidFill>
            <a:srgbClr val="22C55E"/>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0B1020"/>
                </a:solidFill>
                <a:latin typeface="Segoe UI"/>
              </a:rPr>
              <a:t>v1: Grader</a:t>
            </a:r>
          </a:p>
        </p:txBody>
      </p:sp>
      <p:sp>
        <p:nvSpPr>
          <p:cNvPr id="7" name="Rounded Rectangle 6"/>
          <p:cNvSpPr/>
          <p:nvPr/>
        </p:nvSpPr>
        <p:spPr>
          <a:xfrm>
            <a:off x="548640" y="2560320"/>
            <a:ext cx="3566160" cy="2011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31520" y="2697480"/>
            <a:ext cx="3246120" cy="1828800"/>
          </a:xfrm>
          <a:prstGeom prst="rect">
            <a:avLst/>
          </a:prstGeom>
          <a:noFill/>
        </p:spPr>
        <p:txBody>
          <a:bodyPr wrap="square">
            <a:spAutoFit/>
          </a:bodyPr>
          <a:lstStyle/>
          <a:p>
            <a:pPr>
              <a:spcAft>
                <a:spcPts val="800"/>
              </a:spcAft>
            </a:pPr>
            <a:r>
              <a:rPr sz="1500" b="1" i="0">
                <a:solidFill>
                  <a:srgbClr val="22C55E"/>
                </a:solidFill>
                <a:latin typeface="Segoe UI"/>
              </a:rPr>
              <a:t>•  </a:t>
            </a:r>
            <a:r>
              <a:rPr sz="1500" b="0" i="0">
                <a:solidFill>
                  <a:srgbClr val="E6E9F2"/>
                </a:solidFill>
                <a:latin typeface="Segoe UI"/>
              </a:rPr>
              <a:t>5 agents + judge</a:t>
            </a:r>
          </a:p>
          <a:p>
            <a:pPr>
              <a:spcAft>
                <a:spcPts val="800"/>
              </a:spcAft>
            </a:pPr>
            <a:r>
              <a:rPr sz="1500" b="1" i="0">
                <a:solidFill>
                  <a:srgbClr val="22C55E"/>
                </a:solidFill>
                <a:latin typeface="Segoe UI"/>
              </a:rPr>
              <a:t>•  </a:t>
            </a:r>
            <a:r>
              <a:rPr sz="1500" b="0" i="0">
                <a:solidFill>
                  <a:srgbClr val="E6E9F2"/>
                </a:solidFill>
                <a:latin typeface="Segoe UI"/>
              </a:rPr>
              <a:t>Docker sandbox</a:t>
            </a:r>
          </a:p>
          <a:p>
            <a:pPr>
              <a:spcAft>
                <a:spcPts val="800"/>
              </a:spcAft>
            </a:pPr>
            <a:r>
              <a:rPr sz="1500" b="1" i="0">
                <a:solidFill>
                  <a:srgbClr val="22C55E"/>
                </a:solidFill>
                <a:latin typeface="Segoe UI"/>
              </a:rPr>
              <a:t>•  </a:t>
            </a:r>
            <a:r>
              <a:rPr sz="1500" b="0" i="0">
                <a:solidFill>
                  <a:srgbClr val="E6E9F2"/>
                </a:solidFill>
                <a:latin typeface="Segoe UI"/>
              </a:rPr>
              <a:t>parallel DAG, caching</a:t>
            </a:r>
          </a:p>
          <a:p>
            <a:pPr>
              <a:spcAft>
                <a:spcPts val="800"/>
              </a:spcAft>
            </a:pPr>
            <a:r>
              <a:rPr sz="1500" b="1" i="0">
                <a:solidFill>
                  <a:srgbClr val="22C55E"/>
                </a:solidFill>
                <a:latin typeface="Segoe UI"/>
              </a:rPr>
              <a:t>•  </a:t>
            </a:r>
            <a:r>
              <a:rPr sz="1500" b="0" i="0">
                <a:solidFill>
                  <a:srgbClr val="E6E9F2"/>
                </a:solidFill>
                <a:latin typeface="Segoe UI"/>
              </a:rPr>
              <a:t>single API + Nginx</a:t>
            </a:r>
          </a:p>
        </p:txBody>
      </p:sp>
      <p:cxnSp>
        <p:nvCxnSpPr>
          <p:cNvPr id="9" name="Connector 8"/>
          <p:cNvCxnSpPr/>
          <p:nvPr/>
        </p:nvCxnSpPr>
        <p:spPr>
          <a:xfrm>
            <a:off x="4133087" y="2029968"/>
            <a:ext cx="237744" cy="0"/>
          </a:xfrm>
          <a:prstGeom prst="line">
            <a:avLst/>
          </a:prstGeom>
          <a:ln w="317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89120" y="1600200"/>
            <a:ext cx="3566160" cy="868680"/>
          </a:xfrm>
          <a:prstGeom prst="roundRect">
            <a:avLst>
              <a:gd name="adj" fmla="val 12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0B1020"/>
                </a:solidFill>
                <a:latin typeface="Segoe UI"/>
              </a:rPr>
              <a:t>v2: Platform (now)</a:t>
            </a:r>
          </a:p>
        </p:txBody>
      </p:sp>
      <p:sp>
        <p:nvSpPr>
          <p:cNvPr id="11" name="Rounded Rectangle 10"/>
          <p:cNvSpPr/>
          <p:nvPr/>
        </p:nvSpPr>
        <p:spPr>
          <a:xfrm>
            <a:off x="4389120" y="2560320"/>
            <a:ext cx="3566160" cy="2011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72000" y="2697480"/>
            <a:ext cx="3246120" cy="1828800"/>
          </a:xfrm>
          <a:prstGeom prst="rect">
            <a:avLst/>
          </a:prstGeom>
          <a:noFill/>
        </p:spPr>
        <p:txBody>
          <a:bodyPr wrap="square">
            <a:spAutoFit/>
          </a:bodyPr>
          <a:lstStyle/>
          <a:p>
            <a:pPr>
              <a:spcAft>
                <a:spcPts val="800"/>
              </a:spcAft>
            </a:pPr>
            <a:r>
              <a:rPr sz="1500" b="1" i="0">
                <a:solidFill>
                  <a:srgbClr val="7C83FF"/>
                </a:solidFill>
                <a:latin typeface="Segoe UI"/>
              </a:rPr>
              <a:t>•  </a:t>
            </a:r>
            <a:r>
              <a:rPr sz="1500" b="0" i="0">
                <a:solidFill>
                  <a:srgbClr val="E6E9F2"/>
                </a:solidFill>
                <a:latin typeface="Segoe UI"/>
              </a:rPr>
              <a:t>accounts, assignments, dashboards</a:t>
            </a:r>
          </a:p>
          <a:p>
            <a:pPr>
              <a:spcAft>
                <a:spcPts val="800"/>
              </a:spcAft>
            </a:pPr>
            <a:r>
              <a:rPr sz="1500" b="1" i="0">
                <a:solidFill>
                  <a:srgbClr val="7C83FF"/>
                </a:solidFill>
                <a:latin typeface="Segoe UI"/>
              </a:rPr>
              <a:t>•  </a:t>
            </a:r>
            <a:r>
              <a:rPr sz="1500" b="0" i="0">
                <a:solidFill>
                  <a:srgbClr val="E6E9F2"/>
                </a:solidFill>
                <a:latin typeface="Segoe UI"/>
              </a:rPr>
              <a:t>5 hands-on labs</a:t>
            </a:r>
          </a:p>
          <a:p>
            <a:pPr>
              <a:spcAft>
                <a:spcPts val="800"/>
              </a:spcAft>
            </a:pPr>
            <a:r>
              <a:rPr sz="1500" b="1" i="0">
                <a:solidFill>
                  <a:srgbClr val="7C83FF"/>
                </a:solidFill>
                <a:latin typeface="Segoe UI"/>
              </a:rPr>
              <a:t>•  </a:t>
            </a:r>
            <a:r>
              <a:rPr sz="1500" b="0" i="0">
                <a:solidFill>
                  <a:srgbClr val="E6E9F2"/>
                </a:solidFill>
                <a:latin typeface="Segoe UI"/>
              </a:rPr>
              <a:t>3 API replicas + LB</a:t>
            </a:r>
          </a:p>
          <a:p>
            <a:pPr>
              <a:spcAft>
                <a:spcPts val="800"/>
              </a:spcAft>
            </a:pPr>
            <a:r>
              <a:rPr sz="1500" b="1" i="0">
                <a:solidFill>
                  <a:srgbClr val="7C83FF"/>
                </a:solidFill>
                <a:latin typeface="Segoe UI"/>
              </a:rPr>
              <a:t>•  </a:t>
            </a:r>
            <a:r>
              <a:rPr sz="1500" b="0" i="0">
                <a:solidFill>
                  <a:srgbClr val="E6E9F2"/>
                </a:solidFill>
                <a:latin typeface="Segoe UI"/>
              </a:rPr>
              <a:t>PostgreSQL · PWA</a:t>
            </a:r>
          </a:p>
        </p:txBody>
      </p:sp>
      <p:cxnSp>
        <p:nvCxnSpPr>
          <p:cNvPr id="13" name="Connector 12"/>
          <p:cNvCxnSpPr/>
          <p:nvPr/>
        </p:nvCxnSpPr>
        <p:spPr>
          <a:xfrm>
            <a:off x="7973567" y="2029968"/>
            <a:ext cx="237745" cy="0"/>
          </a:xfrm>
          <a:prstGeom prst="line">
            <a:avLst/>
          </a:prstGeom>
          <a:ln w="317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229600" y="1600200"/>
            <a:ext cx="3566160" cy="868680"/>
          </a:xfrm>
          <a:prstGeom prst="roundRect">
            <a:avLst>
              <a:gd name="adj" fmla="val 12000"/>
            </a:avLst>
          </a:prstGeom>
          <a:solidFill>
            <a:srgbClr val="22D3EE"/>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0B1020"/>
                </a:solidFill>
                <a:latin typeface="Segoe UI"/>
              </a:rPr>
              <a:t>Next: At course scale</a:t>
            </a:r>
          </a:p>
        </p:txBody>
      </p:sp>
      <p:sp>
        <p:nvSpPr>
          <p:cNvPr id="15" name="Rounded Rectangle 14"/>
          <p:cNvSpPr/>
          <p:nvPr/>
        </p:nvSpPr>
        <p:spPr>
          <a:xfrm>
            <a:off x="8229600" y="2560320"/>
            <a:ext cx="3566160" cy="2011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412480" y="2697480"/>
            <a:ext cx="3246120" cy="1828800"/>
          </a:xfrm>
          <a:prstGeom prst="rect">
            <a:avLst/>
          </a:prstGeom>
          <a:noFill/>
        </p:spPr>
        <p:txBody>
          <a:bodyPr wrap="square">
            <a:spAutoFit/>
          </a:bodyPr>
          <a:lstStyle/>
          <a:p>
            <a:pPr>
              <a:spcAft>
                <a:spcPts val="800"/>
              </a:spcAft>
            </a:pPr>
            <a:r>
              <a:rPr sz="1500" b="1" i="0">
                <a:solidFill>
                  <a:srgbClr val="22D3EE"/>
                </a:solidFill>
                <a:latin typeface="Segoe UI"/>
              </a:rPr>
              <a:t>•  </a:t>
            </a:r>
            <a:r>
              <a:rPr sz="1500" b="0" i="0">
                <a:solidFill>
                  <a:srgbClr val="E6E9F2"/>
                </a:solidFill>
                <a:latin typeface="Segoe UI"/>
              </a:rPr>
              <a:t>Redis queue + grading workers</a:t>
            </a:r>
          </a:p>
          <a:p>
            <a:pPr>
              <a:spcAft>
                <a:spcPts val="800"/>
              </a:spcAft>
            </a:pPr>
            <a:r>
              <a:rPr sz="1500" b="1" i="0">
                <a:solidFill>
                  <a:srgbClr val="22D3EE"/>
                </a:solidFill>
                <a:latin typeface="Segoe UI"/>
              </a:rPr>
              <a:t>•  </a:t>
            </a:r>
            <a:r>
              <a:rPr sz="1500" b="0" i="0">
                <a:solidFill>
                  <a:srgbClr val="E6E9F2"/>
                </a:solidFill>
                <a:latin typeface="Segoe UI"/>
              </a:rPr>
              <a:t>per-student containers</a:t>
            </a:r>
          </a:p>
          <a:p>
            <a:pPr>
              <a:spcAft>
                <a:spcPts val="800"/>
              </a:spcAft>
            </a:pPr>
            <a:r>
              <a:rPr sz="1500" b="1" i="0">
                <a:solidFill>
                  <a:srgbClr val="22D3EE"/>
                </a:solidFill>
                <a:latin typeface="Segoe UI"/>
              </a:rPr>
              <a:t>•  </a:t>
            </a:r>
            <a:r>
              <a:rPr sz="1500" b="0" i="0">
                <a:solidFill>
                  <a:srgbClr val="E6E9F2"/>
                </a:solidFill>
                <a:latin typeface="Segoe UI"/>
              </a:rPr>
              <a:t>GitHub classroom sync</a:t>
            </a:r>
          </a:p>
          <a:p>
            <a:pPr>
              <a:spcAft>
                <a:spcPts val="800"/>
              </a:spcAft>
            </a:pPr>
            <a:r>
              <a:rPr sz="1500" b="1" i="0">
                <a:solidFill>
                  <a:srgbClr val="22D3EE"/>
                </a:solidFill>
                <a:latin typeface="Segoe UI"/>
              </a:rPr>
              <a:t>•  </a:t>
            </a:r>
            <a:r>
              <a:rPr sz="1500" b="0" i="0">
                <a:solidFill>
                  <a:srgbClr val="E6E9F2"/>
                </a:solidFill>
                <a:latin typeface="Segoe UI"/>
              </a:rPr>
              <a:t>object store for reports</a:t>
            </a:r>
          </a:p>
        </p:txBody>
      </p:sp>
      <p:sp>
        <p:nvSpPr>
          <p:cNvPr id="17" name="TextBox 16"/>
          <p:cNvSpPr txBox="1"/>
          <p:nvPr/>
        </p:nvSpPr>
        <p:spPr>
          <a:xfrm>
            <a:off x="548640" y="4892040"/>
            <a:ext cx="11247120" cy="822960"/>
          </a:xfrm>
          <a:prstGeom prst="rect">
            <a:avLst/>
          </a:prstGeom>
          <a:noFill/>
        </p:spPr>
        <p:txBody>
          <a:bodyPr wrap="square" anchor="t" lIns="45720" rIns="45720">
            <a:spAutoFit/>
          </a:bodyPr>
          <a:lstStyle/>
          <a:p>
            <a:pPr algn="l">
              <a:lnSpc>
                <a:spcPct val="110000"/>
              </a:lnSpc>
            </a:pPr>
            <a:r>
              <a:rPr sz="1400" b="0" i="0">
                <a:solidFill>
                  <a:srgbClr val="E6E9F2"/>
                </a:solidFill>
                <a:latin typeface="Segoe UI"/>
              </a:rPr>
              <a:t>Fits the course vision: backend services hosted in containers, reached through web and mobile apps. Students learn frontend, load balancers, networks and databases in one place, and AutoGrader+ closes the feedback loop with explainable grades and a learning path.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THANK YOU</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Live demo  ·  Q&amp;A</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14/14</a:t>
            </a:r>
          </a:p>
        </p:txBody>
      </p:sp>
      <p:sp>
        <p:nvSpPr>
          <p:cNvPr id="6" name="Rounded Rectangle 5"/>
          <p:cNvSpPr/>
          <p:nvPr/>
        </p:nvSpPr>
        <p:spPr>
          <a:xfrm>
            <a:off x="548640" y="1600200"/>
            <a:ext cx="502920" cy="502920"/>
          </a:xfrm>
          <a:prstGeom prst="roundRect">
            <a:avLst>
              <a:gd name="adj" fmla="val 50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1</a:t>
            </a:r>
          </a:p>
        </p:txBody>
      </p:sp>
      <p:sp>
        <p:nvSpPr>
          <p:cNvPr id="7" name="TextBox 6"/>
          <p:cNvSpPr txBox="1"/>
          <p:nvPr/>
        </p:nvSpPr>
        <p:spPr>
          <a:xfrm>
            <a:off x="1234440" y="1655064"/>
            <a:ext cx="5760720" cy="457200"/>
          </a:xfrm>
          <a:prstGeom prst="rect">
            <a:avLst/>
          </a:prstGeom>
          <a:noFill/>
        </p:spPr>
        <p:txBody>
          <a:bodyPr wrap="square" anchor="t" lIns="45720" rIns="45720">
            <a:spAutoFit/>
          </a:bodyPr>
          <a:lstStyle/>
          <a:p>
            <a:pPr algn="l">
              <a:lnSpc>
                <a:spcPct val="110000"/>
              </a:lnSpc>
            </a:pPr>
            <a:r>
              <a:rPr sz="1600" b="0" i="0">
                <a:solidFill>
                  <a:srgbClr val="E6E9F2"/>
                </a:solidFill>
                <a:latin typeface="Segoe UI"/>
              </a:rPr>
              <a:t>docker compose up: open http://localhost:8080</a:t>
            </a:r>
          </a:p>
        </p:txBody>
      </p:sp>
      <p:sp>
        <p:nvSpPr>
          <p:cNvPr id="8" name="Rounded Rectangle 7"/>
          <p:cNvSpPr/>
          <p:nvPr/>
        </p:nvSpPr>
        <p:spPr>
          <a:xfrm>
            <a:off x="548640" y="2221992"/>
            <a:ext cx="502920" cy="502920"/>
          </a:xfrm>
          <a:prstGeom prst="roundRect">
            <a:avLst>
              <a:gd name="adj" fmla="val 50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2</a:t>
            </a:r>
          </a:p>
        </p:txBody>
      </p:sp>
      <p:sp>
        <p:nvSpPr>
          <p:cNvPr id="9" name="TextBox 8"/>
          <p:cNvSpPr txBox="1"/>
          <p:nvPr/>
        </p:nvSpPr>
        <p:spPr>
          <a:xfrm>
            <a:off x="1234440" y="2276856"/>
            <a:ext cx="5760720" cy="457200"/>
          </a:xfrm>
          <a:prstGeom prst="rect">
            <a:avLst/>
          </a:prstGeom>
          <a:noFill/>
        </p:spPr>
        <p:txBody>
          <a:bodyPr wrap="square" anchor="t" lIns="45720" rIns="45720">
            <a:spAutoFit/>
          </a:bodyPr>
          <a:lstStyle/>
          <a:p>
            <a:pPr algn="l">
              <a:lnSpc>
                <a:spcPct val="110000"/>
              </a:lnSpc>
            </a:pPr>
            <a:r>
              <a:rPr sz="1600" b="0" i="0">
                <a:solidFill>
                  <a:srgbClr val="E6E9F2"/>
                </a:solidFill>
                <a:latin typeface="Segoe UI"/>
              </a:rPr>
              <a:t>Student: submit a repo for an assignment</a:t>
            </a:r>
          </a:p>
        </p:txBody>
      </p:sp>
      <p:sp>
        <p:nvSpPr>
          <p:cNvPr id="10" name="Rounded Rectangle 9"/>
          <p:cNvSpPr/>
          <p:nvPr/>
        </p:nvSpPr>
        <p:spPr>
          <a:xfrm>
            <a:off x="548640" y="2843784"/>
            <a:ext cx="502920" cy="502920"/>
          </a:xfrm>
          <a:prstGeom prst="roundRect">
            <a:avLst>
              <a:gd name="adj" fmla="val 50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3</a:t>
            </a:r>
          </a:p>
        </p:txBody>
      </p:sp>
      <p:sp>
        <p:nvSpPr>
          <p:cNvPr id="11" name="TextBox 10"/>
          <p:cNvSpPr txBox="1"/>
          <p:nvPr/>
        </p:nvSpPr>
        <p:spPr>
          <a:xfrm>
            <a:off x="1234440" y="2898648"/>
            <a:ext cx="5760720" cy="457200"/>
          </a:xfrm>
          <a:prstGeom prst="rect">
            <a:avLst/>
          </a:prstGeom>
          <a:noFill/>
        </p:spPr>
        <p:txBody>
          <a:bodyPr wrap="square" anchor="t" lIns="45720" rIns="45720">
            <a:spAutoFit/>
          </a:bodyPr>
          <a:lstStyle/>
          <a:p>
            <a:pPr algn="l">
              <a:lnSpc>
                <a:spcPct val="110000"/>
              </a:lnSpc>
            </a:pPr>
            <a:r>
              <a:rPr sz="1600" b="0" i="0">
                <a:solidFill>
                  <a:srgbClr val="E6E9F2"/>
                </a:solidFill>
                <a:latin typeface="Segoe UI"/>
              </a:rPr>
              <a:t>Watch the live DAG: agents run in parallel</a:t>
            </a:r>
          </a:p>
        </p:txBody>
      </p:sp>
      <p:sp>
        <p:nvSpPr>
          <p:cNvPr id="12" name="Rounded Rectangle 11"/>
          <p:cNvSpPr/>
          <p:nvPr/>
        </p:nvSpPr>
        <p:spPr>
          <a:xfrm>
            <a:off x="548640" y="3465576"/>
            <a:ext cx="502920" cy="502920"/>
          </a:xfrm>
          <a:prstGeom prst="roundRect">
            <a:avLst>
              <a:gd name="adj" fmla="val 50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4</a:t>
            </a:r>
          </a:p>
        </p:txBody>
      </p:sp>
      <p:sp>
        <p:nvSpPr>
          <p:cNvPr id="13" name="TextBox 12"/>
          <p:cNvSpPr txBox="1"/>
          <p:nvPr/>
        </p:nvSpPr>
        <p:spPr>
          <a:xfrm>
            <a:off x="1234440" y="3520440"/>
            <a:ext cx="5760720" cy="457200"/>
          </a:xfrm>
          <a:prstGeom prst="rect">
            <a:avLst/>
          </a:prstGeom>
          <a:noFill/>
        </p:spPr>
        <p:txBody>
          <a:bodyPr wrap="square" anchor="t" lIns="45720" rIns="45720">
            <a:spAutoFit/>
          </a:bodyPr>
          <a:lstStyle/>
          <a:p>
            <a:pPr algn="l">
              <a:lnSpc>
                <a:spcPct val="110000"/>
              </a:lnSpc>
            </a:pPr>
            <a:r>
              <a:rPr sz="1600" b="0" i="0">
                <a:solidFill>
                  <a:srgbClr val="E6E9F2"/>
                </a:solidFill>
                <a:latin typeface="Segoe UI"/>
              </a:rPr>
              <a:t>Dashboard: score history, skill radar, learning path</a:t>
            </a:r>
          </a:p>
        </p:txBody>
      </p:sp>
      <p:sp>
        <p:nvSpPr>
          <p:cNvPr id="14" name="Rounded Rectangle 13"/>
          <p:cNvSpPr/>
          <p:nvPr/>
        </p:nvSpPr>
        <p:spPr>
          <a:xfrm>
            <a:off x="548640" y="4087368"/>
            <a:ext cx="502920" cy="502920"/>
          </a:xfrm>
          <a:prstGeom prst="roundRect">
            <a:avLst>
              <a:gd name="adj" fmla="val 50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5</a:t>
            </a:r>
          </a:p>
        </p:txBody>
      </p:sp>
      <p:sp>
        <p:nvSpPr>
          <p:cNvPr id="15" name="TextBox 14"/>
          <p:cNvSpPr txBox="1"/>
          <p:nvPr/>
        </p:nvSpPr>
        <p:spPr>
          <a:xfrm>
            <a:off x="1234440" y="4142232"/>
            <a:ext cx="5760720" cy="457200"/>
          </a:xfrm>
          <a:prstGeom prst="rect">
            <a:avLst/>
          </a:prstGeom>
          <a:noFill/>
        </p:spPr>
        <p:txBody>
          <a:bodyPr wrap="square" anchor="t" lIns="45720" rIns="45720">
            <a:spAutoFit/>
          </a:bodyPr>
          <a:lstStyle/>
          <a:p>
            <a:pPr algn="l">
              <a:lnSpc>
                <a:spcPct val="110000"/>
              </a:lnSpc>
            </a:pPr>
            <a:r>
              <a:rPr sz="1600" b="0" i="0">
                <a:solidFill>
                  <a:srgbClr val="E6E9F2"/>
                </a:solidFill>
                <a:latin typeface="Segoe UI"/>
              </a:rPr>
              <a:t>Labs: load balancer across 3 replicas, SQL plans</a:t>
            </a:r>
          </a:p>
        </p:txBody>
      </p:sp>
      <p:sp>
        <p:nvSpPr>
          <p:cNvPr id="16" name="Rounded Rectangle 15"/>
          <p:cNvSpPr/>
          <p:nvPr/>
        </p:nvSpPr>
        <p:spPr>
          <a:xfrm>
            <a:off x="548640" y="4709160"/>
            <a:ext cx="502920" cy="502920"/>
          </a:xfrm>
          <a:prstGeom prst="roundRect">
            <a:avLst>
              <a:gd name="adj" fmla="val 50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6</a:t>
            </a:r>
          </a:p>
        </p:txBody>
      </p:sp>
      <p:sp>
        <p:nvSpPr>
          <p:cNvPr id="17" name="TextBox 16"/>
          <p:cNvSpPr txBox="1"/>
          <p:nvPr/>
        </p:nvSpPr>
        <p:spPr>
          <a:xfrm>
            <a:off x="1234440" y="4764024"/>
            <a:ext cx="5760720" cy="457200"/>
          </a:xfrm>
          <a:prstGeom prst="rect">
            <a:avLst/>
          </a:prstGeom>
          <a:noFill/>
        </p:spPr>
        <p:txBody>
          <a:bodyPr wrap="square" anchor="t" lIns="45720" rIns="45720">
            <a:spAutoFit/>
          </a:bodyPr>
          <a:lstStyle/>
          <a:p>
            <a:pPr algn="l">
              <a:lnSpc>
                <a:spcPct val="110000"/>
              </a:lnSpc>
            </a:pPr>
            <a:r>
              <a:rPr sz="1600" b="0" i="0">
                <a:solidFill>
                  <a:srgbClr val="E6E9F2"/>
                </a:solidFill>
                <a:latin typeface="Segoe UI"/>
              </a:rPr>
              <a:t>Instructor: class overview + gradebook export</a:t>
            </a:r>
          </a:p>
        </p:txBody>
      </p:sp>
      <p:sp>
        <p:nvSpPr>
          <p:cNvPr id="18" name="Rounded Rectangle 17"/>
          <p:cNvSpPr/>
          <p:nvPr/>
        </p:nvSpPr>
        <p:spPr>
          <a:xfrm>
            <a:off x="7315200" y="1600200"/>
            <a:ext cx="4343400" cy="3611880"/>
          </a:xfrm>
          <a:prstGeom prst="roundRect">
            <a:avLst>
              <a:gd name="adj" fmla="val 12000"/>
            </a:avLst>
          </a:prstGeom>
          <a:solidFill>
            <a:srgbClr val="182244"/>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498079" y="1783080"/>
            <a:ext cx="4023360" cy="457200"/>
          </a:xfrm>
          <a:prstGeom prst="rect">
            <a:avLst/>
          </a:prstGeom>
          <a:noFill/>
        </p:spPr>
        <p:txBody>
          <a:bodyPr wrap="square" anchor="t" lIns="45720" rIns="45720">
            <a:spAutoFit/>
          </a:bodyPr>
          <a:lstStyle/>
          <a:p>
            <a:pPr algn="ctr">
              <a:lnSpc>
                <a:spcPct val="110000"/>
              </a:lnSpc>
            </a:pPr>
            <a:r>
              <a:rPr sz="1800" b="1" i="0">
                <a:solidFill>
                  <a:srgbClr val="22D3EE"/>
                </a:solidFill>
                <a:latin typeface="Segoe UI"/>
              </a:rPr>
              <a:t>Source code</a:t>
            </a:r>
          </a:p>
        </p:txBody>
      </p:sp>
      <p:sp>
        <p:nvSpPr>
          <p:cNvPr id="20" name="TextBox 19"/>
          <p:cNvSpPr txBox="1"/>
          <p:nvPr/>
        </p:nvSpPr>
        <p:spPr>
          <a:xfrm>
            <a:off x="7498079" y="2331720"/>
            <a:ext cx="4023360" cy="457200"/>
          </a:xfrm>
          <a:prstGeom prst="rect">
            <a:avLst/>
          </a:prstGeom>
          <a:noFill/>
        </p:spPr>
        <p:txBody>
          <a:bodyPr wrap="square" anchor="t" lIns="45720" rIns="45720">
            <a:spAutoFit/>
          </a:bodyPr>
          <a:lstStyle/>
          <a:p>
            <a:pPr algn="ctr">
              <a:lnSpc>
                <a:spcPct val="110000"/>
              </a:lnSpc>
            </a:pPr>
            <a:r>
              <a:rPr sz="1500" b="1" i="0">
                <a:solidFill>
                  <a:srgbClr val="E6E9F2"/>
                </a:solidFill>
                <a:latin typeface="Segoe UI"/>
              </a:rPr>
              <a:t>github.com/roshanraj9136/auto-grader</a:t>
            </a:r>
          </a:p>
        </p:txBody>
      </p:sp>
      <p:sp>
        <p:nvSpPr>
          <p:cNvPr id="21" name="TextBox 20"/>
          <p:cNvSpPr txBox="1"/>
          <p:nvPr/>
        </p:nvSpPr>
        <p:spPr>
          <a:xfrm>
            <a:off x="7498079" y="2971800"/>
            <a:ext cx="4023360" cy="2011680"/>
          </a:xfrm>
          <a:prstGeom prst="rect">
            <a:avLst/>
          </a:prstGeom>
          <a:noFill/>
        </p:spPr>
        <p:txBody>
          <a:bodyPr wrap="square" anchor="t" lIns="45720" rIns="45720">
            <a:spAutoFit/>
          </a:bodyPr>
          <a:lstStyle/>
          <a:p>
            <a:pPr algn="ctr">
              <a:lnSpc>
                <a:spcPct val="140000"/>
              </a:lnSpc>
            </a:pPr>
            <a:r>
              <a:rPr sz="1300" b="0" i="0">
                <a:solidFill>
                  <a:srgbClr val="9AA4BF"/>
                </a:solidFill>
                <a:latin typeface="Segoe UI"/>
              </a:rPr>
              <a:t>README: quick start</a:t>
            </a:r>
          </a:p>
          <a:p>
            <a:pPr algn="ctr">
              <a:lnSpc>
                <a:spcPct val="140000"/>
              </a:lnSpc>
            </a:pPr>
            <a:r>
              <a:rPr sz="1300" b="0" i="0">
                <a:solidFill>
                  <a:srgbClr val="9AA4BF"/>
                </a:solidFill>
                <a:latin typeface="Segoe UI"/>
              </a:rPr>
              <a:t>docs/ARCHITECTURE.md: full design</a:t>
            </a:r>
          </a:p>
          <a:p>
            <a:pPr algn="ctr">
              <a:lnSpc>
                <a:spcPct val="140000"/>
              </a:lnSpc>
            </a:pPr>
            <a:r>
              <a:rPr sz="1300" b="0" i="0">
                <a:solidFill>
                  <a:srgbClr val="9AA4BF"/>
                </a:solidFill>
                <a:latin typeface="Segoe UI"/>
              </a:rPr>
              <a:t>scripts/latency_benchmark.py: reproduce results</a:t>
            </a:r>
          </a:p>
        </p:txBody>
      </p:sp>
      <p:sp>
        <p:nvSpPr>
          <p:cNvPr id="22" name="TextBox 21"/>
          <p:cNvSpPr txBox="1"/>
          <p:nvPr/>
        </p:nvSpPr>
        <p:spPr>
          <a:xfrm>
            <a:off x="548640" y="5623560"/>
            <a:ext cx="11247120" cy="640080"/>
          </a:xfrm>
          <a:prstGeom prst="rect">
            <a:avLst/>
          </a:prstGeom>
          <a:noFill/>
        </p:spPr>
        <p:txBody>
          <a:bodyPr wrap="square" anchor="t" lIns="45720" rIns="45720">
            <a:spAutoFit/>
          </a:bodyPr>
          <a:lstStyle/>
          <a:p>
            <a:pPr algn="ctr">
              <a:lnSpc>
                <a:spcPct val="110000"/>
              </a:lnSpc>
            </a:pPr>
            <a:r>
              <a:rPr sz="3000" b="1" i="0">
                <a:solidFill>
                  <a:srgbClr val="7C83FF"/>
                </a:solidFill>
                <a:latin typeface="Segoe UI"/>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