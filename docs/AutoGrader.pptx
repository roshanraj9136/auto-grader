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AutoGrader+ grades a student's whole full-stack project from its GitHub link and turns the result into feedback they can act on. Around the grader we built a learning platform with two different views: one for students and one for instructors. The site is live at the link on the slide, and everything I show today is running there.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grading full-stack projects is slow and inconsistent, and feedback arrives too late to help. Our goals were feedback in about a minute, scores anyone can reproduce, a loop where students improve and resubmit, and a clear class picture for instructors.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parts. The grading engine: five reviewers, each responsible for one area, and a judge on top. The student view and the instructor view are built around what each group needs. Without an API key the same pipeline runs with deterministic rule-based scorers, which is how the public demo runs.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browser talks to an Nginx load balancer, which spreads requests over three identical FastAPI replicas. Each replica serves the web app and the API and runs grading jobs. Everything shared lives in PostgreSQL, so replicas are stateless and can be scaled. Even the live progress of a job is written to the database as it happens, so any replica can stream it. The public deployment is a single container on Render with a Neon database; the code is identical.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steps. Admission control limits concurrent jobs and attaches duplicate requests to the running job. Resolving the commit and cloning start together. If the same commit was graded before with the same rubric, the cached report comes back in about a second. Indexing reads the repository once. The Dockerfile is linted. Then the five reviewers run at the same time on evidence picked for them, the judge calibrates, and the report is written.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it is fast. The pipeline is a dependency graph, not a list. The total time is the longest path through the graph, not the sum of all stages. The model phase costs the slowest reviewer, not five reviewers in a row, and the Docker build overlaps with four of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reviewer sees only the evidence relevant to its area, chosen from one shared index of the repository. They must answer in a fixed JSON schema, so nothing is parsed from free text. The judge sees only their reports, which keeps it fast and cheap, and it is limited to small, explained adjustments.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never produces the final number. Each area gets a score from zero to ten, the judge can nudge it slightly, and the total is a weighted sum computed in code with the assignment's published weights. That makes grades reproducible. Instructors can still override a grade, but they must write a reason, the original is kept, and the student sees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techniques behind the speed, each with its effect. The biggest wins are running the reviewers in parallel, keeping Docker off the critical path, and caching results by commit so an unchanged project is re-graded in about a second.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benchmark repository the full grading takes 27.5 seconds instead of 75.5 if the stages ran one after another, a 2.74 times speed-up. A re-grade of unchanged code is answered from the cache in 1.2 seconds. Every stage has a hard limit, so the worst case is bounded, and the server reports its real p50 and p95 per stage.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external call has a deadline, failures degrade one area instead of the whole job, and replicas watch each other through heartbeats in the database so nothing hangs if one dies. Progress events are stored in the database, so adding replicas is enough to scale the web tier. The next step, following how Autolab scales, is a durable work queue in PostgreSQL using SKIP LOCKED, with separate worker processes that claim jobs.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covers both the grader, which runs untrusted student code, and the platform. Repository input is restricted, secrets are redacted before anything reaches a model, and the Docker sandbox is locked down. On the platform side, roles are checked on the server for every instructor action, so a student cannot change any grade, sign-in is throttled against password guessing, and the public demo has only a student login. We verified these with an automated script of 44 checks.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student view answers one question: what should I do next. The dashboard opens with the next assignment and the last result with the three most important fixes. The feedback page shows the score, marks by area with the rubric weights, the priorities with file names, and what to learn next.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instructor view is built for a desk and dense information. The overview starts with a short list of things that need attention, so the instructor knows where to look first, followed by the class numbers and the assignment table.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Inspired by Gradescope and CodeGrade. The gradebook shows every student against every assignment. Each assignment has an analytics page with the statistics and the distribution, which students have not submitted, and possible copying, detected when two students submit the same repository or the same commit. From there the instructor can adjust a grade with a reason or re-run grading.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labs let students practise each layer. They are not simulations: the SQL lab runs real queries checked by the server, and the load-balancer lab sends real requests to the replicas. The labs page also opens with 'Start here': the next tasks, chosen from the student's weakest graded area, so practice follows their own review. The testing lab is mutation testing - a suite only counts when it fails on the broken versions of the function.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tables hold everything. The same SQL runs on SQLite for local use and PostgreSQL in production, without an ORM. The app ships as one Docker image that follows the same rules our DevOps reviewer checks.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honest about limits: a grading lives in the server that accepted it, the Docker sandbox is opt-in for safety, copy detection is by repository and commit, and the free host sleeps. The next steps address each of these.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plan: open the live site, look at the student side, submit a repository and watch the reviewers run in parallel, then the instructor side: overview, gradebook and an assignment's analytics, and finally the Platform health page with the live latency numbers. Thank you;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14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822960"/>
            <a:ext cx="777240" cy="777240"/>
          </a:xfrm>
          <a:prstGeom prst="roundRect">
            <a:avLst>
              <a:gd name="adj" fmla="val 20000"/>
            </a:avLst>
          </a:prstGeom>
          <a:solidFill>
            <a:srgbClr val="141C2E"/>
          </a:solidFill>
          <a:ln w="1270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FFE14A"/>
                </a:solidFill>
                <a:latin typeface="Segoe UI Semibold"/>
              </a:rPr>
              <a:t>✓</a:t>
            </a:r>
          </a:p>
        </p:txBody>
      </p:sp>
      <p:sp>
        <p:nvSpPr>
          <p:cNvPr id="4" name="TextBox 3"/>
          <p:cNvSpPr txBox="1"/>
          <p:nvPr/>
        </p:nvSpPr>
        <p:spPr>
          <a:xfrm>
            <a:off x="640080" y="1828800"/>
            <a:ext cx="6766560" cy="2011680"/>
          </a:xfrm>
          <a:prstGeom prst="rect">
            <a:avLst/>
          </a:prstGeom>
          <a:noFill/>
        </p:spPr>
        <p:txBody>
          <a:bodyPr wrap="square" anchor="t" lIns="27432" rIns="27432">
            <a:spAutoFit/>
          </a:bodyPr>
          <a:lstStyle/>
          <a:p>
            <a:pPr algn="l">
              <a:lnSpc>
                <a:spcPct val="105000"/>
              </a:lnSpc>
            </a:pPr>
            <a:r>
              <a:rPr sz="5400" b="1">
                <a:solidFill>
                  <a:srgbClr val="141C2E"/>
                </a:solidFill>
                <a:latin typeface="Segoe UI Semibold"/>
              </a:rPr>
              <a:t>AutoGrader+</a:t>
            </a:r>
          </a:p>
          <a:p>
            <a:pPr algn="l">
              <a:lnSpc>
                <a:spcPct val="105000"/>
              </a:lnSpc>
            </a:pPr>
            <a:r>
              <a:rPr sz="2600" b="0">
                <a:solidFill>
                  <a:srgbClr val="4A5468"/>
                </a:solidFill>
                <a:latin typeface="Segoe UI"/>
              </a:rPr>
              <a:t>Your repository, marked like a code review</a:t>
            </a:r>
          </a:p>
        </p:txBody>
      </p:sp>
      <p:sp>
        <p:nvSpPr>
          <p:cNvPr id="5" name="Rectangle 4"/>
          <p:cNvSpPr/>
          <p:nvPr/>
        </p:nvSpPr>
        <p:spPr>
          <a:xfrm>
            <a:off x="658368" y="4069080"/>
            <a:ext cx="5394960" cy="384048"/>
          </a:xfrm>
          <a:prstGeom prst="rect">
            <a:avLst/>
          </a:prstGeom>
          <a:solidFill>
            <a:srgbClr val="FFE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005072"/>
            <a:ext cx="6858000" cy="502920"/>
          </a:xfrm>
          <a:prstGeom prst="rect">
            <a:avLst/>
          </a:prstGeom>
          <a:noFill/>
        </p:spPr>
        <p:txBody>
          <a:bodyPr wrap="square" anchor="t" lIns="27432" rIns="27432">
            <a:spAutoFit/>
          </a:bodyPr>
          <a:lstStyle/>
          <a:p>
            <a:pPr algn="l">
              <a:lnSpc>
                <a:spcPct val="112000"/>
              </a:lnSpc>
            </a:pPr>
            <a:r>
              <a:rPr sz="1800" b="0">
                <a:solidFill>
                  <a:srgbClr val="141C2E"/>
                </a:solidFill>
                <a:latin typeface="Segoe UI Semibold"/>
              </a:rPr>
              <a:t>Multi-agent grading + a full-stack learning platform</a:t>
            </a:r>
          </a:p>
        </p:txBody>
      </p:sp>
      <p:sp>
        <p:nvSpPr>
          <p:cNvPr id="7" name="TextBox 6"/>
          <p:cNvSpPr txBox="1"/>
          <p:nvPr/>
        </p:nvSpPr>
        <p:spPr>
          <a:xfrm>
            <a:off x="640080" y="4800600"/>
            <a:ext cx="6766560" cy="1097280"/>
          </a:xfrm>
          <a:prstGeom prst="rect">
            <a:avLst/>
          </a:prstGeom>
          <a:noFill/>
        </p:spPr>
        <p:txBody>
          <a:bodyPr wrap="square" anchor="t" lIns="27432" rIns="27432">
            <a:spAutoFit/>
          </a:bodyPr>
          <a:lstStyle/>
          <a:p>
            <a:pPr algn="l">
              <a:lnSpc>
                <a:spcPct val="125000"/>
              </a:lnSpc>
            </a:pPr>
            <a:r>
              <a:rPr sz="1500" b="0">
                <a:solidFill>
                  <a:srgbClr val="4A5468"/>
                </a:solidFill>
                <a:latin typeface="Segoe UI"/>
              </a:rPr>
              <a:t>Live:  autograder-plus.onrender.com</a:t>
            </a:r>
          </a:p>
          <a:p>
            <a:pPr algn="l">
              <a:lnSpc>
                <a:spcPct val="125000"/>
              </a:lnSpc>
            </a:pPr>
            <a:r>
              <a:rPr sz="1500" b="0">
                <a:solidFill>
                  <a:srgbClr val="4A5468"/>
                </a:solidFill>
                <a:latin typeface="Segoe UI"/>
              </a:rPr>
              <a:t>Code:  github.com/roshanraj9136/auto-grader</a:t>
            </a:r>
          </a:p>
          <a:p>
            <a:pPr algn="l">
              <a:lnSpc>
                <a:spcPct val="125000"/>
              </a:lnSpc>
              <a:spcBef>
                <a:spcPts val="800"/>
              </a:spcBef>
            </a:pPr>
            <a:r>
              <a:rPr sz="1500" b="0">
                <a:solidFill>
                  <a:srgbClr val="7F899B"/>
                </a:solidFill>
                <a:latin typeface="Segoe UI"/>
              </a:rPr>
              <a:t>CSL100 group project</a:t>
            </a:r>
          </a:p>
        </p:txBody>
      </p:sp>
      <p:pic>
        <p:nvPicPr>
          <p:cNvPr id="8" name="Picture 7" descr="landing.png"/>
          <p:cNvPicPr>
            <a:picLocks noChangeAspect="1"/>
          </p:cNvPicPr>
          <p:nvPr/>
        </p:nvPicPr>
        <p:blipFill>
          <a:blip r:embed="rId2"/>
          <a:stretch>
            <a:fillRect/>
          </a:stretch>
        </p:blipFill>
        <p:spPr>
          <a:xfrm>
            <a:off x="7726679" y="868680"/>
            <a:ext cx="3931920" cy="2457450"/>
          </a:xfrm>
          <a:prstGeom prst="rect">
            <a:avLst/>
          </a:prstGeom>
          <a:ln w="12700">
            <a:solidFill>
              <a:srgbClr val="D5DBE3"/>
            </a:solidFill>
          </a:ln>
        </p:spPr>
      </p:pic>
      <p:pic>
        <p:nvPicPr>
          <p:cNvPr id="9" name="Picture 8" descr="instructor-overview.png"/>
          <p:cNvPicPr>
            <a:picLocks noChangeAspect="1"/>
          </p:cNvPicPr>
          <p:nvPr/>
        </p:nvPicPr>
        <p:blipFill>
          <a:blip r:embed="rId3"/>
          <a:stretch>
            <a:fillRect/>
          </a:stretch>
        </p:blipFill>
        <p:spPr>
          <a:xfrm>
            <a:off x="7726679" y="3611880"/>
            <a:ext cx="3931920" cy="2457450"/>
          </a:xfrm>
          <a:prstGeom prst="rect">
            <a:avLst/>
          </a:prstGeom>
          <a:ln w="12700">
            <a:solidFill>
              <a:srgbClr val="D5DBE3"/>
            </a:solidFill>
          </a:ln>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14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20040"/>
          </a:xfrm>
          <a:prstGeom prst="rect">
            <a:avLst/>
          </a:prstGeom>
          <a:noFill/>
        </p:spPr>
        <p:txBody>
          <a:bodyPr wrap="square" anchor="t" lIns="27432" rIns="27432">
            <a:spAutoFit/>
          </a:bodyPr>
          <a:lstStyle/>
          <a:p>
            <a:pPr algn="l">
              <a:lnSpc>
                <a:spcPct val="112000"/>
              </a:lnSpc>
            </a:pPr>
            <a:r>
              <a:rPr sz="1200" b="0">
                <a:solidFill>
                  <a:srgbClr val="7F899B"/>
                </a:solidFill>
                <a:latin typeface="Segoe UI"/>
              </a:rPr>
              <a:t>Motivation</a:t>
            </a:r>
          </a:p>
        </p:txBody>
      </p:sp>
      <p:sp>
        <p:nvSpPr>
          <p:cNvPr id="4" name="TextBox 3"/>
          <p:cNvSpPr txBox="1"/>
          <p:nvPr/>
        </p:nvSpPr>
        <p:spPr>
          <a:xfrm>
            <a:off x="548640" y="548640"/>
            <a:ext cx="11155680" cy="731520"/>
          </a:xfrm>
          <a:prstGeom prst="rect">
            <a:avLst/>
          </a:prstGeom>
          <a:noFill/>
        </p:spPr>
        <p:txBody>
          <a:bodyPr wrap="square" anchor="t" lIns="27432" rIns="27432">
            <a:spAutoFit/>
          </a:bodyPr>
          <a:lstStyle/>
          <a:p>
            <a:pPr algn="l">
              <a:lnSpc>
                <a:spcPct val="112000"/>
              </a:lnSpc>
            </a:pPr>
            <a:r>
              <a:rPr sz="2800" b="1">
                <a:solidFill>
                  <a:srgbClr val="141C2E"/>
                </a:solidFill>
                <a:latin typeface="Segoe UI Semibold"/>
              </a:rPr>
              <a:t>Why we built it</a:t>
            </a:r>
          </a:p>
        </p:txBody>
      </p:sp>
      <p:sp>
        <p:nvSpPr>
          <p:cNvPr id="5" name="TextBox 4"/>
          <p:cNvSpPr txBox="1"/>
          <p:nvPr/>
        </p:nvSpPr>
        <p:spPr>
          <a:xfrm>
            <a:off x="9875520" y="6419088"/>
            <a:ext cx="1920240" cy="274320"/>
          </a:xfrm>
          <a:prstGeom prst="rect">
            <a:avLst/>
          </a:prstGeom>
          <a:noFill/>
        </p:spPr>
        <p:txBody>
          <a:bodyPr wrap="square" anchor="t" lIns="27432" rIns="27432">
            <a:spAutoFit/>
          </a:bodyPr>
          <a:lstStyle/>
          <a:p>
            <a:pPr algn="r">
              <a:lnSpc>
                <a:spcPct val="112000"/>
              </a:lnSpc>
            </a:pPr>
            <a:r>
              <a:rPr sz="1000" b="0">
                <a:solidFill>
                  <a:srgbClr val="7F899B"/>
                </a:solidFill>
                <a:latin typeface="Segoe UI"/>
              </a:rPr>
              <a:t>AutoGrader+   2 / 19</a:t>
            </a:r>
          </a:p>
        </p:txBody>
      </p:sp>
      <p:sp>
        <p:nvSpPr>
          <p:cNvPr id="6" name="Rounded Rectangle 5"/>
          <p:cNvSpPr/>
          <p:nvPr/>
        </p:nvSpPr>
        <p:spPr>
          <a:xfrm>
            <a:off x="548640" y="1463040"/>
            <a:ext cx="5394960" cy="4480560"/>
          </a:xfrm>
          <a:prstGeom prst="roundRect">
            <a:avLst>
              <a:gd name="adj" fmla="val 10000"/>
            </a:avLst>
          </a:prstGeom>
          <a:solidFill>
            <a:srgbClr val="F1F3F6"/>
          </a:solidFill>
          <a:ln w="12700">
            <a:solidFill>
              <a:srgbClr val="F1F3F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1645920"/>
            <a:ext cx="5029200" cy="457200"/>
          </a:xfrm>
          <a:prstGeom prst="rect">
            <a:avLst/>
          </a:prstGeom>
          <a:noFill/>
        </p:spPr>
        <p:txBody>
          <a:bodyPr wrap="square" anchor="t" lIns="27432" rIns="27432">
            <a:spAutoFit/>
          </a:bodyPr>
          <a:lstStyle/>
          <a:p>
            <a:pPr algn="l">
              <a:lnSpc>
                <a:spcPct val="112000"/>
              </a:lnSpc>
            </a:pPr>
            <a:r>
              <a:rPr sz="1900" b="1">
                <a:solidFill>
                  <a:srgbClr val="141C2E"/>
                </a:solidFill>
                <a:latin typeface="Segoe UI Semibold"/>
              </a:rPr>
              <a:t>Grading full-stack projects by hand</a:t>
            </a:r>
          </a:p>
        </p:txBody>
      </p:sp>
      <p:sp>
        <p:nvSpPr>
          <p:cNvPr id="8" name="TextBox 7"/>
          <p:cNvSpPr txBox="1"/>
          <p:nvPr/>
        </p:nvSpPr>
        <p:spPr>
          <a:xfrm>
            <a:off x="777240" y="2240280"/>
            <a:ext cx="5029200" cy="3657600"/>
          </a:xfrm>
          <a:prstGeom prst="rect">
            <a:avLst/>
          </a:prstGeom>
          <a:noFill/>
        </p:spPr>
        <p:txBody>
          <a:bodyPr wrap="square">
            <a:spAutoFit/>
          </a:bodyPr>
          <a:lstStyle/>
          <a:p>
            <a:pPr>
              <a:lnSpc>
                <a:spcPct val="110000"/>
              </a:lnSpc>
              <a:spcAft>
                <a:spcPts val="700"/>
              </a:spcAft>
            </a:pPr>
            <a:r>
              <a:rPr sz="1500" b="1">
                <a:solidFill>
                  <a:srgbClr val="C4302B"/>
                </a:solidFill>
                <a:latin typeface="Segoe UI"/>
              </a:rPr>
              <a:t>•  </a:t>
            </a:r>
            <a:r>
              <a:rPr sz="1500" b="1">
                <a:solidFill>
                  <a:srgbClr val="141C2E"/>
                </a:solidFill>
                <a:latin typeface="Segoe UI Semibold"/>
              </a:rPr>
              <a:t>Slow.</a:t>
            </a:r>
            <a:r>
              <a:rPr sz="1500" b="0">
                <a:solidFill>
                  <a:srgbClr val="4A5468"/>
                </a:solidFill>
                <a:latin typeface="Segoe UI"/>
              </a:rPr>
              <a:t>  Every project has a frontend, an API, a database and a Dockerfile to read.</a:t>
            </a:r>
          </a:p>
          <a:p>
            <a:pPr>
              <a:lnSpc>
                <a:spcPct val="110000"/>
              </a:lnSpc>
              <a:spcAft>
                <a:spcPts val="700"/>
              </a:spcAft>
            </a:pPr>
            <a:r>
              <a:rPr sz="1500" b="1">
                <a:solidFill>
                  <a:srgbClr val="C4302B"/>
                </a:solidFill>
                <a:latin typeface="Segoe UI"/>
              </a:rPr>
              <a:t>•  </a:t>
            </a:r>
            <a:r>
              <a:rPr sz="1500" b="1">
                <a:solidFill>
                  <a:srgbClr val="141C2E"/>
                </a:solidFill>
                <a:latin typeface="Segoe UI Semibold"/>
              </a:rPr>
              <a:t>Inconsistent.</a:t>
            </a:r>
            <a:r>
              <a:rPr sz="1500" b="0">
                <a:solidFill>
                  <a:srgbClr val="4A5468"/>
                </a:solidFill>
                <a:latin typeface="Segoe UI"/>
              </a:rPr>
              <a:t>  Two graders give the same project different marks.</a:t>
            </a:r>
          </a:p>
          <a:p>
            <a:pPr>
              <a:lnSpc>
                <a:spcPct val="110000"/>
              </a:lnSpc>
              <a:spcAft>
                <a:spcPts val="700"/>
              </a:spcAft>
            </a:pPr>
            <a:r>
              <a:rPr sz="1500" b="1">
                <a:solidFill>
                  <a:srgbClr val="C4302B"/>
                </a:solidFill>
                <a:latin typeface="Segoe UI"/>
              </a:rPr>
              <a:t>•  </a:t>
            </a:r>
            <a:r>
              <a:rPr sz="1500" b="1">
                <a:solidFill>
                  <a:srgbClr val="141C2E"/>
                </a:solidFill>
                <a:latin typeface="Segoe UI Semibold"/>
              </a:rPr>
              <a:t>Late feedback.</a:t>
            </a:r>
            <a:r>
              <a:rPr sz="1500" b="0">
                <a:solidFill>
                  <a:srgbClr val="4A5468"/>
                </a:solidFill>
                <a:latin typeface="Segoe UI"/>
              </a:rPr>
              <a:t>  Students hear what was wrong after the deadline, when it no longer helps.</a:t>
            </a:r>
          </a:p>
          <a:p>
            <a:pPr>
              <a:lnSpc>
                <a:spcPct val="110000"/>
              </a:lnSpc>
              <a:spcAft>
                <a:spcPts val="700"/>
              </a:spcAft>
            </a:pPr>
            <a:r>
              <a:rPr sz="1500" b="1">
                <a:solidFill>
                  <a:srgbClr val="C4302B"/>
                </a:solidFill>
                <a:latin typeface="Segoe UI"/>
              </a:rPr>
              <a:t>•  </a:t>
            </a:r>
            <a:r>
              <a:rPr sz="1500" b="1">
                <a:solidFill>
                  <a:srgbClr val="141C2E"/>
                </a:solidFill>
                <a:latin typeface="Segoe UI Semibold"/>
              </a:rPr>
              <a:t>No overview.</a:t>
            </a:r>
            <a:r>
              <a:rPr sz="1500" b="0">
                <a:solidFill>
                  <a:srgbClr val="4A5468"/>
                </a:solidFill>
                <a:latin typeface="Segoe UI"/>
              </a:rPr>
              <a:t>  Instructors can't easily see who is struggling or who copied.</a:t>
            </a:r>
          </a:p>
        </p:txBody>
      </p:sp>
      <p:sp>
        <p:nvSpPr>
          <p:cNvPr id="9" name="Rounded Rectangle 8"/>
          <p:cNvSpPr/>
          <p:nvPr/>
        </p:nvSpPr>
        <p:spPr>
          <a:xfrm>
            <a:off x="6263640" y="1463040"/>
            <a:ext cx="5394960" cy="4480560"/>
          </a:xfrm>
          <a:prstGeom prst="roundRect">
            <a:avLst>
              <a:gd name="adj" fmla="val 10000"/>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92240" y="1645920"/>
            <a:ext cx="5029200" cy="457200"/>
          </a:xfrm>
          <a:prstGeom prst="rect">
            <a:avLst/>
          </a:prstGeom>
          <a:noFill/>
        </p:spPr>
        <p:txBody>
          <a:bodyPr wrap="square" anchor="t" lIns="27432" rIns="27432">
            <a:spAutoFit/>
          </a:bodyPr>
          <a:lstStyle/>
          <a:p>
            <a:pPr algn="l">
              <a:lnSpc>
                <a:spcPct val="112000"/>
              </a:lnSpc>
            </a:pPr>
            <a:r>
              <a:rPr sz="1900" b="1">
                <a:solidFill>
                  <a:srgbClr val="141C2E"/>
                </a:solidFill>
                <a:latin typeface="Segoe UI Semibold"/>
              </a:rPr>
              <a:t>What we wanted instead</a:t>
            </a:r>
          </a:p>
        </p:txBody>
      </p:sp>
      <p:sp>
        <p:nvSpPr>
          <p:cNvPr id="11" name="TextBox 10"/>
          <p:cNvSpPr txBox="1"/>
          <p:nvPr/>
        </p:nvSpPr>
        <p:spPr>
          <a:xfrm>
            <a:off x="6492240" y="2240280"/>
            <a:ext cx="5029200" cy="3657600"/>
          </a:xfrm>
          <a:prstGeom prst="rect">
            <a:avLst/>
          </a:prstGeom>
          <a:noFill/>
        </p:spPr>
        <p:txBody>
          <a:bodyPr wrap="square">
            <a:spAutoFit/>
          </a:bodyPr>
          <a:lstStyle/>
          <a:p>
            <a:pPr>
              <a:lnSpc>
                <a:spcPct val="110000"/>
              </a:lnSpc>
              <a:spcAft>
                <a:spcPts val="700"/>
              </a:spcAft>
            </a:pPr>
            <a:r>
              <a:rPr sz="1500" b="1">
                <a:solidFill>
                  <a:srgbClr val="16794A"/>
                </a:solidFill>
                <a:latin typeface="Segoe UI"/>
              </a:rPr>
              <a:t>•  </a:t>
            </a:r>
            <a:r>
              <a:rPr sz="1500" b="1">
                <a:solidFill>
                  <a:srgbClr val="141C2E"/>
                </a:solidFill>
                <a:latin typeface="Segoe UI Semibold"/>
              </a:rPr>
              <a:t>Feedback in about a minute,</a:t>
            </a:r>
            <a:r>
              <a:rPr sz="1500" b="0">
                <a:solidFill>
                  <a:srgbClr val="4A5468"/>
                </a:solidFill>
                <a:latin typeface="Segoe UI"/>
              </a:rPr>
              <a:t>  with the file and the fix.</a:t>
            </a:r>
          </a:p>
          <a:p>
            <a:pPr>
              <a:lnSpc>
                <a:spcPct val="110000"/>
              </a:lnSpc>
              <a:spcAft>
                <a:spcPts val="700"/>
              </a:spcAft>
            </a:pPr>
            <a:r>
              <a:rPr sz="1500" b="1">
                <a:solidFill>
                  <a:srgbClr val="16794A"/>
                </a:solidFill>
                <a:latin typeface="Segoe UI"/>
              </a:rPr>
              <a:t>•  </a:t>
            </a:r>
            <a:r>
              <a:rPr sz="1500" b="1">
                <a:solidFill>
                  <a:srgbClr val="141C2E"/>
                </a:solidFill>
                <a:latin typeface="Segoe UI Semibold"/>
              </a:rPr>
              <a:t>Reproducible scores:</a:t>
            </a:r>
            <a:r>
              <a:rPr sz="1500" b="0">
                <a:solidFill>
                  <a:srgbClr val="4A5468"/>
                </a:solidFill>
                <a:latin typeface="Segoe UI"/>
              </a:rPr>
              <a:t>  the total is computed in code from published weights.</a:t>
            </a:r>
          </a:p>
          <a:p>
            <a:pPr>
              <a:lnSpc>
                <a:spcPct val="110000"/>
              </a:lnSpc>
              <a:spcAft>
                <a:spcPts val="700"/>
              </a:spcAft>
            </a:pPr>
            <a:r>
              <a:rPr sz="1500" b="1">
                <a:solidFill>
                  <a:srgbClr val="16794A"/>
                </a:solidFill>
                <a:latin typeface="Segoe UI"/>
              </a:rPr>
              <a:t>•  </a:t>
            </a:r>
            <a:r>
              <a:rPr sz="1500" b="1">
                <a:solidFill>
                  <a:srgbClr val="141C2E"/>
                </a:solidFill>
                <a:latin typeface="Segoe UI Semibold"/>
              </a:rPr>
              <a:t>Students improve and resubmit;</a:t>
            </a:r>
            <a:r>
              <a:rPr sz="1500" b="0">
                <a:solidFill>
                  <a:srgbClr val="4A5468"/>
                </a:solidFill>
                <a:latin typeface="Segoe UI"/>
              </a:rPr>
              <a:t>  their best attempt counts.</a:t>
            </a:r>
          </a:p>
          <a:p>
            <a:pPr>
              <a:lnSpc>
                <a:spcPct val="110000"/>
              </a:lnSpc>
              <a:spcAft>
                <a:spcPts val="700"/>
              </a:spcAft>
            </a:pPr>
            <a:r>
              <a:rPr sz="1500" b="1">
                <a:solidFill>
                  <a:srgbClr val="16794A"/>
                </a:solidFill>
                <a:latin typeface="Segoe UI"/>
              </a:rPr>
              <a:t>•  </a:t>
            </a:r>
            <a:r>
              <a:rPr sz="1500" b="1">
                <a:solidFill>
                  <a:srgbClr val="141C2E"/>
                </a:solidFill>
                <a:latin typeface="Segoe UI Semibold"/>
              </a:rPr>
              <a:t>Instructors see the class:</a:t>
            </a:r>
            <a:r>
              <a:rPr sz="1500" b="0">
                <a:solidFill>
                  <a:srgbClr val="4A5468"/>
                </a:solidFill>
                <a:latin typeface="Segoe UI"/>
              </a:rPr>
              <a:t>  who needs help, the distribution, possible copying.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14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20040"/>
          </a:xfrm>
          <a:prstGeom prst="rect">
            <a:avLst/>
          </a:prstGeom>
          <a:noFill/>
        </p:spPr>
        <p:txBody>
          <a:bodyPr wrap="square" anchor="t" lIns="27432" rIns="27432">
            <a:spAutoFit/>
          </a:bodyPr>
          <a:lstStyle/>
          <a:p>
            <a:pPr algn="l">
              <a:lnSpc>
                <a:spcPct val="112000"/>
              </a:lnSpc>
            </a:pPr>
            <a:r>
              <a:rPr sz="1200" b="0">
                <a:solidFill>
                  <a:srgbClr val="7F899B"/>
                </a:solidFill>
                <a:latin typeface="Segoe UI"/>
              </a:rPr>
              <a:t>Overview</a:t>
            </a:r>
          </a:p>
        </p:txBody>
      </p:sp>
      <p:sp>
        <p:nvSpPr>
          <p:cNvPr id="4" name="TextBox 3"/>
          <p:cNvSpPr txBox="1"/>
          <p:nvPr/>
        </p:nvSpPr>
        <p:spPr>
          <a:xfrm>
            <a:off x="548640" y="548640"/>
            <a:ext cx="11155680" cy="731520"/>
          </a:xfrm>
          <a:prstGeom prst="rect">
            <a:avLst/>
          </a:prstGeom>
          <a:noFill/>
        </p:spPr>
        <p:txBody>
          <a:bodyPr wrap="square" anchor="t" lIns="27432" rIns="27432">
            <a:spAutoFit/>
          </a:bodyPr>
          <a:lstStyle/>
          <a:p>
            <a:pPr algn="l">
              <a:lnSpc>
                <a:spcPct val="112000"/>
              </a:lnSpc>
            </a:pPr>
            <a:r>
              <a:rPr sz="2800" b="1">
                <a:solidFill>
                  <a:srgbClr val="141C2E"/>
                </a:solidFill>
                <a:latin typeface="Segoe UI Semibold"/>
              </a:rPr>
              <a:t>What AutoGrader+ is</a:t>
            </a:r>
          </a:p>
        </p:txBody>
      </p:sp>
      <p:sp>
        <p:nvSpPr>
          <p:cNvPr id="5" name="TextBox 4"/>
          <p:cNvSpPr txBox="1"/>
          <p:nvPr/>
        </p:nvSpPr>
        <p:spPr>
          <a:xfrm>
            <a:off x="9875520" y="6419088"/>
            <a:ext cx="1920240" cy="274320"/>
          </a:xfrm>
          <a:prstGeom prst="rect">
            <a:avLst/>
          </a:prstGeom>
          <a:noFill/>
        </p:spPr>
        <p:txBody>
          <a:bodyPr wrap="square" anchor="t" lIns="27432" rIns="27432">
            <a:spAutoFit/>
          </a:bodyPr>
          <a:lstStyle/>
          <a:p>
            <a:pPr algn="r">
              <a:lnSpc>
                <a:spcPct val="112000"/>
              </a:lnSpc>
            </a:pPr>
            <a:r>
              <a:rPr sz="1000" b="0">
                <a:solidFill>
                  <a:srgbClr val="7F899B"/>
                </a:solidFill>
                <a:latin typeface="Segoe UI"/>
              </a:rPr>
              <a:t>AutoGrader+   3 / 19</a:t>
            </a:r>
          </a:p>
        </p:txBody>
      </p:sp>
      <p:sp>
        <p:nvSpPr>
          <p:cNvPr id="6" name="Rounded Rectangle 5"/>
          <p:cNvSpPr/>
          <p:nvPr/>
        </p:nvSpPr>
        <p:spPr>
          <a:xfrm>
            <a:off x="548640" y="1508760"/>
            <a:ext cx="3566160" cy="2194560"/>
          </a:xfrm>
          <a:prstGeom prst="roundRect">
            <a:avLst>
              <a:gd name="adj" fmla="val 10000"/>
            </a:avLst>
          </a:prstGeom>
          <a:solidFill>
            <a:srgbClr val="FFFFFF"/>
          </a:solidFill>
          <a:ln w="22225">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141C2E"/>
                </a:solidFill>
                <a:latin typeface="Segoe UI Semibold"/>
              </a:rPr>
              <a:t>Grading engine</a:t>
            </a:r>
          </a:p>
          <a:p>
            <a:pPr algn="ctr"/>
            <a:r>
              <a:rPr sz="1300" b="0">
                <a:solidFill>
                  <a:srgbClr val="4A5468"/>
                </a:solidFill>
                <a:latin typeface="Segoe UI"/>
              </a:rPr>
              <a:t>5 specialist reviewers run in parallel</a:t>
            </a:r>
          </a:p>
          <a:p>
            <a:pPr algn="ctr"/>
            <a:r>
              <a:rPr sz="1300" b="0">
                <a:solidFill>
                  <a:srgbClr val="4A5468"/>
                </a:solidFill>
                <a:latin typeface="Segoe UI"/>
              </a:rPr>
              <a:t>1 judge calibrates and explains</a:t>
            </a:r>
          </a:p>
          <a:p>
            <a:pPr algn="ctr"/>
            <a:r>
              <a:rPr sz="1300" b="0">
                <a:solidFill>
                  <a:srgbClr val="4A5468"/>
                </a:solidFill>
                <a:latin typeface="Segoe UI"/>
              </a:rPr>
              <a:t>score, priorities, learning path</a:t>
            </a:r>
          </a:p>
        </p:txBody>
      </p:sp>
      <p:sp>
        <p:nvSpPr>
          <p:cNvPr id="7" name="Rounded Rectangle 6"/>
          <p:cNvSpPr/>
          <p:nvPr/>
        </p:nvSpPr>
        <p:spPr>
          <a:xfrm>
            <a:off x="4343400" y="1508760"/>
            <a:ext cx="3566160" cy="2194560"/>
          </a:xfrm>
          <a:prstGeom prst="roundRect">
            <a:avLst>
              <a:gd name="adj" fmla="val 10000"/>
            </a:avLst>
          </a:prstGeom>
          <a:solidFill>
            <a:srgbClr val="FFFFFF"/>
          </a:solidFill>
          <a:ln w="22225">
            <a:solidFill>
              <a:srgbClr val="214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141C2E"/>
                </a:solidFill>
                <a:latin typeface="Segoe UI Semibold"/>
              </a:rPr>
              <a:t>Student view</a:t>
            </a:r>
          </a:p>
          <a:p>
            <a:pPr algn="ctr"/>
            <a:r>
              <a:rPr sz="1300" b="0">
                <a:solidFill>
                  <a:srgbClr val="4A5468"/>
                </a:solidFill>
                <a:latin typeface="Segoe UI"/>
              </a:rPr>
              <a:t>assignments with visible rubrics</a:t>
            </a:r>
          </a:p>
          <a:p>
            <a:pPr algn="ctr"/>
            <a:r>
              <a:rPr sz="1300" b="0">
                <a:solidFill>
                  <a:srgbClr val="4A5468"/>
                </a:solidFill>
                <a:latin typeface="Segoe UI"/>
              </a:rPr>
              <a:t>live progress, detailed feedback</a:t>
            </a:r>
          </a:p>
          <a:p>
            <a:pPr algn="ctr"/>
            <a:r>
              <a:rPr sz="1300" b="0">
                <a:solidFill>
                  <a:srgbClr val="4A5468"/>
                </a:solidFill>
                <a:latin typeface="Segoe UI"/>
              </a:rPr>
              <a:t>dashboard, XP, labs</a:t>
            </a:r>
          </a:p>
        </p:txBody>
      </p:sp>
      <p:sp>
        <p:nvSpPr>
          <p:cNvPr id="8" name="Rounded Rectangle 7"/>
          <p:cNvSpPr/>
          <p:nvPr/>
        </p:nvSpPr>
        <p:spPr>
          <a:xfrm>
            <a:off x="8138160" y="1508760"/>
            <a:ext cx="3566160" cy="2194560"/>
          </a:xfrm>
          <a:prstGeom prst="roundRect">
            <a:avLst>
              <a:gd name="adj" fmla="val 10000"/>
            </a:avLst>
          </a:prstGeom>
          <a:solidFill>
            <a:srgbClr val="FFFFFF"/>
          </a:solidFill>
          <a:ln w="22225">
            <a:solidFill>
              <a:srgbClr val="C430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141C2E"/>
                </a:solidFill>
                <a:latin typeface="Segoe UI Semibold"/>
              </a:rPr>
              <a:t>Instructor view</a:t>
            </a:r>
          </a:p>
          <a:p>
            <a:pPr algn="ctr"/>
            <a:r>
              <a:rPr sz="1300" b="0">
                <a:solidFill>
                  <a:srgbClr val="4A5468"/>
                </a:solidFill>
                <a:latin typeface="Segoe UI"/>
              </a:rPr>
              <a:t>what needs attention, gradebook</a:t>
            </a:r>
          </a:p>
          <a:p>
            <a:pPr algn="ctr"/>
            <a:r>
              <a:rPr sz="1300" b="0">
                <a:solidFill>
                  <a:srgbClr val="4A5468"/>
                </a:solidFill>
                <a:latin typeface="Segoe UI"/>
              </a:rPr>
              <a:t>assignment analytics, copy detection</a:t>
            </a:r>
          </a:p>
          <a:p>
            <a:pPr algn="ctr"/>
            <a:r>
              <a:rPr sz="1300" b="0">
                <a:solidFill>
                  <a:srgbClr val="4A5468"/>
                </a:solidFill>
                <a:latin typeface="Segoe UI"/>
              </a:rPr>
              <a:t>grade adjustment, re-runs</a:t>
            </a:r>
          </a:p>
        </p:txBody>
      </p:sp>
      <p:sp>
        <p:nvSpPr>
          <p:cNvPr id="9" name="TextBox 8"/>
          <p:cNvSpPr txBox="1"/>
          <p:nvPr/>
        </p:nvSpPr>
        <p:spPr>
          <a:xfrm>
            <a:off x="548640" y="4069080"/>
            <a:ext cx="11155680" cy="365760"/>
          </a:xfrm>
          <a:prstGeom prst="rect">
            <a:avLst/>
          </a:prstGeom>
          <a:noFill/>
        </p:spPr>
        <p:txBody>
          <a:bodyPr wrap="square" anchor="t" lIns="27432" rIns="27432">
            <a:spAutoFit/>
          </a:bodyPr>
          <a:lstStyle/>
          <a:p>
            <a:pPr algn="l">
              <a:lnSpc>
                <a:spcPct val="112000"/>
              </a:lnSpc>
            </a:pPr>
            <a:r>
              <a:rPr sz="1700" b="1">
                <a:solidFill>
                  <a:srgbClr val="141C2E"/>
                </a:solidFill>
                <a:latin typeface="Segoe UI Semibold"/>
              </a:rPr>
              <a:t>Five reviewers, one area each</a:t>
            </a:r>
          </a:p>
        </p:txBody>
      </p:sp>
      <p:sp>
        <p:nvSpPr>
          <p:cNvPr id="10" name="Rounded Rectangle 9"/>
          <p:cNvSpPr/>
          <p:nvPr/>
        </p:nvSpPr>
        <p:spPr>
          <a:xfrm>
            <a:off x="548640" y="4526280"/>
            <a:ext cx="2103120" cy="1143000"/>
          </a:xfrm>
          <a:prstGeom prst="roundRect">
            <a:avLst>
              <a:gd name="adj" fmla="val 10000"/>
            </a:avLst>
          </a:prstGeom>
          <a:solidFill>
            <a:srgbClr val="F1F3F6"/>
          </a:solidFill>
          <a:ln w="12700">
            <a:solidFill>
              <a:srgbClr val="F1F3F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41C2E"/>
                </a:solidFill>
                <a:latin typeface="Segoe UI Semibold"/>
              </a:rPr>
              <a:t>Code quality</a:t>
            </a:r>
          </a:p>
          <a:p>
            <a:pPr algn="ctr"/>
            <a:r>
              <a:rPr sz="1100" b="0">
                <a:solidFill>
                  <a:srgbClr val="4A5468"/>
                </a:solidFill>
                <a:latin typeface="Segoe UI"/>
              </a:rPr>
              <a:t>readable, well-structured code</a:t>
            </a:r>
          </a:p>
        </p:txBody>
      </p:sp>
      <p:sp>
        <p:nvSpPr>
          <p:cNvPr id="11" name="Rounded Rectangle 10"/>
          <p:cNvSpPr/>
          <p:nvPr/>
        </p:nvSpPr>
        <p:spPr>
          <a:xfrm>
            <a:off x="2807208" y="4526280"/>
            <a:ext cx="2103120" cy="1143000"/>
          </a:xfrm>
          <a:prstGeom prst="roundRect">
            <a:avLst>
              <a:gd name="adj" fmla="val 10000"/>
            </a:avLst>
          </a:prstGeom>
          <a:solidFill>
            <a:srgbClr val="F1F3F6"/>
          </a:solidFill>
          <a:ln w="12700">
            <a:solidFill>
              <a:srgbClr val="F1F3F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41C2E"/>
                </a:solidFill>
                <a:latin typeface="Segoe UI Semibold"/>
              </a:rPr>
              <a:t>Architecture</a:t>
            </a:r>
          </a:p>
          <a:p>
            <a:pPr algn="ctr"/>
            <a:r>
              <a:rPr sz="1100" b="0">
                <a:solidFill>
                  <a:srgbClr val="4A5468"/>
                </a:solidFill>
                <a:latin typeface="Segoe UI"/>
              </a:rPr>
              <a:t>layers, coupling, API and DB design</a:t>
            </a:r>
          </a:p>
        </p:txBody>
      </p:sp>
      <p:sp>
        <p:nvSpPr>
          <p:cNvPr id="12" name="Rounded Rectangle 11"/>
          <p:cNvSpPr/>
          <p:nvPr/>
        </p:nvSpPr>
        <p:spPr>
          <a:xfrm>
            <a:off x="5065776" y="4526280"/>
            <a:ext cx="2103120" cy="1143000"/>
          </a:xfrm>
          <a:prstGeom prst="roundRect">
            <a:avLst>
              <a:gd name="adj" fmla="val 10000"/>
            </a:avLst>
          </a:prstGeom>
          <a:solidFill>
            <a:srgbClr val="F1F3F6"/>
          </a:solidFill>
          <a:ln w="12700">
            <a:solidFill>
              <a:srgbClr val="F1F3F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41C2E"/>
                </a:solidFill>
                <a:latin typeface="Segoe UI Semibold"/>
              </a:rPr>
              <a:t>Security</a:t>
            </a:r>
          </a:p>
          <a:p>
            <a:pPr algn="ctr"/>
            <a:r>
              <a:rPr sz="1100" b="0">
                <a:solidFill>
                  <a:srgbClr val="4A5468"/>
                </a:solidFill>
                <a:latin typeface="Segoe UI"/>
              </a:rPr>
              <a:t>OWASP Top 10, secrets</a:t>
            </a:r>
          </a:p>
        </p:txBody>
      </p:sp>
      <p:sp>
        <p:nvSpPr>
          <p:cNvPr id="13" name="Rounded Rectangle 12"/>
          <p:cNvSpPr/>
          <p:nvPr/>
        </p:nvSpPr>
        <p:spPr>
          <a:xfrm>
            <a:off x="7324344" y="4526280"/>
            <a:ext cx="2103120" cy="1143000"/>
          </a:xfrm>
          <a:prstGeom prst="roundRect">
            <a:avLst>
              <a:gd name="adj" fmla="val 10000"/>
            </a:avLst>
          </a:prstGeom>
          <a:solidFill>
            <a:srgbClr val="F1F3F6"/>
          </a:solidFill>
          <a:ln w="12700">
            <a:solidFill>
              <a:srgbClr val="F1F3F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41C2E"/>
                </a:solidFill>
                <a:latin typeface="Segoe UI Semibold"/>
              </a:rPr>
              <a:t>Testing</a:t>
            </a:r>
          </a:p>
          <a:p>
            <a:pPr algn="ctr"/>
            <a:r>
              <a:rPr sz="1100" b="0">
                <a:solidFill>
                  <a:srgbClr val="4A5468"/>
                </a:solidFill>
                <a:latin typeface="Segoe UI"/>
              </a:rPr>
              <a:t>unit, integration, CI</a:t>
            </a:r>
          </a:p>
        </p:txBody>
      </p:sp>
      <p:sp>
        <p:nvSpPr>
          <p:cNvPr id="14" name="Rounded Rectangle 13"/>
          <p:cNvSpPr/>
          <p:nvPr/>
        </p:nvSpPr>
        <p:spPr>
          <a:xfrm>
            <a:off x="9582912" y="4526280"/>
            <a:ext cx="2103120" cy="1143000"/>
          </a:xfrm>
          <a:prstGeom prst="roundRect">
            <a:avLst>
              <a:gd name="adj" fmla="val 10000"/>
            </a:avLst>
          </a:prstGeom>
          <a:solidFill>
            <a:srgbClr val="F1F3F6"/>
          </a:solidFill>
          <a:ln w="12700">
            <a:solidFill>
              <a:srgbClr val="F1F3F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41C2E"/>
                </a:solidFill>
                <a:latin typeface="Segoe UI Semibold"/>
              </a:rPr>
              <a:t>Docker &amp; DevOps</a:t>
            </a:r>
          </a:p>
          <a:p>
            <a:pPr algn="ctr"/>
            <a:r>
              <a:rPr sz="1100" b="0">
                <a:solidFill>
                  <a:srgbClr val="4A5468"/>
                </a:solidFill>
                <a:latin typeface="Segoe UI"/>
              </a:rPr>
              <a:t>images, compose, delivery</a:t>
            </a:r>
          </a:p>
        </p:txBody>
      </p:sp>
      <p:sp>
        <p:nvSpPr>
          <p:cNvPr id="15" name="TextBox 14"/>
          <p:cNvSpPr txBox="1"/>
          <p:nvPr/>
        </p:nvSpPr>
        <p:spPr>
          <a:xfrm>
            <a:off x="548640" y="5852160"/>
            <a:ext cx="11155680" cy="457200"/>
          </a:xfrm>
          <a:prstGeom prst="rect">
            <a:avLst/>
          </a:prstGeom>
          <a:noFill/>
        </p:spPr>
        <p:txBody>
          <a:bodyPr wrap="square" anchor="t" lIns="27432" rIns="27432">
            <a:spAutoFit/>
          </a:bodyPr>
          <a:lstStyle/>
          <a:p>
            <a:pPr algn="l">
              <a:lnSpc>
                <a:spcPct val="112000"/>
              </a:lnSpc>
            </a:pPr>
            <a:r>
              <a:rPr sz="1300" b="0">
                <a:solidFill>
                  <a:srgbClr val="4A5468"/>
                </a:solidFill>
                <a:latin typeface="Segoe UI"/>
              </a:rPr>
              <a:t>Runs on free AI models (Groq: GPT-OSS 20B and 120B) or Claude, or with no API key on rule-based scorers through the same pipeline (heuristic mode).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14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20040"/>
          </a:xfrm>
          <a:prstGeom prst="rect">
            <a:avLst/>
          </a:prstGeom>
          <a:noFill/>
        </p:spPr>
        <p:txBody>
          <a:bodyPr wrap="square" anchor="t" lIns="27432" rIns="27432">
            <a:spAutoFit/>
          </a:bodyPr>
          <a:lstStyle/>
          <a:p>
            <a:pPr algn="l">
              <a:lnSpc>
                <a:spcPct val="112000"/>
              </a:lnSpc>
            </a:pPr>
            <a:r>
              <a:rPr sz="1200" b="0">
                <a:solidFill>
                  <a:srgbClr val="7F899B"/>
                </a:solidFill>
                <a:latin typeface="Segoe UI"/>
              </a:rPr>
              <a:t>Architecture</a:t>
            </a:r>
          </a:p>
        </p:txBody>
      </p:sp>
      <p:sp>
        <p:nvSpPr>
          <p:cNvPr id="4" name="TextBox 3"/>
          <p:cNvSpPr txBox="1"/>
          <p:nvPr/>
        </p:nvSpPr>
        <p:spPr>
          <a:xfrm>
            <a:off x="548640" y="548640"/>
            <a:ext cx="11155680" cy="731520"/>
          </a:xfrm>
          <a:prstGeom prst="rect">
            <a:avLst/>
          </a:prstGeom>
          <a:noFill/>
        </p:spPr>
        <p:txBody>
          <a:bodyPr wrap="square" anchor="t" lIns="27432" rIns="27432">
            <a:spAutoFit/>
          </a:bodyPr>
          <a:lstStyle/>
          <a:p>
            <a:pPr algn="l">
              <a:lnSpc>
                <a:spcPct val="112000"/>
              </a:lnSpc>
            </a:pPr>
            <a:r>
              <a:rPr sz="2800" b="1">
                <a:solidFill>
                  <a:srgbClr val="141C2E"/>
                </a:solidFill>
                <a:latin typeface="Segoe UI Semibold"/>
              </a:rPr>
              <a:t>System architecture</a:t>
            </a:r>
          </a:p>
        </p:txBody>
      </p:sp>
      <p:sp>
        <p:nvSpPr>
          <p:cNvPr id="5" name="TextBox 4"/>
          <p:cNvSpPr txBox="1"/>
          <p:nvPr/>
        </p:nvSpPr>
        <p:spPr>
          <a:xfrm>
            <a:off x="9875520" y="6419088"/>
            <a:ext cx="1920240" cy="274320"/>
          </a:xfrm>
          <a:prstGeom prst="rect">
            <a:avLst/>
          </a:prstGeom>
          <a:noFill/>
        </p:spPr>
        <p:txBody>
          <a:bodyPr wrap="square" anchor="t" lIns="27432" rIns="27432">
            <a:spAutoFit/>
          </a:bodyPr>
          <a:lstStyle/>
          <a:p>
            <a:pPr algn="r">
              <a:lnSpc>
                <a:spcPct val="112000"/>
              </a:lnSpc>
            </a:pPr>
            <a:r>
              <a:rPr sz="1000" b="0">
                <a:solidFill>
                  <a:srgbClr val="7F899B"/>
                </a:solidFill>
                <a:latin typeface="Segoe UI"/>
              </a:rPr>
              <a:t>AutoGrader+   4 / 19</a:t>
            </a:r>
          </a:p>
        </p:txBody>
      </p:sp>
      <p:sp>
        <p:nvSpPr>
          <p:cNvPr id="6" name="Rounded Rectangle 5"/>
          <p:cNvSpPr/>
          <p:nvPr/>
        </p:nvSpPr>
        <p:spPr>
          <a:xfrm>
            <a:off x="548640" y="2240280"/>
            <a:ext cx="2011680" cy="1097280"/>
          </a:xfrm>
          <a:prstGeom prst="roundRect">
            <a:avLst>
              <a:gd name="adj" fmla="val 10000"/>
            </a:avLst>
          </a:prstGeom>
          <a:solidFill>
            <a:srgbClr val="FFFFFF"/>
          </a:solidFill>
          <a:ln w="1905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41C2E"/>
                </a:solidFill>
                <a:latin typeface="Segoe UI Semibold"/>
              </a:rPr>
              <a:t>Browser / phone</a:t>
            </a:r>
          </a:p>
          <a:p>
            <a:pPr algn="ctr"/>
            <a:r>
              <a:rPr sz="1200" b="0">
                <a:solidFill>
                  <a:srgbClr val="4A5468"/>
                </a:solidFill>
                <a:latin typeface="Segoe UI"/>
              </a:rPr>
              <a:t>web app, PWA</a:t>
            </a:r>
          </a:p>
        </p:txBody>
      </p:sp>
      <p:cxnSp>
        <p:nvCxnSpPr>
          <p:cNvPr id="7" name="Connector 6"/>
          <p:cNvCxnSpPr/>
          <p:nvPr/>
        </p:nvCxnSpPr>
        <p:spPr>
          <a:xfrm>
            <a:off x="2560320" y="2788920"/>
            <a:ext cx="502920" cy="0"/>
          </a:xfrm>
          <a:prstGeom prst="line">
            <a:avLst/>
          </a:prstGeom>
          <a:ln w="19050">
            <a:solidFill>
              <a:srgbClr val="7F899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487168" y="2450592"/>
            <a:ext cx="731520" cy="274320"/>
          </a:xfrm>
          <a:prstGeom prst="rect">
            <a:avLst/>
          </a:prstGeom>
          <a:noFill/>
        </p:spPr>
        <p:txBody>
          <a:bodyPr wrap="square" anchor="t" lIns="27432" rIns="27432">
            <a:spAutoFit/>
          </a:bodyPr>
          <a:lstStyle/>
          <a:p>
            <a:pPr algn="ctr">
              <a:lnSpc>
                <a:spcPct val="112000"/>
              </a:lnSpc>
            </a:pPr>
            <a:r>
              <a:rPr sz="1000" b="0">
                <a:solidFill>
                  <a:srgbClr val="7F899B"/>
                </a:solidFill>
                <a:latin typeface="Segoe UI"/>
              </a:rPr>
              <a:t>HTTPS</a:t>
            </a:r>
          </a:p>
        </p:txBody>
      </p:sp>
      <p:sp>
        <p:nvSpPr>
          <p:cNvPr id="9" name="Rounded Rectangle 8"/>
          <p:cNvSpPr/>
          <p:nvPr/>
        </p:nvSpPr>
        <p:spPr>
          <a:xfrm>
            <a:off x="3063240" y="2240280"/>
            <a:ext cx="2286000" cy="1097280"/>
          </a:xfrm>
          <a:prstGeom prst="roundRect">
            <a:avLst>
              <a:gd name="adj" fmla="val 10000"/>
            </a:avLst>
          </a:prstGeom>
          <a:solidFill>
            <a:srgbClr val="FFFFFF"/>
          </a:solidFill>
          <a:ln w="1905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41C2E"/>
                </a:solidFill>
                <a:latin typeface="Segoe UI Semibold"/>
              </a:rPr>
              <a:t>Nginx load balancer</a:t>
            </a:r>
          </a:p>
          <a:p>
            <a:pPr algn="ctr"/>
            <a:r>
              <a:rPr sz="1200" b="0">
                <a:solidFill>
                  <a:srgbClr val="4A5468"/>
                </a:solidFill>
                <a:latin typeface="Segoe UI"/>
              </a:rPr>
              <a:t>round-robin, least-conn, sticky</a:t>
            </a:r>
          </a:p>
        </p:txBody>
      </p:sp>
      <p:cxnSp>
        <p:nvCxnSpPr>
          <p:cNvPr id="10" name="Connector 9"/>
          <p:cNvCxnSpPr/>
          <p:nvPr/>
        </p:nvCxnSpPr>
        <p:spPr>
          <a:xfrm flipV="1">
            <a:off x="5349240" y="1801368"/>
            <a:ext cx="548640" cy="987552"/>
          </a:xfrm>
          <a:prstGeom prst="line">
            <a:avLst/>
          </a:prstGeom>
          <a:ln w="19050">
            <a:solidFill>
              <a:srgbClr val="7F899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897880" y="1417320"/>
            <a:ext cx="2743200" cy="777240"/>
          </a:xfrm>
          <a:prstGeom prst="roundRect">
            <a:avLst>
              <a:gd name="adj" fmla="val 10000"/>
            </a:avLst>
          </a:prstGeom>
          <a:solidFill>
            <a:srgbClr val="FFFFFF"/>
          </a:solidFill>
          <a:ln w="19050">
            <a:solidFill>
              <a:srgbClr val="214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41C2E"/>
                </a:solidFill>
                <a:latin typeface="Segoe UI Semibold"/>
              </a:rPr>
              <a:t>API replica 1</a:t>
            </a:r>
          </a:p>
          <a:p>
            <a:pPr algn="ctr"/>
            <a:r>
              <a:rPr sz="1000" b="0">
                <a:solidFill>
                  <a:srgbClr val="4A5468"/>
                </a:solidFill>
                <a:latin typeface="Segoe UI"/>
              </a:rPr>
              <a:t>FastAPI: REST + SSE + grading</a:t>
            </a:r>
          </a:p>
        </p:txBody>
      </p:sp>
      <p:cxnSp>
        <p:nvCxnSpPr>
          <p:cNvPr id="12" name="Connector 11"/>
          <p:cNvCxnSpPr/>
          <p:nvPr/>
        </p:nvCxnSpPr>
        <p:spPr>
          <a:xfrm flipV="1">
            <a:off x="5349240" y="2761488"/>
            <a:ext cx="548640" cy="27432"/>
          </a:xfrm>
          <a:prstGeom prst="line">
            <a:avLst/>
          </a:prstGeom>
          <a:ln w="19050">
            <a:solidFill>
              <a:srgbClr val="7F899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897880" y="2377440"/>
            <a:ext cx="2743200" cy="777240"/>
          </a:xfrm>
          <a:prstGeom prst="roundRect">
            <a:avLst>
              <a:gd name="adj" fmla="val 10000"/>
            </a:avLst>
          </a:prstGeom>
          <a:solidFill>
            <a:srgbClr val="FFFFFF"/>
          </a:solidFill>
          <a:ln w="19050">
            <a:solidFill>
              <a:srgbClr val="214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41C2E"/>
                </a:solidFill>
                <a:latin typeface="Segoe UI Semibold"/>
              </a:rPr>
              <a:t>API replica 2</a:t>
            </a:r>
          </a:p>
          <a:p>
            <a:pPr algn="ctr"/>
            <a:r>
              <a:rPr sz="1000" b="0">
                <a:solidFill>
                  <a:srgbClr val="4A5468"/>
                </a:solidFill>
                <a:latin typeface="Segoe UI"/>
              </a:rPr>
              <a:t>FastAPI: REST + SSE + grading</a:t>
            </a:r>
          </a:p>
        </p:txBody>
      </p:sp>
      <p:cxnSp>
        <p:nvCxnSpPr>
          <p:cNvPr id="14" name="Connector 13"/>
          <p:cNvCxnSpPr/>
          <p:nvPr/>
        </p:nvCxnSpPr>
        <p:spPr>
          <a:xfrm>
            <a:off x="5349240" y="2788920"/>
            <a:ext cx="548640" cy="932688"/>
          </a:xfrm>
          <a:prstGeom prst="line">
            <a:avLst/>
          </a:prstGeom>
          <a:ln w="19050">
            <a:solidFill>
              <a:srgbClr val="7F899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897880" y="3337560"/>
            <a:ext cx="2743200" cy="777240"/>
          </a:xfrm>
          <a:prstGeom prst="roundRect">
            <a:avLst>
              <a:gd name="adj" fmla="val 10000"/>
            </a:avLst>
          </a:prstGeom>
          <a:solidFill>
            <a:srgbClr val="FFFFFF"/>
          </a:solidFill>
          <a:ln w="19050">
            <a:solidFill>
              <a:srgbClr val="214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41C2E"/>
                </a:solidFill>
                <a:latin typeface="Segoe UI Semibold"/>
              </a:rPr>
              <a:t>API replica 3</a:t>
            </a:r>
          </a:p>
          <a:p>
            <a:pPr algn="ctr"/>
            <a:r>
              <a:rPr sz="1000" b="0">
                <a:solidFill>
                  <a:srgbClr val="4A5468"/>
                </a:solidFill>
                <a:latin typeface="Segoe UI"/>
              </a:rPr>
              <a:t>FastAPI: REST + SSE + grading</a:t>
            </a:r>
          </a:p>
        </p:txBody>
      </p:sp>
      <p:cxnSp>
        <p:nvCxnSpPr>
          <p:cNvPr id="16" name="Connector 15"/>
          <p:cNvCxnSpPr/>
          <p:nvPr/>
        </p:nvCxnSpPr>
        <p:spPr>
          <a:xfrm flipV="1">
            <a:off x="8641080" y="1554480"/>
            <a:ext cx="548640" cy="1234440"/>
          </a:xfrm>
          <a:prstGeom prst="line">
            <a:avLst/>
          </a:prstGeom>
          <a:ln w="19050">
            <a:solidFill>
              <a:srgbClr val="7F899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189720" y="1188720"/>
            <a:ext cx="2468880" cy="749808"/>
          </a:xfrm>
          <a:prstGeom prst="roundRect">
            <a:avLst>
              <a:gd name="adj" fmla="val 10000"/>
            </a:avLst>
          </a:prstGeom>
          <a:solidFill>
            <a:srgbClr val="FFFFFF"/>
          </a:solidFill>
          <a:ln w="15875">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41C2E"/>
                </a:solidFill>
                <a:latin typeface="Segoe UI Semibold"/>
              </a:rPr>
              <a:t>PostgreSQL</a:t>
            </a:r>
          </a:p>
          <a:p>
            <a:pPr algn="ctr"/>
            <a:r>
              <a:rPr sz="1000" b="0">
                <a:solidFill>
                  <a:srgbClr val="4A5468"/>
                </a:solidFill>
                <a:latin typeface="Segoe UI"/>
              </a:rPr>
              <a:t>accounts, grades, reports</a:t>
            </a:r>
          </a:p>
        </p:txBody>
      </p:sp>
      <p:cxnSp>
        <p:nvCxnSpPr>
          <p:cNvPr id="18" name="Connector 17"/>
          <p:cNvCxnSpPr/>
          <p:nvPr/>
        </p:nvCxnSpPr>
        <p:spPr>
          <a:xfrm flipV="1">
            <a:off x="8641080" y="2423160"/>
            <a:ext cx="548640" cy="365760"/>
          </a:xfrm>
          <a:prstGeom prst="line">
            <a:avLst/>
          </a:prstGeom>
          <a:ln w="19050">
            <a:solidFill>
              <a:srgbClr val="7F899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189720" y="2057400"/>
            <a:ext cx="2468880" cy="749808"/>
          </a:xfrm>
          <a:prstGeom prst="roundRect">
            <a:avLst>
              <a:gd name="adj" fmla="val 10000"/>
            </a:avLst>
          </a:prstGeom>
          <a:solidFill>
            <a:srgbClr val="FFFFFF"/>
          </a:solidFill>
          <a:ln w="15875">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41C2E"/>
                </a:solidFill>
                <a:latin typeface="Segoe UI Semibold"/>
              </a:rPr>
              <a:t>GitHub</a:t>
            </a:r>
          </a:p>
          <a:p>
            <a:pPr algn="ctr"/>
            <a:r>
              <a:rPr sz="1000" b="0">
                <a:solidFill>
                  <a:srgbClr val="4A5468"/>
                </a:solidFill>
                <a:latin typeface="Segoe UI"/>
              </a:rPr>
              <a:t>shallow clone</a:t>
            </a:r>
          </a:p>
        </p:txBody>
      </p:sp>
      <p:cxnSp>
        <p:nvCxnSpPr>
          <p:cNvPr id="20" name="Connector 19"/>
          <p:cNvCxnSpPr/>
          <p:nvPr/>
        </p:nvCxnSpPr>
        <p:spPr>
          <a:xfrm>
            <a:off x="8641080" y="2788920"/>
            <a:ext cx="548640" cy="502920"/>
          </a:xfrm>
          <a:prstGeom prst="line">
            <a:avLst/>
          </a:prstGeom>
          <a:ln w="19050">
            <a:solidFill>
              <a:srgbClr val="7F899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189720" y="2926080"/>
            <a:ext cx="2468880" cy="749808"/>
          </a:xfrm>
          <a:prstGeom prst="roundRect">
            <a:avLst>
              <a:gd name="adj" fmla="val 10000"/>
            </a:avLst>
          </a:prstGeom>
          <a:solidFill>
            <a:srgbClr val="FFFFFF"/>
          </a:solidFill>
          <a:ln w="15875">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41C2E"/>
                </a:solidFill>
                <a:latin typeface="Segoe UI Semibold"/>
              </a:rPr>
              <a:t>AI model API</a:t>
            </a:r>
          </a:p>
          <a:p>
            <a:pPr algn="ctr"/>
            <a:r>
              <a:rPr sz="1000" b="0">
                <a:solidFill>
                  <a:srgbClr val="4A5468"/>
                </a:solidFill>
                <a:latin typeface="Segoe UI"/>
              </a:rPr>
              <a:t>5 reviewers + judge</a:t>
            </a:r>
          </a:p>
        </p:txBody>
      </p:sp>
      <p:cxnSp>
        <p:nvCxnSpPr>
          <p:cNvPr id="22" name="Connector 21"/>
          <p:cNvCxnSpPr/>
          <p:nvPr/>
        </p:nvCxnSpPr>
        <p:spPr>
          <a:xfrm>
            <a:off x="8641080" y="2788920"/>
            <a:ext cx="548640" cy="1371600"/>
          </a:xfrm>
          <a:prstGeom prst="line">
            <a:avLst/>
          </a:prstGeom>
          <a:ln w="19050">
            <a:solidFill>
              <a:srgbClr val="7F899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189720" y="3794759"/>
            <a:ext cx="2468880" cy="749808"/>
          </a:xfrm>
          <a:prstGeom prst="roundRect">
            <a:avLst>
              <a:gd name="adj" fmla="val 10000"/>
            </a:avLst>
          </a:prstGeom>
          <a:solidFill>
            <a:srgbClr val="FFFFFF"/>
          </a:solidFill>
          <a:ln w="15875">
            <a:solidFill>
              <a:srgbClr val="7F899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41C2E"/>
                </a:solidFill>
                <a:latin typeface="Segoe UI Semibold"/>
              </a:rPr>
              <a:t>Docker sandbox</a:t>
            </a:r>
          </a:p>
          <a:p>
            <a:pPr algn="ctr"/>
            <a:r>
              <a:rPr sz="1000" b="0">
                <a:solidFill>
                  <a:srgbClr val="4A5468"/>
                </a:solidFill>
                <a:latin typeface="Segoe UI"/>
              </a:rPr>
              <a:t>optional build + run</a:t>
            </a:r>
          </a:p>
        </p:txBody>
      </p:sp>
      <p:sp>
        <p:nvSpPr>
          <p:cNvPr id="24" name="Rounded Rectangle 23"/>
          <p:cNvSpPr/>
          <p:nvPr/>
        </p:nvSpPr>
        <p:spPr>
          <a:xfrm>
            <a:off x="548640" y="4709160"/>
            <a:ext cx="11109960" cy="1325880"/>
          </a:xfrm>
          <a:prstGeom prst="roundRect">
            <a:avLst>
              <a:gd name="adj" fmla="val 10000"/>
            </a:avLst>
          </a:prstGeom>
          <a:solidFill>
            <a:srgbClr val="F1F3F6"/>
          </a:solidFill>
          <a:ln w="12700">
            <a:solidFill>
              <a:srgbClr val="F1F3F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31520" y="4800600"/>
            <a:ext cx="10789920" cy="1188720"/>
          </a:xfrm>
          <a:prstGeom prst="rect">
            <a:avLst/>
          </a:prstGeom>
          <a:noFill/>
        </p:spPr>
        <p:txBody>
          <a:bodyPr wrap="square">
            <a:spAutoFit/>
          </a:bodyPr>
          <a:lstStyle/>
          <a:p>
            <a:pPr>
              <a:lnSpc>
                <a:spcPct val="110000"/>
              </a:lnSpc>
              <a:spcAft>
                <a:spcPts val="400"/>
              </a:spcAft>
            </a:pPr>
            <a:r>
              <a:rPr sz="1300" b="1">
                <a:solidFill>
                  <a:srgbClr val="2140D9"/>
                </a:solidFill>
                <a:latin typeface="Segoe UI"/>
              </a:rPr>
              <a:t>•  </a:t>
            </a:r>
            <a:r>
              <a:rPr sz="1300" b="1">
                <a:solidFill>
                  <a:srgbClr val="141C2E"/>
                </a:solidFill>
                <a:latin typeface="Segoe UI Semibold"/>
              </a:rPr>
              <a:t>Stateless replicas:</a:t>
            </a:r>
            <a:r>
              <a:rPr sz="1300" b="0">
                <a:solidFill>
                  <a:srgbClr val="4A5468"/>
                </a:solidFill>
                <a:latin typeface="Segoe UI"/>
              </a:rPr>
              <a:t>  all shared state (users, sessions, submissions, reports) lives in PostgreSQL, so any replica serves any page.</a:t>
            </a:r>
          </a:p>
          <a:p>
            <a:pPr>
              <a:lnSpc>
                <a:spcPct val="110000"/>
              </a:lnSpc>
              <a:spcAft>
                <a:spcPts val="400"/>
              </a:spcAft>
            </a:pPr>
            <a:r>
              <a:rPr sz="1300" b="1">
                <a:solidFill>
                  <a:srgbClr val="2140D9"/>
                </a:solidFill>
                <a:latin typeface="Segoe UI"/>
              </a:rPr>
              <a:t>•  </a:t>
            </a:r>
            <a:r>
              <a:rPr sz="1300" b="1">
                <a:solidFill>
                  <a:srgbClr val="141C2E"/>
                </a:solidFill>
                <a:latin typeface="Segoe UI Semibold"/>
              </a:rPr>
              <a:t>Durable event log:</a:t>
            </a:r>
            <a:r>
              <a:rPr sz="1300" b="0">
                <a:solidFill>
                  <a:srgbClr val="4A5468"/>
                </a:solidFill>
                <a:latin typeface="Segoe UI"/>
              </a:rPr>
              <a:t>  every progress event is also stored in PostgreSQL, so any replica can stream any job (no sticky routing needed).</a:t>
            </a:r>
          </a:p>
          <a:p>
            <a:pPr>
              <a:lnSpc>
                <a:spcPct val="110000"/>
              </a:lnSpc>
              <a:spcAft>
                <a:spcPts val="400"/>
              </a:spcAft>
            </a:pPr>
            <a:r>
              <a:rPr sz="1300" b="1">
                <a:solidFill>
                  <a:srgbClr val="2140D9"/>
                </a:solidFill>
                <a:latin typeface="Segoe UI"/>
              </a:rPr>
              <a:t>•  </a:t>
            </a:r>
            <a:r>
              <a:rPr sz="1300" b="1">
                <a:solidFill>
                  <a:srgbClr val="141C2E"/>
                </a:solidFill>
                <a:latin typeface="Segoe UI Semibold"/>
              </a:rPr>
              <a:t>Deployed:</a:t>
            </a:r>
            <a:r>
              <a:rPr sz="1300" b="0">
                <a:solidFill>
                  <a:srgbClr val="4A5468"/>
                </a:solidFill>
                <a:latin typeface="Segoe UI"/>
              </a:rPr>
              <a:t>  one container on Render + Neon PostgreSQL; locally docker compose runs Nginx + 3 replicas + PostgreSQL.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14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20040"/>
          </a:xfrm>
          <a:prstGeom prst="rect">
            <a:avLst/>
          </a:prstGeom>
          <a:noFill/>
        </p:spPr>
        <p:txBody>
          <a:bodyPr wrap="square" anchor="t" lIns="27432" rIns="27432">
            <a:spAutoFit/>
          </a:bodyPr>
          <a:lstStyle/>
          <a:p>
            <a:pPr algn="l">
              <a:lnSpc>
                <a:spcPct val="112000"/>
              </a:lnSpc>
            </a:pPr>
            <a:r>
              <a:rPr sz="1200" b="0">
                <a:solidFill>
                  <a:srgbClr val="7F899B"/>
                </a:solidFill>
                <a:latin typeface="Segoe UI"/>
              </a:rPr>
              <a:t>Grading pipeline</a:t>
            </a:r>
          </a:p>
        </p:txBody>
      </p:sp>
      <p:sp>
        <p:nvSpPr>
          <p:cNvPr id="4" name="TextBox 3"/>
          <p:cNvSpPr txBox="1"/>
          <p:nvPr/>
        </p:nvSpPr>
        <p:spPr>
          <a:xfrm>
            <a:off x="548640" y="548640"/>
            <a:ext cx="11155680" cy="731520"/>
          </a:xfrm>
          <a:prstGeom prst="rect">
            <a:avLst/>
          </a:prstGeom>
          <a:noFill/>
        </p:spPr>
        <p:txBody>
          <a:bodyPr wrap="square" anchor="t" lIns="27432" rIns="27432">
            <a:spAutoFit/>
          </a:bodyPr>
          <a:lstStyle/>
          <a:p>
            <a:pPr algn="l">
              <a:lnSpc>
                <a:spcPct val="112000"/>
              </a:lnSpc>
            </a:pPr>
            <a:r>
              <a:rPr sz="2800" b="1">
                <a:solidFill>
                  <a:srgbClr val="141C2E"/>
                </a:solidFill>
                <a:latin typeface="Segoe UI Semibold"/>
              </a:rPr>
              <a:t>What happens to one submission</a:t>
            </a:r>
          </a:p>
        </p:txBody>
      </p:sp>
      <p:sp>
        <p:nvSpPr>
          <p:cNvPr id="5" name="TextBox 4"/>
          <p:cNvSpPr txBox="1"/>
          <p:nvPr/>
        </p:nvSpPr>
        <p:spPr>
          <a:xfrm>
            <a:off x="9875520" y="6419088"/>
            <a:ext cx="1920240" cy="274320"/>
          </a:xfrm>
          <a:prstGeom prst="rect">
            <a:avLst/>
          </a:prstGeom>
          <a:noFill/>
        </p:spPr>
        <p:txBody>
          <a:bodyPr wrap="square" anchor="t" lIns="27432" rIns="27432">
            <a:spAutoFit/>
          </a:bodyPr>
          <a:lstStyle/>
          <a:p>
            <a:pPr algn="r">
              <a:lnSpc>
                <a:spcPct val="112000"/>
              </a:lnSpc>
            </a:pPr>
            <a:r>
              <a:rPr sz="1000" b="0">
                <a:solidFill>
                  <a:srgbClr val="7F899B"/>
                </a:solidFill>
                <a:latin typeface="Segoe UI"/>
              </a:rPr>
              <a:t>AutoGrader+   5 / 19</a:t>
            </a:r>
          </a:p>
        </p:txBody>
      </p:sp>
      <p:sp>
        <p:nvSpPr>
          <p:cNvPr id="6" name="Rounded Rectangle 5"/>
          <p:cNvSpPr/>
          <p:nvPr/>
        </p:nvSpPr>
        <p:spPr>
          <a:xfrm>
            <a:off x="548640" y="1463040"/>
            <a:ext cx="566928" cy="566928"/>
          </a:xfrm>
          <a:prstGeom prst="roundRect">
            <a:avLst>
              <a:gd name="adj" fmla="val 50000"/>
            </a:avLst>
          </a:prstGeom>
          <a:solidFill>
            <a:srgbClr val="141C2E"/>
          </a:solidFill>
          <a:ln w="1270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Segoe UI Semibold"/>
              </a:rPr>
              <a:t>1</a:t>
            </a:r>
          </a:p>
        </p:txBody>
      </p:sp>
      <p:sp>
        <p:nvSpPr>
          <p:cNvPr id="7" name="TextBox 6"/>
          <p:cNvSpPr txBox="1"/>
          <p:nvPr/>
        </p:nvSpPr>
        <p:spPr>
          <a:xfrm>
            <a:off x="1298448" y="1426464"/>
            <a:ext cx="4663440" cy="365760"/>
          </a:xfrm>
          <a:prstGeom prst="rect">
            <a:avLst/>
          </a:prstGeom>
          <a:noFill/>
        </p:spPr>
        <p:txBody>
          <a:bodyPr wrap="square" anchor="t" lIns="27432" rIns="27432">
            <a:spAutoFit/>
          </a:bodyPr>
          <a:lstStyle/>
          <a:p>
            <a:pPr algn="l">
              <a:lnSpc>
                <a:spcPct val="112000"/>
              </a:lnSpc>
            </a:pPr>
            <a:r>
              <a:rPr sz="1600" b="1">
                <a:solidFill>
                  <a:srgbClr val="141C2E"/>
                </a:solidFill>
                <a:latin typeface="Segoe UI Semibold"/>
              </a:rPr>
              <a:t>Admission</a:t>
            </a:r>
          </a:p>
        </p:txBody>
      </p:sp>
      <p:sp>
        <p:nvSpPr>
          <p:cNvPr id="8" name="TextBox 7"/>
          <p:cNvSpPr txBox="1"/>
          <p:nvPr/>
        </p:nvSpPr>
        <p:spPr>
          <a:xfrm>
            <a:off x="1298448" y="1792224"/>
            <a:ext cx="4663440" cy="640080"/>
          </a:xfrm>
          <a:prstGeom prst="rect">
            <a:avLst/>
          </a:prstGeom>
          <a:noFill/>
        </p:spPr>
        <p:txBody>
          <a:bodyPr wrap="square" anchor="t" lIns="27432" rIns="27432">
            <a:spAutoFit/>
          </a:bodyPr>
          <a:lstStyle/>
          <a:p>
            <a:pPr algn="l">
              <a:lnSpc>
                <a:spcPct val="112000"/>
              </a:lnSpc>
            </a:pPr>
            <a:r>
              <a:rPr sz="1250" b="0">
                <a:solidFill>
                  <a:srgbClr val="4A5468"/>
                </a:solidFill>
                <a:latin typeface="Segoe UI"/>
              </a:rPr>
              <a:t>queue limit, single-flight de-duplication, submission recorded</a:t>
            </a:r>
          </a:p>
        </p:txBody>
      </p:sp>
      <p:sp>
        <p:nvSpPr>
          <p:cNvPr id="9" name="Rounded Rectangle 8"/>
          <p:cNvSpPr/>
          <p:nvPr/>
        </p:nvSpPr>
        <p:spPr>
          <a:xfrm>
            <a:off x="548640" y="2606040"/>
            <a:ext cx="566928" cy="566928"/>
          </a:xfrm>
          <a:prstGeom prst="roundRect">
            <a:avLst>
              <a:gd name="adj" fmla="val 50000"/>
            </a:avLst>
          </a:prstGeom>
          <a:solidFill>
            <a:srgbClr val="141C2E"/>
          </a:solidFill>
          <a:ln w="1270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Segoe UI Semibold"/>
              </a:rPr>
              <a:t>2</a:t>
            </a:r>
          </a:p>
        </p:txBody>
      </p:sp>
      <p:sp>
        <p:nvSpPr>
          <p:cNvPr id="10" name="TextBox 9"/>
          <p:cNvSpPr txBox="1"/>
          <p:nvPr/>
        </p:nvSpPr>
        <p:spPr>
          <a:xfrm>
            <a:off x="1298448" y="2569464"/>
            <a:ext cx="4663440" cy="365760"/>
          </a:xfrm>
          <a:prstGeom prst="rect">
            <a:avLst/>
          </a:prstGeom>
          <a:noFill/>
        </p:spPr>
        <p:txBody>
          <a:bodyPr wrap="square" anchor="t" lIns="27432" rIns="27432">
            <a:spAutoFit/>
          </a:bodyPr>
          <a:lstStyle/>
          <a:p>
            <a:pPr algn="l">
              <a:lnSpc>
                <a:spcPct val="112000"/>
              </a:lnSpc>
            </a:pPr>
            <a:r>
              <a:rPr sz="1600" b="1">
                <a:solidFill>
                  <a:srgbClr val="141C2E"/>
                </a:solidFill>
                <a:latin typeface="Segoe UI Semibold"/>
              </a:rPr>
              <a:t>Resolve + clone</a:t>
            </a:r>
          </a:p>
        </p:txBody>
      </p:sp>
      <p:sp>
        <p:nvSpPr>
          <p:cNvPr id="11" name="TextBox 10"/>
          <p:cNvSpPr txBox="1"/>
          <p:nvPr/>
        </p:nvSpPr>
        <p:spPr>
          <a:xfrm>
            <a:off x="1298448" y="2935224"/>
            <a:ext cx="4663440" cy="640080"/>
          </a:xfrm>
          <a:prstGeom prst="rect">
            <a:avLst/>
          </a:prstGeom>
          <a:noFill/>
        </p:spPr>
        <p:txBody>
          <a:bodyPr wrap="square" anchor="t" lIns="27432" rIns="27432">
            <a:spAutoFit/>
          </a:bodyPr>
          <a:lstStyle/>
          <a:p>
            <a:pPr algn="l">
              <a:lnSpc>
                <a:spcPct val="112000"/>
              </a:lnSpc>
            </a:pPr>
            <a:r>
              <a:rPr sz="1250" b="0">
                <a:solidFill>
                  <a:srgbClr val="4A5468"/>
                </a:solidFill>
                <a:latin typeface="Segoe UI"/>
              </a:rPr>
              <a:t>git ls-remote and a shallow clone start in parallel</a:t>
            </a:r>
          </a:p>
        </p:txBody>
      </p:sp>
      <p:sp>
        <p:nvSpPr>
          <p:cNvPr id="12" name="Rounded Rectangle 11"/>
          <p:cNvSpPr/>
          <p:nvPr/>
        </p:nvSpPr>
        <p:spPr>
          <a:xfrm>
            <a:off x="548640" y="3749039"/>
            <a:ext cx="566928" cy="566928"/>
          </a:xfrm>
          <a:prstGeom prst="roundRect">
            <a:avLst>
              <a:gd name="adj" fmla="val 50000"/>
            </a:avLst>
          </a:prstGeom>
          <a:solidFill>
            <a:srgbClr val="141C2E"/>
          </a:solidFill>
          <a:ln w="1270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Segoe UI Semibold"/>
              </a:rPr>
              <a:t>3</a:t>
            </a:r>
          </a:p>
        </p:txBody>
      </p:sp>
      <p:sp>
        <p:nvSpPr>
          <p:cNvPr id="13" name="TextBox 12"/>
          <p:cNvSpPr txBox="1"/>
          <p:nvPr/>
        </p:nvSpPr>
        <p:spPr>
          <a:xfrm>
            <a:off x="1298448" y="3712463"/>
            <a:ext cx="4663440" cy="365760"/>
          </a:xfrm>
          <a:prstGeom prst="rect">
            <a:avLst/>
          </a:prstGeom>
          <a:noFill/>
        </p:spPr>
        <p:txBody>
          <a:bodyPr wrap="square" anchor="t" lIns="27432" rIns="27432">
            <a:spAutoFit/>
          </a:bodyPr>
          <a:lstStyle/>
          <a:p>
            <a:pPr algn="l">
              <a:lnSpc>
                <a:spcPct val="112000"/>
              </a:lnSpc>
            </a:pPr>
            <a:r>
              <a:rPr sz="1600" b="1">
                <a:solidFill>
                  <a:srgbClr val="141C2E"/>
                </a:solidFill>
                <a:latin typeface="Segoe UI Semibold"/>
              </a:rPr>
              <a:t>Cache lookup</a:t>
            </a:r>
          </a:p>
        </p:txBody>
      </p:sp>
      <p:sp>
        <p:nvSpPr>
          <p:cNvPr id="14" name="TextBox 13"/>
          <p:cNvSpPr txBox="1"/>
          <p:nvPr/>
        </p:nvSpPr>
        <p:spPr>
          <a:xfrm>
            <a:off x="1298448" y="4078224"/>
            <a:ext cx="4663440" cy="640080"/>
          </a:xfrm>
          <a:prstGeom prst="rect">
            <a:avLst/>
          </a:prstGeom>
          <a:noFill/>
        </p:spPr>
        <p:txBody>
          <a:bodyPr wrap="square" anchor="t" lIns="27432" rIns="27432">
            <a:spAutoFit/>
          </a:bodyPr>
          <a:lstStyle/>
          <a:p>
            <a:pPr algn="l">
              <a:lnSpc>
                <a:spcPct val="112000"/>
              </a:lnSpc>
            </a:pPr>
            <a:r>
              <a:rPr sz="1250" b="0">
                <a:solidFill>
                  <a:srgbClr val="4A5468"/>
                </a:solidFill>
                <a:latin typeface="Segoe UI"/>
              </a:rPr>
              <a:t>same commit, Dockerfile, rubric and models: report back in 1.2 s</a:t>
            </a:r>
          </a:p>
        </p:txBody>
      </p:sp>
      <p:sp>
        <p:nvSpPr>
          <p:cNvPr id="15" name="Rounded Rectangle 14"/>
          <p:cNvSpPr/>
          <p:nvPr/>
        </p:nvSpPr>
        <p:spPr>
          <a:xfrm>
            <a:off x="548640" y="4892040"/>
            <a:ext cx="566928" cy="566928"/>
          </a:xfrm>
          <a:prstGeom prst="roundRect">
            <a:avLst>
              <a:gd name="adj" fmla="val 50000"/>
            </a:avLst>
          </a:prstGeom>
          <a:solidFill>
            <a:srgbClr val="141C2E"/>
          </a:solidFill>
          <a:ln w="1270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Segoe UI Semibold"/>
              </a:rPr>
              <a:t>4</a:t>
            </a:r>
          </a:p>
        </p:txBody>
      </p:sp>
      <p:sp>
        <p:nvSpPr>
          <p:cNvPr id="16" name="TextBox 15"/>
          <p:cNvSpPr txBox="1"/>
          <p:nvPr/>
        </p:nvSpPr>
        <p:spPr>
          <a:xfrm>
            <a:off x="1298448" y="4855464"/>
            <a:ext cx="4663440" cy="365760"/>
          </a:xfrm>
          <a:prstGeom prst="rect">
            <a:avLst/>
          </a:prstGeom>
          <a:noFill/>
        </p:spPr>
        <p:txBody>
          <a:bodyPr wrap="square" anchor="t" lIns="27432" rIns="27432">
            <a:spAutoFit/>
          </a:bodyPr>
          <a:lstStyle/>
          <a:p>
            <a:pPr algn="l">
              <a:lnSpc>
                <a:spcPct val="112000"/>
              </a:lnSpc>
            </a:pPr>
            <a:r>
              <a:rPr sz="1600" b="1">
                <a:solidFill>
                  <a:srgbClr val="141C2E"/>
                </a:solidFill>
                <a:latin typeface="Segoe UI Semibold"/>
              </a:rPr>
              <a:t>Index</a:t>
            </a:r>
          </a:p>
        </p:txBody>
      </p:sp>
      <p:sp>
        <p:nvSpPr>
          <p:cNvPr id="17" name="TextBox 16"/>
          <p:cNvSpPr txBox="1"/>
          <p:nvPr/>
        </p:nvSpPr>
        <p:spPr>
          <a:xfrm>
            <a:off x="1298448" y="5221224"/>
            <a:ext cx="4663440" cy="640080"/>
          </a:xfrm>
          <a:prstGeom prst="rect">
            <a:avLst/>
          </a:prstGeom>
          <a:noFill/>
        </p:spPr>
        <p:txBody>
          <a:bodyPr wrap="square" anchor="t" lIns="27432" rIns="27432">
            <a:spAutoFit/>
          </a:bodyPr>
          <a:lstStyle/>
          <a:p>
            <a:pPr algn="l">
              <a:lnSpc>
                <a:spcPct val="112000"/>
              </a:lnSpc>
            </a:pPr>
            <a:r>
              <a:rPr sz="1250" b="0">
                <a:solidFill>
                  <a:srgbClr val="4A5468"/>
                </a:solidFill>
                <a:latin typeface="Segoe UI"/>
              </a:rPr>
              <a:t>one pass (~35 ms): languages, tests, CI, Dockerfiles, dependency graph, secret scan</a:t>
            </a:r>
          </a:p>
        </p:txBody>
      </p:sp>
      <p:sp>
        <p:nvSpPr>
          <p:cNvPr id="18" name="Rounded Rectangle 17"/>
          <p:cNvSpPr/>
          <p:nvPr/>
        </p:nvSpPr>
        <p:spPr>
          <a:xfrm>
            <a:off x="6172200" y="1463040"/>
            <a:ext cx="566928" cy="566928"/>
          </a:xfrm>
          <a:prstGeom prst="roundRect">
            <a:avLst>
              <a:gd name="adj" fmla="val 50000"/>
            </a:avLst>
          </a:prstGeom>
          <a:solidFill>
            <a:srgbClr val="141C2E"/>
          </a:solidFill>
          <a:ln w="1270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Segoe UI Semibold"/>
              </a:rPr>
              <a:t>5</a:t>
            </a:r>
          </a:p>
        </p:txBody>
      </p:sp>
      <p:sp>
        <p:nvSpPr>
          <p:cNvPr id="19" name="TextBox 18"/>
          <p:cNvSpPr txBox="1"/>
          <p:nvPr/>
        </p:nvSpPr>
        <p:spPr>
          <a:xfrm>
            <a:off x="6922008" y="1426464"/>
            <a:ext cx="4663440" cy="365760"/>
          </a:xfrm>
          <a:prstGeom prst="rect">
            <a:avLst/>
          </a:prstGeom>
          <a:noFill/>
        </p:spPr>
        <p:txBody>
          <a:bodyPr wrap="square" anchor="t" lIns="27432" rIns="27432">
            <a:spAutoFit/>
          </a:bodyPr>
          <a:lstStyle/>
          <a:p>
            <a:pPr algn="l">
              <a:lnSpc>
                <a:spcPct val="112000"/>
              </a:lnSpc>
            </a:pPr>
            <a:r>
              <a:rPr sz="1600" b="1">
                <a:solidFill>
                  <a:srgbClr val="141C2E"/>
                </a:solidFill>
                <a:latin typeface="Segoe UI Semibold"/>
              </a:rPr>
              <a:t>Docker</a:t>
            </a:r>
          </a:p>
        </p:txBody>
      </p:sp>
      <p:sp>
        <p:nvSpPr>
          <p:cNvPr id="20" name="TextBox 19"/>
          <p:cNvSpPr txBox="1"/>
          <p:nvPr/>
        </p:nvSpPr>
        <p:spPr>
          <a:xfrm>
            <a:off x="6922008" y="1792224"/>
            <a:ext cx="4663440" cy="640080"/>
          </a:xfrm>
          <a:prstGeom prst="rect">
            <a:avLst/>
          </a:prstGeom>
          <a:noFill/>
        </p:spPr>
        <p:txBody>
          <a:bodyPr wrap="square" anchor="t" lIns="27432" rIns="27432">
            <a:spAutoFit/>
          </a:bodyPr>
          <a:lstStyle/>
          <a:p>
            <a:pPr algn="l">
              <a:lnSpc>
                <a:spcPct val="112000"/>
              </a:lnSpc>
            </a:pPr>
            <a:r>
              <a:rPr sz="1250" b="0">
                <a:solidFill>
                  <a:srgbClr val="4A5468"/>
                </a:solidFill>
                <a:latin typeface="Segoe UI"/>
              </a:rPr>
              <a:t>20+ rule linter always; locked-down build and run optional</a:t>
            </a:r>
          </a:p>
        </p:txBody>
      </p:sp>
      <p:sp>
        <p:nvSpPr>
          <p:cNvPr id="21" name="Rounded Rectangle 20"/>
          <p:cNvSpPr/>
          <p:nvPr/>
        </p:nvSpPr>
        <p:spPr>
          <a:xfrm>
            <a:off x="6172200" y="2606040"/>
            <a:ext cx="566928" cy="566928"/>
          </a:xfrm>
          <a:prstGeom prst="roundRect">
            <a:avLst>
              <a:gd name="adj" fmla="val 50000"/>
            </a:avLst>
          </a:prstGeom>
          <a:solidFill>
            <a:srgbClr val="141C2E"/>
          </a:solidFill>
          <a:ln w="1270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Segoe UI Semibold"/>
              </a:rPr>
              <a:t>6</a:t>
            </a:r>
          </a:p>
        </p:txBody>
      </p:sp>
      <p:sp>
        <p:nvSpPr>
          <p:cNvPr id="22" name="TextBox 21"/>
          <p:cNvSpPr txBox="1"/>
          <p:nvPr/>
        </p:nvSpPr>
        <p:spPr>
          <a:xfrm>
            <a:off x="6922008" y="2569464"/>
            <a:ext cx="4663440" cy="365760"/>
          </a:xfrm>
          <a:prstGeom prst="rect">
            <a:avLst/>
          </a:prstGeom>
          <a:noFill/>
        </p:spPr>
        <p:txBody>
          <a:bodyPr wrap="square" anchor="t" lIns="27432" rIns="27432">
            <a:spAutoFit/>
          </a:bodyPr>
          <a:lstStyle/>
          <a:p>
            <a:pPr algn="l">
              <a:lnSpc>
                <a:spcPct val="112000"/>
              </a:lnSpc>
            </a:pPr>
            <a:r>
              <a:rPr sz="1600" b="1">
                <a:solidFill>
                  <a:srgbClr val="141C2E"/>
                </a:solidFill>
                <a:latin typeface="Segoe UI Semibold"/>
              </a:rPr>
              <a:t>5 reviewers in parallel</a:t>
            </a:r>
          </a:p>
        </p:txBody>
      </p:sp>
      <p:sp>
        <p:nvSpPr>
          <p:cNvPr id="23" name="TextBox 22"/>
          <p:cNvSpPr txBox="1"/>
          <p:nvPr/>
        </p:nvSpPr>
        <p:spPr>
          <a:xfrm>
            <a:off x="6922008" y="2935224"/>
            <a:ext cx="4663440" cy="640080"/>
          </a:xfrm>
          <a:prstGeom prst="rect">
            <a:avLst/>
          </a:prstGeom>
          <a:noFill/>
        </p:spPr>
        <p:txBody>
          <a:bodyPr wrap="square" anchor="t" lIns="27432" rIns="27432">
            <a:spAutoFit/>
          </a:bodyPr>
          <a:lstStyle/>
          <a:p>
            <a:pPr algn="l">
              <a:lnSpc>
                <a:spcPct val="112000"/>
              </a:lnSpc>
            </a:pPr>
            <a:r>
              <a:rPr sz="1250" b="0">
                <a:solidFill>
                  <a:srgbClr val="4A5468"/>
                </a:solidFill>
                <a:latin typeface="Segoe UI"/>
              </a:rPr>
              <a:t>ranked evidence, 3.6k–7.2k tokens each, forced JSON schema output</a:t>
            </a:r>
          </a:p>
        </p:txBody>
      </p:sp>
      <p:sp>
        <p:nvSpPr>
          <p:cNvPr id="24" name="Rounded Rectangle 23"/>
          <p:cNvSpPr/>
          <p:nvPr/>
        </p:nvSpPr>
        <p:spPr>
          <a:xfrm>
            <a:off x="6172200" y="3749039"/>
            <a:ext cx="566928" cy="566928"/>
          </a:xfrm>
          <a:prstGeom prst="roundRect">
            <a:avLst>
              <a:gd name="adj" fmla="val 50000"/>
            </a:avLst>
          </a:prstGeom>
          <a:solidFill>
            <a:srgbClr val="141C2E"/>
          </a:solidFill>
          <a:ln w="1270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Segoe UI Semibold"/>
              </a:rPr>
              <a:t>7</a:t>
            </a:r>
          </a:p>
        </p:txBody>
      </p:sp>
      <p:sp>
        <p:nvSpPr>
          <p:cNvPr id="25" name="TextBox 24"/>
          <p:cNvSpPr txBox="1"/>
          <p:nvPr/>
        </p:nvSpPr>
        <p:spPr>
          <a:xfrm>
            <a:off x="6922008" y="3712463"/>
            <a:ext cx="4663440" cy="365760"/>
          </a:xfrm>
          <a:prstGeom prst="rect">
            <a:avLst/>
          </a:prstGeom>
          <a:noFill/>
        </p:spPr>
        <p:txBody>
          <a:bodyPr wrap="square" anchor="t" lIns="27432" rIns="27432">
            <a:spAutoFit/>
          </a:bodyPr>
          <a:lstStyle/>
          <a:p>
            <a:pPr algn="l">
              <a:lnSpc>
                <a:spcPct val="112000"/>
              </a:lnSpc>
            </a:pPr>
            <a:r>
              <a:rPr sz="1600" b="1">
                <a:solidFill>
                  <a:srgbClr val="141C2E"/>
                </a:solidFill>
                <a:latin typeface="Segoe UI Semibold"/>
              </a:rPr>
              <a:t>Judge</a:t>
            </a:r>
          </a:p>
        </p:txBody>
      </p:sp>
      <p:sp>
        <p:nvSpPr>
          <p:cNvPr id="26" name="TextBox 25"/>
          <p:cNvSpPr txBox="1"/>
          <p:nvPr/>
        </p:nvSpPr>
        <p:spPr>
          <a:xfrm>
            <a:off x="6922008" y="4078224"/>
            <a:ext cx="4663440" cy="640080"/>
          </a:xfrm>
          <a:prstGeom prst="rect">
            <a:avLst/>
          </a:prstGeom>
          <a:noFill/>
        </p:spPr>
        <p:txBody>
          <a:bodyPr wrap="square" anchor="t" lIns="27432" rIns="27432">
            <a:spAutoFit/>
          </a:bodyPr>
          <a:lstStyle/>
          <a:p>
            <a:pPr algn="l">
              <a:lnSpc>
                <a:spcPct val="112000"/>
              </a:lnSpc>
            </a:pPr>
            <a:r>
              <a:rPr sz="1250" b="0">
                <a:solidFill>
                  <a:srgbClr val="4A5468"/>
                </a:solidFill>
                <a:latin typeface="Segoe UI"/>
              </a:rPr>
              <a:t>reads ~1k tokens of reports, may move each area ±1.5 with a reason</a:t>
            </a:r>
          </a:p>
        </p:txBody>
      </p:sp>
      <p:sp>
        <p:nvSpPr>
          <p:cNvPr id="27" name="Rounded Rectangle 26"/>
          <p:cNvSpPr/>
          <p:nvPr/>
        </p:nvSpPr>
        <p:spPr>
          <a:xfrm>
            <a:off x="6172200" y="4892040"/>
            <a:ext cx="566928" cy="566928"/>
          </a:xfrm>
          <a:prstGeom prst="roundRect">
            <a:avLst>
              <a:gd name="adj" fmla="val 50000"/>
            </a:avLst>
          </a:prstGeom>
          <a:solidFill>
            <a:srgbClr val="141C2E"/>
          </a:solidFill>
          <a:ln w="1270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Segoe UI Semibold"/>
              </a:rPr>
              <a:t>8</a:t>
            </a:r>
          </a:p>
        </p:txBody>
      </p:sp>
      <p:sp>
        <p:nvSpPr>
          <p:cNvPr id="28" name="TextBox 27"/>
          <p:cNvSpPr txBox="1"/>
          <p:nvPr/>
        </p:nvSpPr>
        <p:spPr>
          <a:xfrm>
            <a:off x="6922008" y="4855464"/>
            <a:ext cx="4663440" cy="365760"/>
          </a:xfrm>
          <a:prstGeom prst="rect">
            <a:avLst/>
          </a:prstGeom>
          <a:noFill/>
        </p:spPr>
        <p:txBody>
          <a:bodyPr wrap="square" anchor="t" lIns="27432" rIns="27432">
            <a:spAutoFit/>
          </a:bodyPr>
          <a:lstStyle/>
          <a:p>
            <a:pPr algn="l">
              <a:lnSpc>
                <a:spcPct val="112000"/>
              </a:lnSpc>
            </a:pPr>
            <a:r>
              <a:rPr sz="1600" b="1">
                <a:solidFill>
                  <a:srgbClr val="141C2E"/>
                </a:solidFill>
                <a:latin typeface="Segoe UI Semibold"/>
              </a:rPr>
              <a:t>Report</a:t>
            </a:r>
          </a:p>
        </p:txBody>
      </p:sp>
      <p:sp>
        <p:nvSpPr>
          <p:cNvPr id="29" name="TextBox 28"/>
          <p:cNvSpPr txBox="1"/>
          <p:nvPr/>
        </p:nvSpPr>
        <p:spPr>
          <a:xfrm>
            <a:off x="6922008" y="5221224"/>
            <a:ext cx="4663440" cy="640080"/>
          </a:xfrm>
          <a:prstGeom prst="rect">
            <a:avLst/>
          </a:prstGeom>
          <a:noFill/>
        </p:spPr>
        <p:txBody>
          <a:bodyPr wrap="square" anchor="t" lIns="27432" rIns="27432">
            <a:spAutoFit/>
          </a:bodyPr>
          <a:lstStyle/>
          <a:p>
            <a:pPr algn="l">
              <a:lnSpc>
                <a:spcPct val="112000"/>
              </a:lnSpc>
            </a:pPr>
            <a:r>
              <a:rPr sz="1250" b="0">
                <a:solidFill>
                  <a:srgbClr val="4A5468"/>
                </a:solidFill>
                <a:latin typeface="Segoe UI"/>
              </a:rPr>
              <a:t>score computed in code; HTML, Markdown, JSON saved to disk and PostgreSQL</a:t>
            </a:r>
          </a:p>
        </p:txBody>
      </p:sp>
      <p:sp>
        <p:nvSpPr>
          <p:cNvPr id="30" name="TextBox 29"/>
          <p:cNvSpPr txBox="1"/>
          <p:nvPr/>
        </p:nvSpPr>
        <p:spPr>
          <a:xfrm>
            <a:off x="548640" y="5989320"/>
            <a:ext cx="11155680" cy="365760"/>
          </a:xfrm>
          <a:prstGeom prst="rect">
            <a:avLst/>
          </a:prstGeom>
          <a:noFill/>
        </p:spPr>
        <p:txBody>
          <a:bodyPr wrap="square" anchor="t" lIns="27432" rIns="27432">
            <a:spAutoFit/>
          </a:bodyPr>
          <a:lstStyle/>
          <a:p>
            <a:pPr algn="l">
              <a:lnSpc>
                <a:spcPct val="112000"/>
              </a:lnSpc>
            </a:pPr>
            <a:r>
              <a:rPr sz="1300" b="0">
                <a:solidFill>
                  <a:srgbClr val="4A5468"/>
                </a:solidFill>
                <a:latin typeface="Segoe UI"/>
              </a:rPr>
              <a:t>The browser follows every stage live over Server-Sent Events; if the stream drops it falls back to polling.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14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20040"/>
          </a:xfrm>
          <a:prstGeom prst="rect">
            <a:avLst/>
          </a:prstGeom>
          <a:noFill/>
        </p:spPr>
        <p:txBody>
          <a:bodyPr wrap="square" anchor="t" lIns="27432" rIns="27432">
            <a:spAutoFit/>
          </a:bodyPr>
          <a:lstStyle/>
          <a:p>
            <a:pPr algn="l">
              <a:lnSpc>
                <a:spcPct val="112000"/>
              </a:lnSpc>
            </a:pPr>
            <a:r>
              <a:rPr sz="1200" b="0">
                <a:solidFill>
                  <a:srgbClr val="7F899B"/>
                </a:solidFill>
                <a:latin typeface="Segoe UI"/>
              </a:rPr>
              <a:t>Grading pipeline</a:t>
            </a:r>
          </a:p>
        </p:txBody>
      </p:sp>
      <p:sp>
        <p:nvSpPr>
          <p:cNvPr id="4" name="TextBox 3"/>
          <p:cNvSpPr txBox="1"/>
          <p:nvPr/>
        </p:nvSpPr>
        <p:spPr>
          <a:xfrm>
            <a:off x="548640" y="548640"/>
            <a:ext cx="11155680" cy="731520"/>
          </a:xfrm>
          <a:prstGeom prst="rect">
            <a:avLst/>
          </a:prstGeom>
          <a:noFill/>
        </p:spPr>
        <p:txBody>
          <a:bodyPr wrap="square" anchor="t" lIns="27432" rIns="27432">
            <a:spAutoFit/>
          </a:bodyPr>
          <a:lstStyle/>
          <a:p>
            <a:pPr algn="l">
              <a:lnSpc>
                <a:spcPct val="112000"/>
              </a:lnSpc>
            </a:pPr>
            <a:r>
              <a:rPr sz="2800" b="1">
                <a:solidFill>
                  <a:srgbClr val="141C2E"/>
                </a:solidFill>
                <a:latin typeface="Segoe UI Semibold"/>
              </a:rPr>
              <a:t>Stages overlap: the pipeline is a graph</a:t>
            </a:r>
          </a:p>
        </p:txBody>
      </p:sp>
      <p:sp>
        <p:nvSpPr>
          <p:cNvPr id="5" name="TextBox 4"/>
          <p:cNvSpPr txBox="1"/>
          <p:nvPr/>
        </p:nvSpPr>
        <p:spPr>
          <a:xfrm>
            <a:off x="9875520" y="6419088"/>
            <a:ext cx="1920240" cy="274320"/>
          </a:xfrm>
          <a:prstGeom prst="rect">
            <a:avLst/>
          </a:prstGeom>
          <a:noFill/>
        </p:spPr>
        <p:txBody>
          <a:bodyPr wrap="square" anchor="t" lIns="27432" rIns="27432">
            <a:spAutoFit/>
          </a:bodyPr>
          <a:lstStyle/>
          <a:p>
            <a:pPr algn="r">
              <a:lnSpc>
                <a:spcPct val="112000"/>
              </a:lnSpc>
            </a:pPr>
            <a:r>
              <a:rPr sz="1000" b="0">
                <a:solidFill>
                  <a:srgbClr val="7F899B"/>
                </a:solidFill>
                <a:latin typeface="Segoe UI"/>
              </a:rPr>
              <a:t>AutoGrader+   6 / 19</a:t>
            </a:r>
          </a:p>
        </p:txBody>
      </p:sp>
      <p:sp>
        <p:nvSpPr>
          <p:cNvPr id="6" name="Rounded Rectangle 5"/>
          <p:cNvSpPr/>
          <p:nvPr/>
        </p:nvSpPr>
        <p:spPr>
          <a:xfrm>
            <a:off x="548640" y="2450591"/>
            <a:ext cx="1463040" cy="475488"/>
          </a:xfrm>
          <a:prstGeom prst="roundRect">
            <a:avLst>
              <a:gd name="adj" fmla="val 10000"/>
            </a:avLst>
          </a:prstGeom>
          <a:solidFill>
            <a:srgbClr val="FFFFFF"/>
          </a:solidFill>
          <a:ln w="1905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41C2E"/>
                </a:solidFill>
                <a:latin typeface="Segoe UI Semibold"/>
              </a:rPr>
              <a:t>resolve</a:t>
            </a:r>
          </a:p>
        </p:txBody>
      </p:sp>
      <p:sp>
        <p:nvSpPr>
          <p:cNvPr id="7" name="Rounded Rectangle 6"/>
          <p:cNvSpPr/>
          <p:nvPr/>
        </p:nvSpPr>
        <p:spPr>
          <a:xfrm>
            <a:off x="548640" y="3054096"/>
            <a:ext cx="1463040" cy="475488"/>
          </a:xfrm>
          <a:prstGeom prst="roundRect">
            <a:avLst>
              <a:gd name="adj" fmla="val 10000"/>
            </a:avLst>
          </a:prstGeom>
          <a:solidFill>
            <a:srgbClr val="FFFFFF"/>
          </a:solidFill>
          <a:ln w="1905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41C2E"/>
                </a:solidFill>
                <a:latin typeface="Segoe UI Semibold"/>
              </a:rPr>
              <a:t>clone</a:t>
            </a:r>
          </a:p>
        </p:txBody>
      </p:sp>
      <p:cxnSp>
        <p:nvCxnSpPr>
          <p:cNvPr id="8" name="Connector 7"/>
          <p:cNvCxnSpPr/>
          <p:nvPr/>
        </p:nvCxnSpPr>
        <p:spPr>
          <a:xfrm>
            <a:off x="2057400" y="3017520"/>
            <a:ext cx="137160" cy="0"/>
          </a:xfrm>
          <a:prstGeom prst="line">
            <a:avLst/>
          </a:prstGeom>
          <a:ln w="19050">
            <a:solidFill>
              <a:srgbClr val="7F899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240280" y="2734056"/>
            <a:ext cx="1463040" cy="475488"/>
          </a:xfrm>
          <a:prstGeom prst="roundRect">
            <a:avLst>
              <a:gd name="adj" fmla="val 10000"/>
            </a:avLst>
          </a:prstGeom>
          <a:solidFill>
            <a:srgbClr val="FFFFFF"/>
          </a:solidFill>
          <a:ln w="1905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41C2E"/>
                </a:solidFill>
                <a:latin typeface="Segoe UI Semibold"/>
              </a:rPr>
              <a:t>cache</a:t>
            </a:r>
          </a:p>
        </p:txBody>
      </p:sp>
      <p:cxnSp>
        <p:nvCxnSpPr>
          <p:cNvPr id="10" name="Connector 9"/>
          <p:cNvCxnSpPr/>
          <p:nvPr/>
        </p:nvCxnSpPr>
        <p:spPr>
          <a:xfrm flipH="1">
            <a:off x="3703320" y="3017520"/>
            <a:ext cx="45720" cy="0"/>
          </a:xfrm>
          <a:prstGeom prst="line">
            <a:avLst/>
          </a:prstGeom>
          <a:ln w="19050">
            <a:solidFill>
              <a:srgbClr val="7F899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749039" y="2450591"/>
            <a:ext cx="1463040" cy="475488"/>
          </a:xfrm>
          <a:prstGeom prst="roundRect">
            <a:avLst>
              <a:gd name="adj" fmla="val 10000"/>
            </a:avLst>
          </a:prstGeom>
          <a:solidFill>
            <a:srgbClr val="FFFFFF"/>
          </a:solidFill>
          <a:ln w="1905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41C2E"/>
                </a:solidFill>
                <a:latin typeface="Segoe UI Semibold"/>
              </a:rPr>
              <a:t>index</a:t>
            </a:r>
          </a:p>
        </p:txBody>
      </p:sp>
      <p:sp>
        <p:nvSpPr>
          <p:cNvPr id="12" name="Rounded Rectangle 11"/>
          <p:cNvSpPr/>
          <p:nvPr/>
        </p:nvSpPr>
        <p:spPr>
          <a:xfrm>
            <a:off x="3749039" y="3054096"/>
            <a:ext cx="1463040" cy="475488"/>
          </a:xfrm>
          <a:prstGeom prst="roundRect">
            <a:avLst>
              <a:gd name="adj" fmla="val 10000"/>
            </a:avLst>
          </a:prstGeom>
          <a:solidFill>
            <a:srgbClr val="FFFFFF"/>
          </a:solidFill>
          <a:ln w="1905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41C2E"/>
                </a:solidFill>
                <a:latin typeface="Segoe UI Semibold"/>
              </a:rPr>
              <a:t>docker</a:t>
            </a:r>
          </a:p>
        </p:txBody>
      </p:sp>
      <p:cxnSp>
        <p:nvCxnSpPr>
          <p:cNvPr id="13" name="Connector 12"/>
          <p:cNvCxnSpPr/>
          <p:nvPr/>
        </p:nvCxnSpPr>
        <p:spPr>
          <a:xfrm>
            <a:off x="5257799" y="3017520"/>
            <a:ext cx="182881" cy="0"/>
          </a:xfrm>
          <a:prstGeom prst="line">
            <a:avLst/>
          </a:prstGeom>
          <a:ln w="19050">
            <a:solidFill>
              <a:srgbClr val="7F899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0" y="1600199"/>
            <a:ext cx="1920240" cy="475488"/>
          </a:xfrm>
          <a:prstGeom prst="roundRect">
            <a:avLst>
              <a:gd name="adj" fmla="val 10000"/>
            </a:avLst>
          </a:prstGeom>
          <a:solidFill>
            <a:srgbClr val="FFFFFF"/>
          </a:solidFill>
          <a:ln w="19050">
            <a:solidFill>
              <a:srgbClr val="214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41C2E"/>
                </a:solidFill>
                <a:latin typeface="Segoe UI Semibold"/>
              </a:rPr>
              <a:t>code quality</a:t>
            </a:r>
          </a:p>
        </p:txBody>
      </p:sp>
      <p:sp>
        <p:nvSpPr>
          <p:cNvPr id="15" name="Rounded Rectangle 14"/>
          <p:cNvSpPr/>
          <p:nvPr/>
        </p:nvSpPr>
        <p:spPr>
          <a:xfrm>
            <a:off x="5486400" y="2203703"/>
            <a:ext cx="1920240" cy="475488"/>
          </a:xfrm>
          <a:prstGeom prst="roundRect">
            <a:avLst>
              <a:gd name="adj" fmla="val 10000"/>
            </a:avLst>
          </a:prstGeom>
          <a:solidFill>
            <a:srgbClr val="FFFFFF"/>
          </a:solidFill>
          <a:ln w="19050">
            <a:solidFill>
              <a:srgbClr val="214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41C2E"/>
                </a:solidFill>
                <a:latin typeface="Segoe UI Semibold"/>
              </a:rPr>
              <a:t>architecture</a:t>
            </a:r>
          </a:p>
        </p:txBody>
      </p:sp>
      <p:sp>
        <p:nvSpPr>
          <p:cNvPr id="16" name="Rounded Rectangle 15"/>
          <p:cNvSpPr/>
          <p:nvPr/>
        </p:nvSpPr>
        <p:spPr>
          <a:xfrm>
            <a:off x="5486400" y="2807208"/>
            <a:ext cx="1920240" cy="475488"/>
          </a:xfrm>
          <a:prstGeom prst="roundRect">
            <a:avLst>
              <a:gd name="adj" fmla="val 10000"/>
            </a:avLst>
          </a:prstGeom>
          <a:solidFill>
            <a:srgbClr val="FFFFFF"/>
          </a:solidFill>
          <a:ln w="19050">
            <a:solidFill>
              <a:srgbClr val="214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41C2E"/>
                </a:solidFill>
                <a:latin typeface="Segoe UI Semibold"/>
              </a:rPr>
              <a:t>security</a:t>
            </a:r>
          </a:p>
        </p:txBody>
      </p:sp>
      <p:sp>
        <p:nvSpPr>
          <p:cNvPr id="17" name="Rounded Rectangle 16"/>
          <p:cNvSpPr/>
          <p:nvPr/>
        </p:nvSpPr>
        <p:spPr>
          <a:xfrm>
            <a:off x="5486400" y="3410711"/>
            <a:ext cx="1920240" cy="475488"/>
          </a:xfrm>
          <a:prstGeom prst="roundRect">
            <a:avLst>
              <a:gd name="adj" fmla="val 10000"/>
            </a:avLst>
          </a:prstGeom>
          <a:solidFill>
            <a:srgbClr val="FFFFFF"/>
          </a:solidFill>
          <a:ln w="19050">
            <a:solidFill>
              <a:srgbClr val="214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41C2E"/>
                </a:solidFill>
                <a:latin typeface="Segoe UI Semibold"/>
              </a:rPr>
              <a:t>testing</a:t>
            </a:r>
          </a:p>
        </p:txBody>
      </p:sp>
      <p:sp>
        <p:nvSpPr>
          <p:cNvPr id="18" name="Rounded Rectangle 17"/>
          <p:cNvSpPr/>
          <p:nvPr/>
        </p:nvSpPr>
        <p:spPr>
          <a:xfrm>
            <a:off x="5486400" y="4014215"/>
            <a:ext cx="1920240" cy="475488"/>
          </a:xfrm>
          <a:prstGeom prst="roundRect">
            <a:avLst>
              <a:gd name="adj" fmla="val 10000"/>
            </a:avLst>
          </a:prstGeom>
          <a:solidFill>
            <a:srgbClr val="FFFFFF"/>
          </a:solidFill>
          <a:ln w="19050">
            <a:solidFill>
              <a:srgbClr val="214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41C2E"/>
                </a:solidFill>
                <a:latin typeface="Segoe UI Semibold"/>
              </a:rPr>
              <a:t>devops</a:t>
            </a:r>
          </a:p>
        </p:txBody>
      </p:sp>
      <p:cxnSp>
        <p:nvCxnSpPr>
          <p:cNvPr id="19" name="Connector 18"/>
          <p:cNvCxnSpPr/>
          <p:nvPr/>
        </p:nvCxnSpPr>
        <p:spPr>
          <a:xfrm>
            <a:off x="7452360" y="3017520"/>
            <a:ext cx="320040" cy="0"/>
          </a:xfrm>
          <a:prstGeom prst="line">
            <a:avLst/>
          </a:prstGeom>
          <a:ln w="19050">
            <a:solidFill>
              <a:srgbClr val="7F899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818120" y="2734056"/>
            <a:ext cx="1463040" cy="475488"/>
          </a:xfrm>
          <a:prstGeom prst="roundRect">
            <a:avLst>
              <a:gd name="adj" fmla="val 10000"/>
            </a:avLst>
          </a:prstGeom>
          <a:solidFill>
            <a:srgbClr val="FFE14A"/>
          </a:solidFill>
          <a:ln w="1905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41C2E"/>
                </a:solidFill>
                <a:latin typeface="Segoe UI Semibold"/>
              </a:rPr>
              <a:t>judge</a:t>
            </a:r>
          </a:p>
        </p:txBody>
      </p:sp>
      <p:cxnSp>
        <p:nvCxnSpPr>
          <p:cNvPr id="21" name="Connector 20"/>
          <p:cNvCxnSpPr/>
          <p:nvPr/>
        </p:nvCxnSpPr>
        <p:spPr>
          <a:xfrm>
            <a:off x="9326880" y="3017520"/>
            <a:ext cx="137160" cy="0"/>
          </a:xfrm>
          <a:prstGeom prst="line">
            <a:avLst/>
          </a:prstGeom>
          <a:ln w="19050">
            <a:solidFill>
              <a:srgbClr val="7F899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509760" y="2734056"/>
            <a:ext cx="1463040" cy="475488"/>
          </a:xfrm>
          <a:prstGeom prst="roundRect">
            <a:avLst>
              <a:gd name="adj" fmla="val 10000"/>
            </a:avLst>
          </a:prstGeom>
          <a:solidFill>
            <a:srgbClr val="FFFFFF"/>
          </a:solidFill>
          <a:ln w="1905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41C2E"/>
                </a:solidFill>
                <a:latin typeface="Segoe UI Semibold"/>
              </a:rPr>
              <a:t>report</a:t>
            </a:r>
          </a:p>
        </p:txBody>
      </p:sp>
      <p:sp>
        <p:nvSpPr>
          <p:cNvPr id="23" name="Rounded Rectangle 22"/>
          <p:cNvSpPr/>
          <p:nvPr/>
        </p:nvSpPr>
        <p:spPr>
          <a:xfrm>
            <a:off x="548640" y="4572000"/>
            <a:ext cx="11109960" cy="1417320"/>
          </a:xfrm>
          <a:prstGeom prst="roundRect">
            <a:avLst>
              <a:gd name="adj" fmla="val 10000"/>
            </a:avLst>
          </a:prstGeom>
          <a:solidFill>
            <a:srgbClr val="F1F3F6"/>
          </a:solidFill>
          <a:ln w="12700">
            <a:solidFill>
              <a:srgbClr val="F1F3F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77240" y="4681728"/>
            <a:ext cx="10698480" cy="1280160"/>
          </a:xfrm>
          <a:prstGeom prst="rect">
            <a:avLst/>
          </a:prstGeom>
          <a:noFill/>
        </p:spPr>
        <p:txBody>
          <a:bodyPr wrap="square" anchor="t" lIns="27432" rIns="27432">
            <a:spAutoFit/>
          </a:bodyPr>
          <a:lstStyle/>
          <a:p>
            <a:pPr algn="l">
              <a:lnSpc>
                <a:spcPct val="112000"/>
              </a:lnSpc>
            </a:pPr>
            <a:r>
              <a:rPr sz="1400" b="1">
                <a:solidFill>
                  <a:srgbClr val="141C2E"/>
                </a:solidFill>
                <a:latin typeface="Consolas"/>
              </a:rPr>
              <a:t>T_total ≈ max(T_resolve, T_clone) + max(T_index + max(T_reviewer 1–4), T_docker + T_devops) + T_judge</a:t>
            </a:r>
          </a:p>
          <a:p>
            <a:pPr algn="l">
              <a:lnSpc>
                <a:spcPct val="112000"/>
              </a:lnSpc>
              <a:spcBef>
                <a:spcPts val="800"/>
              </a:spcBef>
            </a:pPr>
            <a:r>
              <a:rPr sz="1300" b="0">
                <a:solidFill>
                  <a:srgbClr val="4A5468"/>
                </a:solidFill>
                <a:latin typeface="Segoe UI"/>
              </a:rPr>
              <a:t>Only the DevOps reviewer waits for Docker; the other four start right after indexing, so a slow build overlaps with model calls. Each report records its measured critical path and the speed-up over running the same stages in sequence.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14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20040"/>
          </a:xfrm>
          <a:prstGeom prst="rect">
            <a:avLst/>
          </a:prstGeom>
          <a:noFill/>
        </p:spPr>
        <p:txBody>
          <a:bodyPr wrap="square" anchor="t" lIns="27432" rIns="27432">
            <a:spAutoFit/>
          </a:bodyPr>
          <a:lstStyle/>
          <a:p>
            <a:pPr algn="l">
              <a:lnSpc>
                <a:spcPct val="112000"/>
              </a:lnSpc>
            </a:pPr>
            <a:r>
              <a:rPr sz="1200" b="0">
                <a:solidFill>
                  <a:srgbClr val="7F899B"/>
                </a:solidFill>
                <a:latin typeface="Segoe UI"/>
              </a:rPr>
              <a:t>Agents</a:t>
            </a:r>
          </a:p>
        </p:txBody>
      </p:sp>
      <p:sp>
        <p:nvSpPr>
          <p:cNvPr id="4" name="TextBox 3"/>
          <p:cNvSpPr txBox="1"/>
          <p:nvPr/>
        </p:nvSpPr>
        <p:spPr>
          <a:xfrm>
            <a:off x="548640" y="548640"/>
            <a:ext cx="11155680" cy="731520"/>
          </a:xfrm>
          <a:prstGeom prst="rect">
            <a:avLst/>
          </a:prstGeom>
          <a:noFill/>
        </p:spPr>
        <p:txBody>
          <a:bodyPr wrap="square" anchor="t" lIns="27432" rIns="27432">
            <a:spAutoFit/>
          </a:bodyPr>
          <a:lstStyle/>
          <a:p>
            <a:pPr algn="l">
              <a:lnSpc>
                <a:spcPct val="112000"/>
              </a:lnSpc>
            </a:pPr>
            <a:r>
              <a:rPr sz="2800" b="1">
                <a:solidFill>
                  <a:srgbClr val="141C2E"/>
                </a:solidFill>
                <a:latin typeface="Segoe UI Semibold"/>
              </a:rPr>
              <a:t>Multi-agent design</a:t>
            </a:r>
          </a:p>
        </p:txBody>
      </p:sp>
      <p:sp>
        <p:nvSpPr>
          <p:cNvPr id="5" name="TextBox 4"/>
          <p:cNvSpPr txBox="1"/>
          <p:nvPr/>
        </p:nvSpPr>
        <p:spPr>
          <a:xfrm>
            <a:off x="9875520" y="6419088"/>
            <a:ext cx="1920240" cy="274320"/>
          </a:xfrm>
          <a:prstGeom prst="rect">
            <a:avLst/>
          </a:prstGeom>
          <a:noFill/>
        </p:spPr>
        <p:txBody>
          <a:bodyPr wrap="square" anchor="t" lIns="27432" rIns="27432">
            <a:spAutoFit/>
          </a:bodyPr>
          <a:lstStyle/>
          <a:p>
            <a:pPr algn="r">
              <a:lnSpc>
                <a:spcPct val="112000"/>
              </a:lnSpc>
            </a:pPr>
            <a:r>
              <a:rPr sz="1000" b="0">
                <a:solidFill>
                  <a:srgbClr val="7F899B"/>
                </a:solidFill>
                <a:latin typeface="Segoe UI"/>
              </a:rPr>
              <a:t>AutoGrader+   7 / 19</a:t>
            </a:r>
          </a:p>
        </p:txBody>
      </p:sp>
      <p:graphicFrame>
        <p:nvGraphicFramePr>
          <p:cNvPr id="6" name="Table 5"/>
          <p:cNvGraphicFramePr>
            <a:graphicFrameLocks noGrp="1"/>
          </p:cNvGraphicFramePr>
          <p:nvPr/>
        </p:nvGraphicFramePr>
        <p:xfrm>
          <a:off x="548640" y="1417320"/>
          <a:ext cx="11109960" cy="3200400"/>
        </p:xfrm>
        <a:graphic>
          <a:graphicData uri="http://schemas.openxmlformats.org/drawingml/2006/table">
            <a:tbl>
              <a:tblPr firstRow="1" bandRow="1">
                <a:tableStyleId>{5C22544A-7EE6-4342-B048-85BDC9FD1C3A}</a:tableStyleId>
              </a:tblPr>
              <a:tblGrid>
                <a:gridCol w="1920240"/>
                <a:gridCol w="2743200"/>
                <a:gridCol w="6446520"/>
              </a:tblGrid>
              <a:tr h="457200">
                <a:tc>
                  <a:txBody>
                    <a:bodyPr wrap="square"/>
                    <a:lstStyle/>
                    <a:p>
                      <a:r>
                        <a:rPr sz="1250" b="1">
                          <a:solidFill>
                            <a:srgbClr val="141C2E"/>
                          </a:solidFill>
                          <a:latin typeface="Segoe UI Semibold"/>
                        </a:rPr>
                        <a:t>Agent</a:t>
                      </a:r>
                    </a:p>
                  </a:txBody>
                  <a:tcPr marL="73152" marR="73152" marT="27432" marB="27432">
                    <a:solidFill>
                      <a:srgbClr val="F1F3F6"/>
                    </a:solidFill>
                  </a:tcPr>
                </a:tc>
                <a:tc>
                  <a:txBody>
                    <a:bodyPr wrap="square"/>
                    <a:lstStyle/>
                    <a:p>
                      <a:r>
                        <a:rPr sz="1250" b="1">
                          <a:solidFill>
                            <a:srgbClr val="141C2E"/>
                          </a:solidFill>
                          <a:latin typeface="Segoe UI Semibold"/>
                        </a:rPr>
                        <a:t>Area</a:t>
                      </a:r>
                    </a:p>
                  </a:txBody>
                  <a:tcPr marL="73152" marR="73152" marT="27432" marB="27432">
                    <a:solidFill>
                      <a:srgbClr val="F1F3F6"/>
                    </a:solidFill>
                  </a:tcPr>
                </a:tc>
                <a:tc>
                  <a:txBody>
                    <a:bodyPr wrap="square"/>
                    <a:lstStyle/>
                    <a:p>
                      <a:r>
                        <a:rPr sz="1250" b="1">
                          <a:solidFill>
                            <a:srgbClr val="141C2E"/>
                          </a:solidFill>
                          <a:latin typeface="Segoe UI Semibold"/>
                        </a:rPr>
                        <a:t>Evidence it sees (picked from the shared index)</a:t>
                      </a:r>
                    </a:p>
                  </a:txBody>
                  <a:tcPr marL="73152" marR="73152" marT="27432" marB="27432">
                    <a:solidFill>
                      <a:srgbClr val="F1F3F6"/>
                    </a:solidFill>
                  </a:tcPr>
                </a:tc>
              </a:tr>
              <a:tr h="457200">
                <a:tc>
                  <a:txBody>
                    <a:bodyPr wrap="square"/>
                    <a:lstStyle/>
                    <a:p>
                      <a:r>
                        <a:rPr sz="1250" b="1">
                          <a:solidFill>
                            <a:srgbClr val="141C2E"/>
                          </a:solidFill>
                          <a:latin typeface="Segoe UI Semibold"/>
                        </a:rPr>
                        <a:t>Code Quality</a:t>
                      </a:r>
                    </a:p>
                  </a:txBody>
                  <a:tcPr marL="73152" marR="73152" marT="27432" marB="27432">
                    <a:solidFill>
                      <a:srgbClr val="FFFFFF"/>
                    </a:solidFill>
                  </a:tcPr>
                </a:tc>
                <a:tc>
                  <a:txBody>
                    <a:bodyPr wrap="square"/>
                    <a:lstStyle/>
                    <a:p>
                      <a:r>
                        <a:rPr sz="1250" b="0">
                          <a:solidFill>
                            <a:srgbClr val="4A5468"/>
                          </a:solidFill>
                          <a:latin typeface="Segoe UI"/>
                        </a:rPr>
                        <a:t>readability, size, duplication</a:t>
                      </a:r>
                    </a:p>
                  </a:txBody>
                  <a:tcPr marL="73152" marR="73152" marT="27432" marB="27432">
                    <a:solidFill>
                      <a:srgbClr val="FFFFFF"/>
                    </a:solidFill>
                  </a:tcPr>
                </a:tc>
                <a:tc>
                  <a:txBody>
                    <a:bodyPr wrap="square"/>
                    <a:lstStyle/>
                    <a:p>
                      <a:r>
                        <a:rPr sz="1250" b="0">
                          <a:solidFill>
                            <a:srgbClr val="4A5468"/>
                          </a:solidFill>
                          <a:latin typeface="Segoe UI"/>
                        </a:rPr>
                        <a:t>largest files, a diverse sample, duplication and comment metrics</a:t>
                      </a:r>
                    </a:p>
                  </a:txBody>
                  <a:tcPr marL="73152" marR="73152" marT="27432" marB="27432">
                    <a:solidFill>
                      <a:srgbClr val="FFFFFF"/>
                    </a:solidFill>
                  </a:tcPr>
                </a:tc>
              </a:tr>
              <a:tr h="457200">
                <a:tc>
                  <a:txBody>
                    <a:bodyPr wrap="square"/>
                    <a:lstStyle/>
                    <a:p>
                      <a:r>
                        <a:rPr sz="1250" b="1">
                          <a:solidFill>
                            <a:srgbClr val="141C2E"/>
                          </a:solidFill>
                          <a:latin typeface="Segoe UI Semibold"/>
                        </a:rPr>
                        <a:t>Architecture</a:t>
                      </a:r>
                    </a:p>
                  </a:txBody>
                  <a:tcPr marL="73152" marR="73152" marT="27432" marB="27432">
                    <a:solidFill>
                      <a:srgbClr val="FFFFFF"/>
                    </a:solidFill>
                  </a:tcPr>
                </a:tc>
                <a:tc>
                  <a:txBody>
                    <a:bodyPr wrap="square"/>
                    <a:lstStyle/>
                    <a:p>
                      <a:r>
                        <a:rPr sz="1250" b="0">
                          <a:solidFill>
                            <a:srgbClr val="4A5468"/>
                          </a:solidFill>
                          <a:latin typeface="Segoe UI"/>
                        </a:rPr>
                        <a:t>layers, coupling, API/DB design</a:t>
                      </a:r>
                    </a:p>
                  </a:txBody>
                  <a:tcPr marL="73152" marR="73152" marT="27432" marB="27432">
                    <a:solidFill>
                      <a:srgbClr val="FFFFFF"/>
                    </a:solidFill>
                  </a:tcPr>
                </a:tc>
                <a:tc>
                  <a:txBody>
                    <a:bodyPr wrap="square"/>
                    <a:lstStyle/>
                    <a:p>
                      <a:r>
                        <a:rPr sz="1250" b="0">
                          <a:solidFill>
                            <a:srgbClr val="4A5468"/>
                          </a:solidFill>
                          <a:latin typeface="Segoe UI"/>
                        </a:rPr>
                        <a:t>entrypoints, routes/services/models, dependency graph and cycles, compose</a:t>
                      </a:r>
                    </a:p>
                  </a:txBody>
                  <a:tcPr marL="73152" marR="73152" marT="27432" marB="27432">
                    <a:solidFill>
                      <a:srgbClr val="FFFFFF"/>
                    </a:solidFill>
                  </a:tcPr>
                </a:tc>
              </a:tr>
              <a:tr h="457200">
                <a:tc>
                  <a:txBody>
                    <a:bodyPr wrap="square"/>
                    <a:lstStyle/>
                    <a:p>
                      <a:r>
                        <a:rPr sz="1250" b="1">
                          <a:solidFill>
                            <a:srgbClr val="141C2E"/>
                          </a:solidFill>
                          <a:latin typeface="Segoe UI Semibold"/>
                        </a:rPr>
                        <a:t>Security</a:t>
                      </a:r>
                    </a:p>
                  </a:txBody>
                  <a:tcPr marL="73152" marR="73152" marT="27432" marB="27432">
                    <a:solidFill>
                      <a:srgbClr val="FFFFFF"/>
                    </a:solidFill>
                  </a:tcPr>
                </a:tc>
                <a:tc>
                  <a:txBody>
                    <a:bodyPr wrap="square"/>
                    <a:lstStyle/>
                    <a:p>
                      <a:r>
                        <a:rPr sz="1250" b="0">
                          <a:solidFill>
                            <a:srgbClr val="4A5468"/>
                          </a:solidFill>
                          <a:latin typeface="Segoe UI"/>
                        </a:rPr>
                        <a:t>OWASP Top 10</a:t>
                      </a:r>
                    </a:p>
                  </a:txBody>
                  <a:tcPr marL="73152" marR="73152" marT="27432" marB="27432">
                    <a:solidFill>
                      <a:srgbClr val="FFFFFF"/>
                    </a:solidFill>
                  </a:tcPr>
                </a:tc>
                <a:tc>
                  <a:txBody>
                    <a:bodyPr wrap="square"/>
                    <a:lstStyle/>
                    <a:p>
                      <a:r>
                        <a:rPr sz="1250" b="0">
                          <a:solidFill>
                            <a:srgbClr val="4A5468"/>
                          </a:solidFill>
                          <a:latin typeface="Segoe UI"/>
                        </a:rPr>
                        <a:t>secret-scanner and risky-pattern hits (redacted), auth files, .gitignore</a:t>
                      </a:r>
                    </a:p>
                  </a:txBody>
                  <a:tcPr marL="73152" marR="73152" marT="27432" marB="27432">
                    <a:solidFill>
                      <a:srgbClr val="FFFFFF"/>
                    </a:solidFill>
                  </a:tcPr>
                </a:tc>
              </a:tr>
              <a:tr h="457200">
                <a:tc>
                  <a:txBody>
                    <a:bodyPr wrap="square"/>
                    <a:lstStyle/>
                    <a:p>
                      <a:r>
                        <a:rPr sz="1250" b="1">
                          <a:solidFill>
                            <a:srgbClr val="141C2E"/>
                          </a:solidFill>
                          <a:latin typeface="Segoe UI Semibold"/>
                        </a:rPr>
                        <a:t>Testing</a:t>
                      </a:r>
                    </a:p>
                  </a:txBody>
                  <a:tcPr marL="73152" marR="73152" marT="27432" marB="27432">
                    <a:solidFill>
                      <a:srgbClr val="FFFFFF"/>
                    </a:solidFill>
                  </a:tcPr>
                </a:tc>
                <a:tc>
                  <a:txBody>
                    <a:bodyPr wrap="square"/>
                    <a:lstStyle/>
                    <a:p>
                      <a:r>
                        <a:rPr sz="1250" b="0">
                          <a:solidFill>
                            <a:srgbClr val="4A5468"/>
                          </a:solidFill>
                          <a:latin typeface="Segoe UI"/>
                        </a:rPr>
                        <a:t>unit, integration, e2e, CI</a:t>
                      </a:r>
                    </a:p>
                  </a:txBody>
                  <a:tcPr marL="73152" marR="73152" marT="27432" marB="27432">
                    <a:solidFill>
                      <a:srgbClr val="FFFFFF"/>
                    </a:solidFill>
                  </a:tcPr>
                </a:tc>
                <a:tc>
                  <a:txBody>
                    <a:bodyPr wrap="square"/>
                    <a:lstStyle/>
                    <a:p>
                      <a:r>
                        <a:rPr sz="1250" b="0">
                          <a:solidFill>
                            <a:srgbClr val="4A5468"/>
                          </a:solidFill>
                          <a:latin typeface="Segoe UI"/>
                        </a:rPr>
                        <a:t>test files, test-to-source ratio, CI workflows, test scripts</a:t>
                      </a:r>
                    </a:p>
                  </a:txBody>
                  <a:tcPr marL="73152" marR="73152" marT="27432" marB="27432">
                    <a:solidFill>
                      <a:srgbClr val="FFFFFF"/>
                    </a:solidFill>
                  </a:tcPr>
                </a:tc>
              </a:tr>
              <a:tr h="457200">
                <a:tc>
                  <a:txBody>
                    <a:bodyPr wrap="square"/>
                    <a:lstStyle/>
                    <a:p>
                      <a:r>
                        <a:rPr sz="1250" b="1">
                          <a:solidFill>
                            <a:srgbClr val="141C2E"/>
                          </a:solidFill>
                          <a:latin typeface="Segoe UI Semibold"/>
                        </a:rPr>
                        <a:t>DevOps &amp; Docker</a:t>
                      </a:r>
                    </a:p>
                  </a:txBody>
                  <a:tcPr marL="73152" marR="73152" marT="27432" marB="27432">
                    <a:solidFill>
                      <a:srgbClr val="FFFFFF"/>
                    </a:solidFill>
                  </a:tcPr>
                </a:tc>
                <a:tc>
                  <a:txBody>
                    <a:bodyPr wrap="square"/>
                    <a:lstStyle/>
                    <a:p>
                      <a:r>
                        <a:rPr sz="1250" b="0">
                          <a:solidFill>
                            <a:srgbClr val="4A5468"/>
                          </a:solidFill>
                          <a:latin typeface="Segoe UI"/>
                        </a:rPr>
                        <a:t>containers and delivery</a:t>
                      </a:r>
                    </a:p>
                  </a:txBody>
                  <a:tcPr marL="73152" marR="73152" marT="27432" marB="27432">
                    <a:solidFill>
                      <a:srgbClr val="FFFFFF"/>
                    </a:solidFill>
                  </a:tcPr>
                </a:tc>
                <a:tc>
                  <a:txBody>
                    <a:bodyPr wrap="square"/>
                    <a:lstStyle/>
                    <a:p>
                      <a:r>
                        <a:rPr sz="1250" b="0">
                          <a:solidFill>
                            <a:srgbClr val="4A5468"/>
                          </a:solidFill>
                          <a:latin typeface="Segoe UI"/>
                        </a:rPr>
                        <a:t>Dockerfile, 20+ lint rules, build/run result, compose, CI</a:t>
                      </a:r>
                    </a:p>
                  </a:txBody>
                  <a:tcPr marL="73152" marR="73152" marT="27432" marB="27432">
                    <a:solidFill>
                      <a:srgbClr val="FFFFFF"/>
                    </a:solidFill>
                  </a:tcPr>
                </a:tc>
              </a:tr>
              <a:tr h="457200">
                <a:tc>
                  <a:txBody>
                    <a:bodyPr wrap="square"/>
                    <a:lstStyle/>
                    <a:p>
                      <a:r>
                        <a:rPr sz="1250" b="1">
                          <a:solidFill>
                            <a:srgbClr val="141C2E"/>
                          </a:solidFill>
                          <a:latin typeface="Segoe UI Semibold"/>
                        </a:rPr>
                        <a:t>Judge</a:t>
                      </a:r>
                    </a:p>
                  </a:txBody>
                  <a:tcPr marL="73152" marR="73152" marT="27432" marB="27432">
                    <a:solidFill>
                      <a:srgbClr val="FFFFFF"/>
                    </a:solidFill>
                  </a:tcPr>
                </a:tc>
                <a:tc>
                  <a:txBody>
                    <a:bodyPr wrap="square"/>
                    <a:lstStyle/>
                    <a:p>
                      <a:r>
                        <a:rPr sz="1250" b="0">
                          <a:solidFill>
                            <a:srgbClr val="4A5468"/>
                          </a:solidFill>
                          <a:latin typeface="Segoe UI"/>
                        </a:rPr>
                        <a:t>final verdict</a:t>
                      </a:r>
                    </a:p>
                  </a:txBody>
                  <a:tcPr marL="73152" marR="73152" marT="27432" marB="27432">
                    <a:solidFill>
                      <a:srgbClr val="FFFFFF"/>
                    </a:solidFill>
                  </a:tcPr>
                </a:tc>
                <a:tc>
                  <a:txBody>
                    <a:bodyPr wrap="square"/>
                    <a:lstStyle/>
                    <a:p>
                      <a:r>
                        <a:rPr sz="1250" b="0">
                          <a:solidFill>
                            <a:srgbClr val="4A5468"/>
                          </a:solidFill>
                          <a:latin typeface="Segoe UI"/>
                        </a:rPr>
                        <a:t>only the five compact structured reports, never raw code</a:t>
                      </a:r>
                    </a:p>
                  </a:txBody>
                  <a:tcPr marL="73152" marR="73152" marT="27432" marB="27432">
                    <a:solidFill>
                      <a:srgbClr val="FFFFFF"/>
                    </a:solidFill>
                  </a:tcPr>
                </a:tc>
              </a:tr>
            </a:tbl>
          </a:graphicData>
        </a:graphic>
      </p:graphicFrame>
      <p:sp>
        <p:nvSpPr>
          <p:cNvPr id="7" name="TextBox 6"/>
          <p:cNvSpPr txBox="1"/>
          <p:nvPr/>
        </p:nvSpPr>
        <p:spPr>
          <a:xfrm>
            <a:off x="548640" y="4892040"/>
            <a:ext cx="11155680" cy="1371600"/>
          </a:xfrm>
          <a:prstGeom prst="rect">
            <a:avLst/>
          </a:prstGeom>
          <a:noFill/>
        </p:spPr>
        <p:txBody>
          <a:bodyPr wrap="square">
            <a:spAutoFit/>
          </a:bodyPr>
          <a:lstStyle/>
          <a:p>
            <a:pPr>
              <a:lnSpc>
                <a:spcPct val="110000"/>
              </a:lnSpc>
              <a:spcAft>
                <a:spcPts val="400"/>
              </a:spcAft>
            </a:pPr>
            <a:r>
              <a:rPr sz="1300" b="1">
                <a:solidFill>
                  <a:srgbClr val="2140D9"/>
                </a:solidFill>
                <a:latin typeface="Segoe UI"/>
              </a:rPr>
              <a:t>•  </a:t>
            </a:r>
            <a:r>
              <a:rPr sz="1300" b="1">
                <a:solidFill>
                  <a:srgbClr val="141C2E"/>
                </a:solidFill>
                <a:latin typeface="Segoe UI Semibold"/>
              </a:rPr>
              <a:t>Structured output:</a:t>
            </a:r>
            <a:r>
              <a:rPr sz="1300" b="0">
                <a:solidFill>
                  <a:srgbClr val="4A5468"/>
                </a:solidFill>
                <a:latin typeface="Segoe UI"/>
              </a:rPr>
              <a:t>  every call uses forced tool use with a JSON schema; scores are clamped and validated in code.</a:t>
            </a:r>
          </a:p>
          <a:p>
            <a:pPr>
              <a:lnSpc>
                <a:spcPct val="110000"/>
              </a:lnSpc>
              <a:spcAft>
                <a:spcPts val="400"/>
              </a:spcAft>
            </a:pPr>
            <a:r>
              <a:rPr sz="1300" b="1">
                <a:solidFill>
                  <a:srgbClr val="2140D9"/>
                </a:solidFill>
                <a:latin typeface="Segoe UI"/>
              </a:rPr>
              <a:t>•  </a:t>
            </a:r>
            <a:r>
              <a:rPr sz="1300" b="1">
                <a:solidFill>
                  <a:srgbClr val="141C2E"/>
                </a:solidFill>
                <a:latin typeface="Segoe UI Semibold"/>
              </a:rPr>
              <a:t>Bounded judge:</a:t>
            </a:r>
            <a:r>
              <a:rPr sz="1300" b="0">
                <a:solidFill>
                  <a:srgbClr val="4A5468"/>
                </a:solidFill>
                <a:latin typeface="Segoe UI"/>
              </a:rPr>
              <a:t>  can move each area by at most ±1.5 and must give a rationale; it calibrates, it does not re-grade.</a:t>
            </a:r>
          </a:p>
          <a:p>
            <a:pPr>
              <a:lnSpc>
                <a:spcPct val="110000"/>
              </a:lnSpc>
              <a:spcAft>
                <a:spcPts val="400"/>
              </a:spcAft>
            </a:pPr>
            <a:r>
              <a:rPr sz="1300" b="1">
                <a:solidFill>
                  <a:srgbClr val="2140D9"/>
                </a:solidFill>
                <a:latin typeface="Segoe UI"/>
              </a:rPr>
              <a:t>•  </a:t>
            </a:r>
            <a:r>
              <a:rPr sz="1300" b="1">
                <a:solidFill>
                  <a:srgbClr val="141C2E"/>
                </a:solidFill>
                <a:latin typeface="Segoe UI Semibold"/>
              </a:rPr>
              <a:t>Graceful degradation:</a:t>
            </a:r>
            <a:r>
              <a:rPr sz="1300" b="0">
                <a:solidFill>
                  <a:srgbClr val="4A5468"/>
                </a:solidFill>
                <a:latin typeface="Segoe UI"/>
              </a:rPr>
              <a:t>  a reviewer that errors or misses its deadline falls back to its rule-based scorer, and the report says so.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14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20040"/>
          </a:xfrm>
          <a:prstGeom prst="rect">
            <a:avLst/>
          </a:prstGeom>
          <a:noFill/>
        </p:spPr>
        <p:txBody>
          <a:bodyPr wrap="square" anchor="t" lIns="27432" rIns="27432">
            <a:spAutoFit/>
          </a:bodyPr>
          <a:lstStyle/>
          <a:p>
            <a:pPr algn="l">
              <a:lnSpc>
                <a:spcPct val="112000"/>
              </a:lnSpc>
            </a:pPr>
            <a:r>
              <a:rPr sz="1200" b="0">
                <a:solidFill>
                  <a:srgbClr val="7F899B"/>
                </a:solidFill>
                <a:latin typeface="Segoe UI"/>
              </a:rPr>
              <a:t>Scoring</a:t>
            </a:r>
          </a:p>
        </p:txBody>
      </p:sp>
      <p:sp>
        <p:nvSpPr>
          <p:cNvPr id="4" name="TextBox 3"/>
          <p:cNvSpPr txBox="1"/>
          <p:nvPr/>
        </p:nvSpPr>
        <p:spPr>
          <a:xfrm>
            <a:off x="548640" y="548640"/>
            <a:ext cx="11155680" cy="731520"/>
          </a:xfrm>
          <a:prstGeom prst="rect">
            <a:avLst/>
          </a:prstGeom>
          <a:noFill/>
        </p:spPr>
        <p:txBody>
          <a:bodyPr wrap="square" anchor="t" lIns="27432" rIns="27432">
            <a:spAutoFit/>
          </a:bodyPr>
          <a:lstStyle/>
          <a:p>
            <a:pPr algn="l">
              <a:lnSpc>
                <a:spcPct val="112000"/>
              </a:lnSpc>
            </a:pPr>
            <a:r>
              <a:rPr sz="2800" b="1">
                <a:solidFill>
                  <a:srgbClr val="141C2E"/>
                </a:solidFill>
                <a:latin typeface="Segoe UI Semibold"/>
              </a:rPr>
              <a:t>Scoring is computed in code</a:t>
            </a:r>
          </a:p>
        </p:txBody>
      </p:sp>
      <p:sp>
        <p:nvSpPr>
          <p:cNvPr id="5" name="TextBox 4"/>
          <p:cNvSpPr txBox="1"/>
          <p:nvPr/>
        </p:nvSpPr>
        <p:spPr>
          <a:xfrm>
            <a:off x="9875520" y="6419088"/>
            <a:ext cx="1920240" cy="274320"/>
          </a:xfrm>
          <a:prstGeom prst="rect">
            <a:avLst/>
          </a:prstGeom>
          <a:noFill/>
        </p:spPr>
        <p:txBody>
          <a:bodyPr wrap="square" anchor="t" lIns="27432" rIns="27432">
            <a:spAutoFit/>
          </a:bodyPr>
          <a:lstStyle/>
          <a:p>
            <a:pPr algn="r">
              <a:lnSpc>
                <a:spcPct val="112000"/>
              </a:lnSpc>
            </a:pPr>
            <a:r>
              <a:rPr sz="1000" b="0">
                <a:solidFill>
                  <a:srgbClr val="7F899B"/>
                </a:solidFill>
                <a:latin typeface="Segoe UI"/>
              </a:rPr>
              <a:t>AutoGrader+   8 / 19</a:t>
            </a:r>
          </a:p>
        </p:txBody>
      </p:sp>
      <p:sp>
        <p:nvSpPr>
          <p:cNvPr id="6" name="Rectangle 5"/>
          <p:cNvSpPr/>
          <p:nvPr/>
        </p:nvSpPr>
        <p:spPr>
          <a:xfrm>
            <a:off x="548640" y="1481328"/>
            <a:ext cx="8001000" cy="502920"/>
          </a:xfrm>
          <a:prstGeom prst="rect">
            <a:avLst/>
          </a:prstGeom>
          <a:solidFill>
            <a:srgbClr val="FFE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63040"/>
            <a:ext cx="8412480" cy="548640"/>
          </a:xfrm>
          <a:prstGeom prst="rect">
            <a:avLst/>
          </a:prstGeom>
          <a:noFill/>
        </p:spPr>
        <p:txBody>
          <a:bodyPr wrap="square" anchor="t" lIns="27432" rIns="27432">
            <a:spAutoFit/>
          </a:bodyPr>
          <a:lstStyle/>
          <a:p>
            <a:pPr algn="l">
              <a:lnSpc>
                <a:spcPct val="112000"/>
              </a:lnSpc>
            </a:pPr>
            <a:r>
              <a:rPr sz="2200" b="1">
                <a:solidFill>
                  <a:srgbClr val="141C2E"/>
                </a:solidFill>
                <a:latin typeface="Consolas"/>
              </a:rPr>
              <a:t>final score = 10 × Σ (weight_area × score_area)</a:t>
            </a:r>
          </a:p>
        </p:txBody>
      </p:sp>
      <p:sp>
        <p:nvSpPr>
          <p:cNvPr id="8" name="TextBox 7"/>
          <p:cNvSpPr txBox="1"/>
          <p:nvPr/>
        </p:nvSpPr>
        <p:spPr>
          <a:xfrm>
            <a:off x="548640" y="2286000"/>
            <a:ext cx="5852160" cy="3474720"/>
          </a:xfrm>
          <a:prstGeom prst="rect">
            <a:avLst/>
          </a:prstGeom>
          <a:noFill/>
        </p:spPr>
        <p:txBody>
          <a:bodyPr wrap="square">
            <a:spAutoFit/>
          </a:bodyPr>
          <a:lstStyle/>
          <a:p>
            <a:pPr>
              <a:lnSpc>
                <a:spcPct val="110000"/>
              </a:lnSpc>
              <a:spcAft>
                <a:spcPts val="700"/>
              </a:spcAft>
            </a:pPr>
            <a:r>
              <a:rPr sz="1400" b="1">
                <a:solidFill>
                  <a:srgbClr val="2140D9"/>
                </a:solidFill>
                <a:latin typeface="Segoe UI"/>
              </a:rPr>
              <a:t>•  </a:t>
            </a:r>
            <a:r>
              <a:rPr sz="1400" b="1">
                <a:solidFill>
                  <a:srgbClr val="141C2E"/>
                </a:solidFill>
                <a:latin typeface="Segoe UI Semibold"/>
              </a:rPr>
              <a:t>Each area</a:t>
            </a:r>
            <a:r>
              <a:rPr sz="1400" b="0">
                <a:solidFill>
                  <a:srgbClr val="4A5468"/>
                </a:solidFill>
                <a:latin typeface="Segoe UI"/>
              </a:rPr>
              <a:t>  is scored 0–10 by its reviewer, then calibrated by the judge (±1.5 at most).</a:t>
            </a:r>
          </a:p>
          <a:p>
            <a:pPr>
              <a:lnSpc>
                <a:spcPct val="110000"/>
              </a:lnSpc>
              <a:spcAft>
                <a:spcPts val="700"/>
              </a:spcAft>
            </a:pPr>
            <a:r>
              <a:rPr sz="1400" b="1">
                <a:solidFill>
                  <a:srgbClr val="2140D9"/>
                </a:solidFill>
                <a:latin typeface="Segoe UI"/>
              </a:rPr>
              <a:t>•  </a:t>
            </a:r>
            <a:r>
              <a:rPr sz="1400" b="1">
                <a:solidFill>
                  <a:srgbClr val="141C2E"/>
                </a:solidFill>
                <a:latin typeface="Segoe UI Semibold"/>
              </a:rPr>
              <a:t>Weights</a:t>
            </a:r>
            <a:r>
              <a:rPr sz="1400" b="0">
                <a:solidFill>
                  <a:srgbClr val="4A5468"/>
                </a:solidFill>
                <a:latin typeface="Segoe UI"/>
              </a:rPr>
              <a:t>  are set per assignment and shown to students before they submit (default: code 25%, architecture 25%, testing 20%, security 15%, DevOps 15%).</a:t>
            </a:r>
          </a:p>
          <a:p>
            <a:pPr>
              <a:lnSpc>
                <a:spcPct val="110000"/>
              </a:lnSpc>
              <a:spcAft>
                <a:spcPts val="700"/>
              </a:spcAft>
            </a:pPr>
            <a:r>
              <a:rPr sz="1400" b="1">
                <a:solidFill>
                  <a:srgbClr val="2140D9"/>
                </a:solidFill>
                <a:latin typeface="Segoe UI"/>
              </a:rPr>
              <a:t>•  </a:t>
            </a:r>
            <a:r>
              <a:rPr sz="1400" b="1">
                <a:solidFill>
                  <a:srgbClr val="141C2E"/>
                </a:solidFill>
                <a:latin typeface="Segoe UI Semibold"/>
              </a:rPr>
              <a:t>Best attempt counts:</a:t>
            </a:r>
            <a:r>
              <a:rPr sz="1400" b="0">
                <a:solidFill>
                  <a:srgbClr val="4A5468"/>
                </a:solidFill>
                <a:latin typeface="Segoe UI"/>
              </a:rPr>
              <a:t>  students can resubmit as often as they want.</a:t>
            </a:r>
          </a:p>
          <a:p>
            <a:pPr>
              <a:lnSpc>
                <a:spcPct val="110000"/>
              </a:lnSpc>
              <a:spcAft>
                <a:spcPts val="700"/>
              </a:spcAft>
            </a:pPr>
            <a:r>
              <a:rPr sz="1400" b="1">
                <a:solidFill>
                  <a:srgbClr val="2140D9"/>
                </a:solidFill>
                <a:latin typeface="Segoe UI"/>
              </a:rPr>
              <a:t>•  </a:t>
            </a:r>
            <a:r>
              <a:rPr sz="1400" b="1">
                <a:solidFill>
                  <a:srgbClr val="141C2E"/>
                </a:solidFill>
                <a:latin typeface="Segoe UI Semibold"/>
              </a:rPr>
              <a:t>Instructor adjustment:</a:t>
            </a:r>
            <a:r>
              <a:rPr sz="1400" b="0">
                <a:solidFill>
                  <a:srgbClr val="4A5468"/>
                </a:solidFill>
                <a:latin typeface="Segoe UI"/>
              </a:rPr>
              <a:t>  a score can be set by hand with a written reason; the original is kept and can be restored, and the student sees the reason.</a:t>
            </a:r>
          </a:p>
        </p:txBody>
      </p:sp>
      <p:graphicFrame>
        <p:nvGraphicFramePr>
          <p:cNvPr id="9" name="Table 8"/>
          <p:cNvGraphicFramePr>
            <a:graphicFrameLocks noGrp="1"/>
          </p:cNvGraphicFramePr>
          <p:nvPr/>
        </p:nvGraphicFramePr>
        <p:xfrm>
          <a:off x="6675120" y="2331720"/>
          <a:ext cx="4983480" cy="822960"/>
        </p:xfrm>
        <a:graphic>
          <a:graphicData uri="http://schemas.openxmlformats.org/drawingml/2006/table">
            <a:tbl>
              <a:tblPr firstRow="1" bandRow="1">
                <a:tableStyleId>{5C22544A-7EE6-4342-B048-85BDC9FD1C3A}</a:tableStyleId>
              </a:tblPr>
              <a:tblGrid>
                <a:gridCol w="1143000"/>
                <a:gridCol w="480060"/>
                <a:gridCol w="480060"/>
                <a:gridCol w="480060"/>
                <a:gridCol w="480060"/>
                <a:gridCol w="480060"/>
                <a:gridCol w="480060"/>
                <a:gridCol w="480060"/>
                <a:gridCol w="480060"/>
              </a:tblGrid>
              <a:tr h="411480">
                <a:tc>
                  <a:txBody>
                    <a:bodyPr wrap="square"/>
                    <a:lstStyle/>
                    <a:p>
                      <a:r>
                        <a:rPr sz="1300" b="1">
                          <a:solidFill>
                            <a:srgbClr val="141C2E"/>
                          </a:solidFill>
                          <a:latin typeface="Segoe UI Semibold"/>
                        </a:rPr>
                        <a:t>Grade</a:t>
                      </a:r>
                    </a:p>
                  </a:txBody>
                  <a:tcPr marL="73152" marR="73152" marT="27432" marB="27432">
                    <a:solidFill>
                      <a:srgbClr val="F1F3F6"/>
                    </a:solidFill>
                  </a:tcPr>
                </a:tc>
                <a:tc>
                  <a:txBody>
                    <a:bodyPr wrap="square"/>
                    <a:lstStyle/>
                    <a:p>
                      <a:r>
                        <a:rPr sz="1300" b="1">
                          <a:solidFill>
                            <a:srgbClr val="141C2E"/>
                          </a:solidFill>
                          <a:latin typeface="Segoe UI Semibold"/>
                        </a:rPr>
                        <a:t>A</a:t>
                      </a:r>
                    </a:p>
                  </a:txBody>
                  <a:tcPr marL="73152" marR="73152" marT="27432" marB="27432">
                    <a:solidFill>
                      <a:srgbClr val="F1F3F6"/>
                    </a:solidFill>
                  </a:tcPr>
                </a:tc>
                <a:tc>
                  <a:txBody>
                    <a:bodyPr wrap="square"/>
                    <a:lstStyle/>
                    <a:p>
                      <a:r>
                        <a:rPr sz="1300" b="1">
                          <a:solidFill>
                            <a:srgbClr val="141C2E"/>
                          </a:solidFill>
                          <a:latin typeface="Segoe UI Semibold"/>
                        </a:rPr>
                        <a:t>A-</a:t>
                      </a:r>
                    </a:p>
                  </a:txBody>
                  <a:tcPr marL="73152" marR="73152" marT="27432" marB="27432">
                    <a:solidFill>
                      <a:srgbClr val="F1F3F6"/>
                    </a:solidFill>
                  </a:tcPr>
                </a:tc>
                <a:tc>
                  <a:txBody>
                    <a:bodyPr wrap="square"/>
                    <a:lstStyle/>
                    <a:p>
                      <a:r>
                        <a:rPr sz="1300" b="1">
                          <a:solidFill>
                            <a:srgbClr val="141C2E"/>
                          </a:solidFill>
                          <a:latin typeface="Segoe UI Semibold"/>
                        </a:rPr>
                        <a:t>B</a:t>
                      </a:r>
                    </a:p>
                  </a:txBody>
                  <a:tcPr marL="73152" marR="73152" marT="27432" marB="27432">
                    <a:solidFill>
                      <a:srgbClr val="F1F3F6"/>
                    </a:solidFill>
                  </a:tcPr>
                </a:tc>
                <a:tc>
                  <a:txBody>
                    <a:bodyPr wrap="square"/>
                    <a:lstStyle/>
                    <a:p>
                      <a:r>
                        <a:rPr sz="1300" b="1">
                          <a:solidFill>
                            <a:srgbClr val="141C2E"/>
                          </a:solidFill>
                          <a:latin typeface="Segoe UI Semibold"/>
                        </a:rPr>
                        <a:t>B-</a:t>
                      </a:r>
                    </a:p>
                  </a:txBody>
                  <a:tcPr marL="73152" marR="73152" marT="27432" marB="27432">
                    <a:solidFill>
                      <a:srgbClr val="F1F3F6"/>
                    </a:solidFill>
                  </a:tcPr>
                </a:tc>
                <a:tc>
                  <a:txBody>
                    <a:bodyPr wrap="square"/>
                    <a:lstStyle/>
                    <a:p>
                      <a:r>
                        <a:rPr sz="1300" b="1">
                          <a:solidFill>
                            <a:srgbClr val="141C2E"/>
                          </a:solidFill>
                          <a:latin typeface="Segoe UI Semibold"/>
                        </a:rPr>
                        <a:t>C</a:t>
                      </a:r>
                    </a:p>
                  </a:txBody>
                  <a:tcPr marL="73152" marR="73152" marT="27432" marB="27432">
                    <a:solidFill>
                      <a:srgbClr val="F1F3F6"/>
                    </a:solidFill>
                  </a:tcPr>
                </a:tc>
                <a:tc>
                  <a:txBody>
                    <a:bodyPr wrap="square"/>
                    <a:lstStyle/>
                    <a:p>
                      <a:r>
                        <a:rPr sz="1300" b="1">
                          <a:solidFill>
                            <a:srgbClr val="141C2E"/>
                          </a:solidFill>
                          <a:latin typeface="Segoe UI Semibold"/>
                        </a:rPr>
                        <a:t>C-</a:t>
                      </a:r>
                    </a:p>
                  </a:txBody>
                  <a:tcPr marL="73152" marR="73152" marT="27432" marB="27432">
                    <a:solidFill>
                      <a:srgbClr val="F1F3F6"/>
                    </a:solidFill>
                  </a:tcPr>
                </a:tc>
                <a:tc>
                  <a:txBody>
                    <a:bodyPr wrap="square"/>
                    <a:lstStyle/>
                    <a:p>
                      <a:r>
                        <a:rPr sz="1300" b="1">
                          <a:solidFill>
                            <a:srgbClr val="141C2E"/>
                          </a:solidFill>
                          <a:latin typeface="Segoe UI Semibold"/>
                        </a:rPr>
                        <a:t>D</a:t>
                      </a:r>
                    </a:p>
                  </a:txBody>
                  <a:tcPr marL="73152" marR="73152" marT="27432" marB="27432">
                    <a:solidFill>
                      <a:srgbClr val="F1F3F6"/>
                    </a:solidFill>
                  </a:tcPr>
                </a:tc>
                <a:tc>
                  <a:txBody>
                    <a:bodyPr wrap="square"/>
                    <a:lstStyle/>
                    <a:p>
                      <a:r>
                        <a:rPr sz="1300" b="1">
                          <a:solidFill>
                            <a:srgbClr val="141C2E"/>
                          </a:solidFill>
                          <a:latin typeface="Segoe UI Semibold"/>
                        </a:rPr>
                        <a:t>F</a:t>
                      </a:r>
                    </a:p>
                  </a:txBody>
                  <a:tcPr marL="73152" marR="73152" marT="27432" marB="27432">
                    <a:solidFill>
                      <a:srgbClr val="F1F3F6"/>
                    </a:solidFill>
                  </a:tcPr>
                </a:tc>
              </a:tr>
              <a:tr h="411480">
                <a:tc>
                  <a:txBody>
                    <a:bodyPr wrap="square"/>
                    <a:lstStyle/>
                    <a:p>
                      <a:r>
                        <a:rPr sz="1300" b="1">
                          <a:solidFill>
                            <a:srgbClr val="141C2E"/>
                          </a:solidFill>
                          <a:latin typeface="Segoe UI Semibold"/>
                        </a:rPr>
                        <a:t>Score from</a:t>
                      </a:r>
                    </a:p>
                  </a:txBody>
                  <a:tcPr marL="73152" marR="73152" marT="27432" marB="27432">
                    <a:solidFill>
                      <a:srgbClr val="FFFFFF"/>
                    </a:solidFill>
                  </a:tcPr>
                </a:tc>
                <a:tc>
                  <a:txBody>
                    <a:bodyPr wrap="square"/>
                    <a:lstStyle/>
                    <a:p>
                      <a:r>
                        <a:rPr sz="1300" b="0">
                          <a:solidFill>
                            <a:srgbClr val="4A5468"/>
                          </a:solidFill>
                          <a:latin typeface="Segoe UI"/>
                        </a:rPr>
                        <a:t>85</a:t>
                      </a:r>
                    </a:p>
                  </a:txBody>
                  <a:tcPr marL="73152" marR="73152" marT="27432" marB="27432">
                    <a:solidFill>
                      <a:srgbClr val="FFFFFF"/>
                    </a:solidFill>
                  </a:tcPr>
                </a:tc>
                <a:tc>
                  <a:txBody>
                    <a:bodyPr wrap="square"/>
                    <a:lstStyle/>
                    <a:p>
                      <a:r>
                        <a:rPr sz="1300" b="0">
                          <a:solidFill>
                            <a:srgbClr val="4A5468"/>
                          </a:solidFill>
                          <a:latin typeface="Segoe UI"/>
                        </a:rPr>
                        <a:t>78</a:t>
                      </a:r>
                    </a:p>
                  </a:txBody>
                  <a:tcPr marL="73152" marR="73152" marT="27432" marB="27432">
                    <a:solidFill>
                      <a:srgbClr val="FFFFFF"/>
                    </a:solidFill>
                  </a:tcPr>
                </a:tc>
                <a:tc>
                  <a:txBody>
                    <a:bodyPr wrap="square"/>
                    <a:lstStyle/>
                    <a:p>
                      <a:r>
                        <a:rPr sz="1300" b="0">
                          <a:solidFill>
                            <a:srgbClr val="4A5468"/>
                          </a:solidFill>
                          <a:latin typeface="Segoe UI"/>
                        </a:rPr>
                        <a:t>70</a:t>
                      </a:r>
                    </a:p>
                  </a:txBody>
                  <a:tcPr marL="73152" marR="73152" marT="27432" marB="27432">
                    <a:solidFill>
                      <a:srgbClr val="FFFFFF"/>
                    </a:solidFill>
                  </a:tcPr>
                </a:tc>
                <a:tc>
                  <a:txBody>
                    <a:bodyPr wrap="square"/>
                    <a:lstStyle/>
                    <a:p>
                      <a:r>
                        <a:rPr sz="1300" b="0">
                          <a:solidFill>
                            <a:srgbClr val="4A5468"/>
                          </a:solidFill>
                          <a:latin typeface="Segoe UI"/>
                        </a:rPr>
                        <a:t>62</a:t>
                      </a:r>
                    </a:p>
                  </a:txBody>
                  <a:tcPr marL="73152" marR="73152" marT="27432" marB="27432">
                    <a:solidFill>
                      <a:srgbClr val="FFFFFF"/>
                    </a:solidFill>
                  </a:tcPr>
                </a:tc>
                <a:tc>
                  <a:txBody>
                    <a:bodyPr wrap="square"/>
                    <a:lstStyle/>
                    <a:p>
                      <a:r>
                        <a:rPr sz="1300" b="0">
                          <a:solidFill>
                            <a:srgbClr val="4A5468"/>
                          </a:solidFill>
                          <a:latin typeface="Segoe UI"/>
                        </a:rPr>
                        <a:t>55</a:t>
                      </a:r>
                    </a:p>
                  </a:txBody>
                  <a:tcPr marL="73152" marR="73152" marT="27432" marB="27432">
                    <a:solidFill>
                      <a:srgbClr val="FFFFFF"/>
                    </a:solidFill>
                  </a:tcPr>
                </a:tc>
                <a:tc>
                  <a:txBody>
                    <a:bodyPr wrap="square"/>
                    <a:lstStyle/>
                    <a:p>
                      <a:r>
                        <a:rPr sz="1300" b="0">
                          <a:solidFill>
                            <a:srgbClr val="4A5468"/>
                          </a:solidFill>
                          <a:latin typeface="Segoe UI"/>
                        </a:rPr>
                        <a:t>48</a:t>
                      </a:r>
                    </a:p>
                  </a:txBody>
                  <a:tcPr marL="73152" marR="73152" marT="27432" marB="27432">
                    <a:solidFill>
                      <a:srgbClr val="FFFFFF"/>
                    </a:solidFill>
                  </a:tcPr>
                </a:tc>
                <a:tc>
                  <a:txBody>
                    <a:bodyPr wrap="square"/>
                    <a:lstStyle/>
                    <a:p>
                      <a:r>
                        <a:rPr sz="1300" b="0">
                          <a:solidFill>
                            <a:srgbClr val="4A5468"/>
                          </a:solidFill>
                          <a:latin typeface="Segoe UI"/>
                        </a:rPr>
                        <a:t>40</a:t>
                      </a:r>
                    </a:p>
                  </a:txBody>
                  <a:tcPr marL="73152" marR="73152" marT="27432" marB="27432">
                    <a:solidFill>
                      <a:srgbClr val="FFFFFF"/>
                    </a:solidFill>
                  </a:tcPr>
                </a:tc>
                <a:tc>
                  <a:txBody>
                    <a:bodyPr wrap="square"/>
                    <a:lstStyle/>
                    <a:p>
                      <a:r>
                        <a:rPr sz="1300" b="0">
                          <a:solidFill>
                            <a:srgbClr val="4A5468"/>
                          </a:solidFill>
                          <a:latin typeface="Segoe UI"/>
                        </a:rPr>
                        <a:t>0</a:t>
                      </a:r>
                    </a:p>
                  </a:txBody>
                  <a:tcPr marL="73152" marR="73152" marT="27432" marB="27432">
                    <a:solidFill>
                      <a:srgbClr val="FFFFFF"/>
                    </a:solidFill>
                  </a:tcPr>
                </a:tc>
              </a:tr>
            </a:tbl>
          </a:graphicData>
        </a:graphic>
      </p:graphicFrame>
      <p:sp>
        <p:nvSpPr>
          <p:cNvPr id="10" name="Rounded Rectangle 9"/>
          <p:cNvSpPr/>
          <p:nvPr/>
        </p:nvSpPr>
        <p:spPr>
          <a:xfrm>
            <a:off x="6675120" y="3383280"/>
            <a:ext cx="4983480" cy="2194560"/>
          </a:xfrm>
          <a:prstGeom prst="roundRect">
            <a:avLst>
              <a:gd name="adj" fmla="val 10000"/>
            </a:avLst>
          </a:prstGeom>
          <a:solidFill>
            <a:srgbClr val="F1F3F6"/>
          </a:solidFill>
          <a:ln w="12700">
            <a:solidFill>
              <a:srgbClr val="F1F3F6"/>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600" b="1">
                <a:solidFill>
                  <a:srgbClr val="141C2E"/>
                </a:solidFill>
                <a:latin typeface="Segoe UI Semibold"/>
              </a:rPr>
              <a:t>Why in code?</a:t>
            </a:r>
          </a:p>
          <a:p>
            <a:pPr algn="l">
              <a:spcBef>
                <a:spcPts val="500"/>
              </a:spcBef>
            </a:pPr>
            <a:r>
              <a:rPr sz="1300" b="0">
                <a:solidFill>
                  <a:srgbClr val="4A5468"/>
                </a:solidFill>
                <a:latin typeface="Segoe UI"/>
              </a:rPr>
              <a:t>The same area scores always give the same total.</a:t>
            </a:r>
          </a:p>
          <a:p>
            <a:pPr algn="l">
              <a:spcBef>
                <a:spcPts val="500"/>
              </a:spcBef>
            </a:pPr>
            <a:r>
              <a:rPr sz="1300" b="0">
                <a:solidFill>
                  <a:srgbClr val="4A5468"/>
                </a:solidFill>
                <a:latin typeface="Segoe UI"/>
              </a:rPr>
              <a:t>Every grade can be audited and explained.</a:t>
            </a:r>
          </a:p>
          <a:p>
            <a:pPr algn="l">
              <a:spcBef>
                <a:spcPts val="500"/>
              </a:spcBef>
            </a:pPr>
            <a:r>
              <a:rPr sz="1300" b="0">
                <a:solidFill>
                  <a:srgbClr val="4A5468"/>
                </a:solidFill>
                <a:latin typeface="Segoe UI"/>
              </a:rPr>
              <a:t>Models judge quality; arithmetic stays deterministic.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14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20040"/>
          </a:xfrm>
          <a:prstGeom prst="rect">
            <a:avLst/>
          </a:prstGeom>
          <a:noFill/>
        </p:spPr>
        <p:txBody>
          <a:bodyPr wrap="square" anchor="t" lIns="27432" rIns="27432">
            <a:spAutoFit/>
          </a:bodyPr>
          <a:lstStyle/>
          <a:p>
            <a:pPr algn="l">
              <a:lnSpc>
                <a:spcPct val="112000"/>
              </a:lnSpc>
            </a:pPr>
            <a:r>
              <a:rPr sz="1200" b="0">
                <a:solidFill>
                  <a:srgbClr val="7F899B"/>
                </a:solidFill>
                <a:latin typeface="Segoe UI"/>
              </a:rPr>
              <a:t>Performance</a:t>
            </a:r>
          </a:p>
        </p:txBody>
      </p:sp>
      <p:sp>
        <p:nvSpPr>
          <p:cNvPr id="4" name="TextBox 3"/>
          <p:cNvSpPr txBox="1"/>
          <p:nvPr/>
        </p:nvSpPr>
        <p:spPr>
          <a:xfrm>
            <a:off x="548640" y="548640"/>
            <a:ext cx="11155680" cy="731520"/>
          </a:xfrm>
          <a:prstGeom prst="rect">
            <a:avLst/>
          </a:prstGeom>
          <a:noFill/>
        </p:spPr>
        <p:txBody>
          <a:bodyPr wrap="square" anchor="t" lIns="27432" rIns="27432">
            <a:spAutoFit/>
          </a:bodyPr>
          <a:lstStyle/>
          <a:p>
            <a:pPr algn="l">
              <a:lnSpc>
                <a:spcPct val="112000"/>
              </a:lnSpc>
            </a:pPr>
            <a:r>
              <a:rPr sz="2800" b="1">
                <a:solidFill>
                  <a:srgbClr val="141C2E"/>
                </a:solidFill>
                <a:latin typeface="Segoe UI Semibold"/>
              </a:rPr>
              <a:t>Latency engineering</a:t>
            </a:r>
          </a:p>
        </p:txBody>
      </p:sp>
      <p:sp>
        <p:nvSpPr>
          <p:cNvPr id="5" name="TextBox 4"/>
          <p:cNvSpPr txBox="1"/>
          <p:nvPr/>
        </p:nvSpPr>
        <p:spPr>
          <a:xfrm>
            <a:off x="9875520" y="6419088"/>
            <a:ext cx="1920240" cy="274320"/>
          </a:xfrm>
          <a:prstGeom prst="rect">
            <a:avLst/>
          </a:prstGeom>
          <a:noFill/>
        </p:spPr>
        <p:txBody>
          <a:bodyPr wrap="square" anchor="t" lIns="27432" rIns="27432">
            <a:spAutoFit/>
          </a:bodyPr>
          <a:lstStyle/>
          <a:p>
            <a:pPr algn="r">
              <a:lnSpc>
                <a:spcPct val="112000"/>
              </a:lnSpc>
            </a:pPr>
            <a:r>
              <a:rPr sz="1000" b="0">
                <a:solidFill>
                  <a:srgbClr val="7F899B"/>
                </a:solidFill>
                <a:latin typeface="Segoe UI"/>
              </a:rPr>
              <a:t>AutoGrader+   9 / 19</a:t>
            </a:r>
          </a:p>
        </p:txBody>
      </p:sp>
      <p:graphicFrame>
        <p:nvGraphicFramePr>
          <p:cNvPr id="6" name="Table 5"/>
          <p:cNvGraphicFramePr>
            <a:graphicFrameLocks noGrp="1"/>
          </p:cNvGraphicFramePr>
          <p:nvPr/>
        </p:nvGraphicFramePr>
        <p:xfrm>
          <a:off x="548640" y="1371600"/>
          <a:ext cx="11109960" cy="4325112"/>
        </p:xfrm>
        <a:graphic>
          <a:graphicData uri="http://schemas.openxmlformats.org/drawingml/2006/table">
            <a:tbl>
              <a:tblPr firstRow="1" bandRow="1">
                <a:tableStyleId>{5C22544A-7EE6-4342-B048-85BDC9FD1C3A}</a:tableStyleId>
              </a:tblPr>
              <a:tblGrid>
                <a:gridCol w="4206240"/>
                <a:gridCol w="6903720"/>
              </a:tblGrid>
              <a:tr h="393192">
                <a:tc>
                  <a:txBody>
                    <a:bodyPr wrap="square"/>
                    <a:lstStyle/>
                    <a:p>
                      <a:r>
                        <a:rPr sz="1250" b="1">
                          <a:solidFill>
                            <a:srgbClr val="141C2E"/>
                          </a:solidFill>
                          <a:latin typeface="Segoe UI Semibold"/>
                        </a:rPr>
                        <a:t>Technique</a:t>
                      </a:r>
                    </a:p>
                  </a:txBody>
                  <a:tcPr marL="73152" marR="73152" marT="27432" marB="27432">
                    <a:solidFill>
                      <a:srgbClr val="F1F3F6"/>
                    </a:solidFill>
                  </a:tcPr>
                </a:tc>
                <a:tc>
                  <a:txBody>
                    <a:bodyPr wrap="square"/>
                    <a:lstStyle/>
                    <a:p>
                      <a:r>
                        <a:rPr sz="1250" b="1">
                          <a:solidFill>
                            <a:srgbClr val="141C2E"/>
                          </a:solidFill>
                          <a:latin typeface="Segoe UI Semibold"/>
                        </a:rPr>
                        <a:t>Effect</a:t>
                      </a:r>
                    </a:p>
                  </a:txBody>
                  <a:tcPr marL="73152" marR="73152" marT="27432" marB="27432">
                    <a:solidFill>
                      <a:srgbClr val="F1F3F6"/>
                    </a:solidFill>
                  </a:tcPr>
                </a:tc>
              </a:tr>
              <a:tr h="393192">
                <a:tc>
                  <a:txBody>
                    <a:bodyPr wrap="square"/>
                    <a:lstStyle/>
                    <a:p>
                      <a:r>
                        <a:rPr sz="1250" b="1">
                          <a:solidFill>
                            <a:srgbClr val="141C2E"/>
                          </a:solidFill>
                          <a:latin typeface="Segoe UI Semibold"/>
                        </a:rPr>
                        <a:t>Fan-out of 5 reviewers</a:t>
                      </a:r>
                    </a:p>
                  </a:txBody>
                  <a:tcPr marL="73152" marR="73152" marT="27432" marB="27432">
                    <a:solidFill>
                      <a:srgbClr val="FFFFFF"/>
                    </a:solidFill>
                  </a:tcPr>
                </a:tc>
                <a:tc>
                  <a:txBody>
                    <a:bodyPr wrap="square"/>
                    <a:lstStyle/>
                    <a:p>
                      <a:r>
                        <a:rPr sz="1250" b="0">
                          <a:solidFill>
                            <a:srgbClr val="4A5468"/>
                          </a:solidFill>
                          <a:latin typeface="Segoe UI"/>
                        </a:rPr>
                        <a:t>model phase costs the slowest reviewer, not the sum</a:t>
                      </a:r>
                    </a:p>
                  </a:txBody>
                  <a:tcPr marL="73152" marR="73152" marT="27432" marB="27432">
                    <a:solidFill>
                      <a:srgbClr val="FFFFFF"/>
                    </a:solidFill>
                  </a:tcPr>
                </a:tc>
              </a:tr>
              <a:tr h="393192">
                <a:tc>
                  <a:txBody>
                    <a:bodyPr wrap="square"/>
                    <a:lstStyle/>
                    <a:p>
                      <a:r>
                        <a:rPr sz="1250" b="1">
                          <a:solidFill>
                            <a:srgbClr val="141C2E"/>
                          </a:solidFill>
                          <a:latin typeface="Segoe UI Semibold"/>
                        </a:rPr>
                        <a:t>Docker overlapped with reviewers</a:t>
                      </a:r>
                    </a:p>
                  </a:txBody>
                  <a:tcPr marL="73152" marR="73152" marT="27432" marB="27432">
                    <a:solidFill>
                      <a:srgbClr val="FFFFFF"/>
                    </a:solidFill>
                  </a:tcPr>
                </a:tc>
                <a:tc>
                  <a:txBody>
                    <a:bodyPr wrap="square"/>
                    <a:lstStyle/>
                    <a:p>
                      <a:r>
                        <a:rPr sz="1250" b="0">
                          <a:solidFill>
                            <a:srgbClr val="4A5468"/>
                          </a:solidFill>
                          <a:latin typeface="Segoe UI"/>
                        </a:rPr>
                        <a:t>build leaves the critical path</a:t>
                      </a:r>
                    </a:p>
                  </a:txBody>
                  <a:tcPr marL="73152" marR="73152" marT="27432" marB="27432">
                    <a:solidFill>
                      <a:srgbClr val="FFFFFF"/>
                    </a:solidFill>
                  </a:tcPr>
                </a:tc>
              </a:tr>
              <a:tr h="393192">
                <a:tc>
                  <a:txBody>
                    <a:bodyPr wrap="square"/>
                    <a:lstStyle/>
                    <a:p>
                      <a:r>
                        <a:rPr sz="1250" b="1">
                          <a:solidFill>
                            <a:srgbClr val="141C2E"/>
                          </a:solidFill>
                          <a:latin typeface="Segoe UI Semibold"/>
                        </a:rPr>
                        <a:t>Speculative clone ‖ ls-remote</a:t>
                      </a:r>
                    </a:p>
                  </a:txBody>
                  <a:tcPr marL="73152" marR="73152" marT="27432" marB="27432">
                    <a:solidFill>
                      <a:srgbClr val="FFFFFF"/>
                    </a:solidFill>
                  </a:tcPr>
                </a:tc>
                <a:tc>
                  <a:txBody>
                    <a:bodyPr wrap="square"/>
                    <a:lstStyle/>
                    <a:p>
                      <a:r>
                        <a:rPr sz="1250" b="0">
                          <a:solidFill>
                            <a:srgbClr val="4A5468"/>
                          </a:solidFill>
                          <a:latin typeface="Segoe UI"/>
                        </a:rPr>
                        <a:t>a cache miss pays nothing for resolution</a:t>
                      </a:r>
                    </a:p>
                  </a:txBody>
                  <a:tcPr marL="73152" marR="73152" marT="27432" marB="27432">
                    <a:solidFill>
                      <a:srgbClr val="FFFFFF"/>
                    </a:solidFill>
                  </a:tcPr>
                </a:tc>
              </a:tr>
              <a:tr h="393192">
                <a:tc>
                  <a:txBody>
                    <a:bodyPr wrap="square"/>
                    <a:lstStyle/>
                    <a:p>
                      <a:r>
                        <a:rPr sz="1250" b="1">
                          <a:solidFill>
                            <a:srgbClr val="141C2E"/>
                          </a:solidFill>
                          <a:latin typeface="Segoe UI Semibold"/>
                        </a:rPr>
                        <a:t>Content-addressed result cache</a:t>
                      </a:r>
                    </a:p>
                  </a:txBody>
                  <a:tcPr marL="73152" marR="73152" marT="27432" marB="27432">
                    <a:solidFill>
                      <a:srgbClr val="FFFFFF"/>
                    </a:solidFill>
                  </a:tcPr>
                </a:tc>
                <a:tc>
                  <a:txBody>
                    <a:bodyPr wrap="square"/>
                    <a:lstStyle/>
                    <a:p>
                      <a:r>
                        <a:rPr sz="1250" b="0">
                          <a:solidFill>
                            <a:srgbClr val="4A5468"/>
                          </a:solidFill>
                          <a:latin typeface="Segoe UI"/>
                        </a:rPr>
                        <a:t>unchanged code re-graded in 1.2 s</a:t>
                      </a:r>
                    </a:p>
                  </a:txBody>
                  <a:tcPr marL="73152" marR="73152" marT="27432" marB="27432">
                    <a:solidFill>
                      <a:srgbClr val="FFFFFF"/>
                    </a:solidFill>
                  </a:tcPr>
                </a:tc>
              </a:tr>
              <a:tr h="393192">
                <a:tc>
                  <a:txBody>
                    <a:bodyPr wrap="square"/>
                    <a:lstStyle/>
                    <a:p>
                      <a:r>
                        <a:rPr sz="1250" b="1">
                          <a:solidFill>
                            <a:srgbClr val="141C2E"/>
                          </a:solidFill>
                          <a:latin typeface="Segoe UI Semibold"/>
                        </a:rPr>
                        <a:t>Single-flight de-duplication</a:t>
                      </a:r>
                    </a:p>
                  </a:txBody>
                  <a:tcPr marL="73152" marR="73152" marT="27432" marB="27432">
                    <a:solidFill>
                      <a:srgbClr val="FFFFFF"/>
                    </a:solidFill>
                  </a:tcPr>
                </a:tc>
                <a:tc>
                  <a:txBody>
                    <a:bodyPr wrap="square"/>
                    <a:lstStyle/>
                    <a:p>
                      <a:r>
                        <a:rPr sz="1250" b="0">
                          <a:solidFill>
                            <a:srgbClr val="4A5468"/>
                          </a:solidFill>
                          <a:latin typeface="Segoe UI"/>
                        </a:rPr>
                        <a:t>identical in-flight requests share one job</a:t>
                      </a:r>
                    </a:p>
                  </a:txBody>
                  <a:tcPr marL="73152" marR="73152" marT="27432" marB="27432">
                    <a:solidFill>
                      <a:srgbClr val="FFFFFF"/>
                    </a:solidFill>
                  </a:tcPr>
                </a:tc>
              </a:tr>
              <a:tr h="393192">
                <a:tc>
                  <a:txBody>
                    <a:bodyPr wrap="square"/>
                    <a:lstStyle/>
                    <a:p>
                      <a:r>
                        <a:rPr sz="1250" b="1">
                          <a:solidFill>
                            <a:srgbClr val="141C2E"/>
                          </a:solidFill>
                          <a:latin typeface="Segoe UI Semibold"/>
                        </a:rPr>
                        <a:t>One-pass indexer</a:t>
                      </a:r>
                    </a:p>
                  </a:txBody>
                  <a:tcPr marL="73152" marR="73152" marT="27432" marB="27432">
                    <a:solidFill>
                      <a:srgbClr val="FFFFFF"/>
                    </a:solidFill>
                  </a:tcPr>
                </a:tc>
                <a:tc>
                  <a:txBody>
                    <a:bodyPr wrap="square"/>
                    <a:lstStyle/>
                    <a:p>
                      <a:r>
                        <a:rPr sz="1250" b="0">
                          <a:solidFill>
                            <a:srgbClr val="4A5468"/>
                          </a:solidFill>
                          <a:latin typeface="Segoe UI"/>
                        </a:rPr>
                        <a:t>35 ms for an 8-service repository</a:t>
                      </a:r>
                    </a:p>
                  </a:txBody>
                  <a:tcPr marL="73152" marR="73152" marT="27432" marB="27432">
                    <a:solidFill>
                      <a:srgbClr val="FFFFFF"/>
                    </a:solidFill>
                  </a:tcPr>
                </a:tc>
              </a:tr>
              <a:tr h="393192">
                <a:tc>
                  <a:txBody>
                    <a:bodyPr wrap="square"/>
                    <a:lstStyle/>
                    <a:p>
                      <a:r>
                        <a:rPr sz="1250" b="1">
                          <a:solidFill>
                            <a:srgbClr val="141C2E"/>
                          </a:solidFill>
                          <a:latin typeface="Segoe UI Semibold"/>
                        </a:rPr>
                        <a:t>Ranked evidence + char budgets</a:t>
                      </a:r>
                    </a:p>
                  </a:txBody>
                  <a:tcPr marL="73152" marR="73152" marT="27432" marB="27432">
                    <a:solidFill>
                      <a:srgbClr val="FFFFFF"/>
                    </a:solidFill>
                  </a:tcPr>
                </a:tc>
                <a:tc>
                  <a:txBody>
                    <a:bodyPr wrap="square"/>
                    <a:lstStyle/>
                    <a:p>
                      <a:r>
                        <a:rPr sz="1250" b="0">
                          <a:solidFill>
                            <a:srgbClr val="4A5468"/>
                          </a:solidFill>
                          <a:latin typeface="Segoe UI"/>
                        </a:rPr>
                        <a:t>3.6k–7.2k input tokens per reviewer</a:t>
                      </a:r>
                    </a:p>
                  </a:txBody>
                  <a:tcPr marL="73152" marR="73152" marT="27432" marB="27432">
                    <a:solidFill>
                      <a:srgbClr val="FFFFFF"/>
                    </a:solidFill>
                  </a:tcPr>
                </a:tc>
              </a:tr>
              <a:tr h="393192">
                <a:tc>
                  <a:txBody>
                    <a:bodyPr wrap="square"/>
                    <a:lstStyle/>
                    <a:p>
                      <a:r>
                        <a:rPr sz="1250" b="1">
                          <a:solidFill>
                            <a:srgbClr val="141C2E"/>
                          </a:solidFill>
                          <a:latin typeface="Segoe UI Semibold"/>
                        </a:rPr>
                        <a:t>Shared prompt prefix</a:t>
                      </a:r>
                    </a:p>
                  </a:txBody>
                  <a:tcPr marL="73152" marR="73152" marT="27432" marB="27432">
                    <a:solidFill>
                      <a:srgbClr val="FFFFFF"/>
                    </a:solidFill>
                  </a:tcPr>
                </a:tc>
                <a:tc>
                  <a:txBody>
                    <a:bodyPr wrap="square"/>
                    <a:lstStyle/>
                    <a:p>
                      <a:r>
                        <a:rPr sz="1250" b="0">
                          <a:solidFill>
                            <a:srgbClr val="4A5468"/>
                          </a:solidFill>
                          <a:latin typeface="Segoe UI"/>
                        </a:rPr>
                        <a:t>byte-identical across reviewers for prompt caching</a:t>
                      </a:r>
                    </a:p>
                  </a:txBody>
                  <a:tcPr marL="73152" marR="73152" marT="27432" marB="27432">
                    <a:solidFill>
                      <a:srgbClr val="FFFFFF"/>
                    </a:solidFill>
                  </a:tcPr>
                </a:tc>
              </a:tr>
              <a:tr h="393192">
                <a:tc>
                  <a:txBody>
                    <a:bodyPr wrap="square"/>
                    <a:lstStyle/>
                    <a:p>
                      <a:r>
                        <a:rPr sz="1250" b="1">
                          <a:solidFill>
                            <a:srgbClr val="141C2E"/>
                          </a:solidFill>
                          <a:latin typeface="Segoe UI Semibold"/>
                        </a:rPr>
                        <a:t>Capped output</a:t>
                      </a:r>
                    </a:p>
                  </a:txBody>
                  <a:tcPr marL="73152" marR="73152" marT="27432" marB="27432">
                    <a:solidFill>
                      <a:srgbClr val="FFFFFF"/>
                    </a:solidFill>
                  </a:tcPr>
                </a:tc>
                <a:tc>
                  <a:txBody>
                    <a:bodyPr wrap="square"/>
                    <a:lstStyle/>
                    <a:p>
                      <a:r>
                        <a:rPr sz="1250" b="0">
                          <a:solidFill>
                            <a:srgbClr val="4A5468"/>
                          </a:solidFill>
                          <a:latin typeface="Segoe UI"/>
                        </a:rPr>
                        <a:t>≤7 findings, short summaries (decoding dominates latency)</a:t>
                      </a:r>
                    </a:p>
                  </a:txBody>
                  <a:tcPr marL="73152" marR="73152" marT="27432" marB="27432">
                    <a:solidFill>
                      <a:srgbClr val="FFFFFF"/>
                    </a:solidFill>
                  </a:tcPr>
                </a:tc>
              </a:tr>
              <a:tr h="393192">
                <a:tc>
                  <a:txBody>
                    <a:bodyPr wrap="square"/>
                    <a:lstStyle/>
                    <a:p>
                      <a:r>
                        <a:rPr sz="1250" b="1">
                          <a:solidFill>
                            <a:srgbClr val="141C2E"/>
                          </a:solidFill>
                          <a:latin typeface="Segoe UI Semibold"/>
                        </a:rPr>
                        <a:t>Non-blocking I/O</a:t>
                      </a:r>
                    </a:p>
                  </a:txBody>
                  <a:tcPr marL="73152" marR="73152" marT="27432" marB="27432">
                    <a:solidFill>
                      <a:srgbClr val="FFFFFF"/>
                    </a:solidFill>
                  </a:tcPr>
                </a:tc>
                <a:tc>
                  <a:txBody>
                    <a:bodyPr wrap="square"/>
                    <a:lstStyle/>
                    <a:p>
                      <a:r>
                        <a:rPr sz="1250" b="0">
                          <a:solidFill>
                            <a:srgbClr val="4A5468"/>
                          </a:solidFill>
                          <a:latin typeface="Segoe UI"/>
                        </a:rPr>
                        <a:t>git, docker, indexing in worker threads; SSE keeps flowing</a:t>
                      </a:r>
                    </a:p>
                  </a:txBody>
                  <a:tcPr marL="73152" marR="73152" marT="27432" marB="2743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14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20040"/>
          </a:xfrm>
          <a:prstGeom prst="rect">
            <a:avLst/>
          </a:prstGeom>
          <a:noFill/>
        </p:spPr>
        <p:txBody>
          <a:bodyPr wrap="square" anchor="t" lIns="27432" rIns="27432">
            <a:spAutoFit/>
          </a:bodyPr>
          <a:lstStyle/>
          <a:p>
            <a:pPr algn="l">
              <a:lnSpc>
                <a:spcPct val="112000"/>
              </a:lnSpc>
            </a:pPr>
            <a:r>
              <a:rPr sz="1200" b="0">
                <a:solidFill>
                  <a:srgbClr val="7F899B"/>
                </a:solidFill>
                <a:latin typeface="Segoe UI"/>
              </a:rPr>
              <a:t>Performance</a:t>
            </a:r>
          </a:p>
        </p:txBody>
      </p:sp>
      <p:sp>
        <p:nvSpPr>
          <p:cNvPr id="4" name="TextBox 3"/>
          <p:cNvSpPr txBox="1"/>
          <p:nvPr/>
        </p:nvSpPr>
        <p:spPr>
          <a:xfrm>
            <a:off x="548640" y="548640"/>
            <a:ext cx="11155680" cy="731520"/>
          </a:xfrm>
          <a:prstGeom prst="rect">
            <a:avLst/>
          </a:prstGeom>
          <a:noFill/>
        </p:spPr>
        <p:txBody>
          <a:bodyPr wrap="square" anchor="t" lIns="27432" rIns="27432">
            <a:spAutoFit/>
          </a:bodyPr>
          <a:lstStyle/>
          <a:p>
            <a:pPr algn="l">
              <a:lnSpc>
                <a:spcPct val="112000"/>
              </a:lnSpc>
            </a:pPr>
            <a:r>
              <a:rPr sz="2800" b="1">
                <a:solidFill>
                  <a:srgbClr val="141C2E"/>
                </a:solidFill>
                <a:latin typeface="Segoe UI Semibold"/>
              </a:rPr>
              <a:t>Measured results</a:t>
            </a:r>
          </a:p>
        </p:txBody>
      </p:sp>
      <p:sp>
        <p:nvSpPr>
          <p:cNvPr id="5" name="TextBox 4"/>
          <p:cNvSpPr txBox="1"/>
          <p:nvPr/>
        </p:nvSpPr>
        <p:spPr>
          <a:xfrm>
            <a:off x="9875520" y="6419088"/>
            <a:ext cx="1920240" cy="274320"/>
          </a:xfrm>
          <a:prstGeom prst="rect">
            <a:avLst/>
          </a:prstGeom>
          <a:noFill/>
        </p:spPr>
        <p:txBody>
          <a:bodyPr wrap="square" anchor="t" lIns="27432" rIns="27432">
            <a:spAutoFit/>
          </a:bodyPr>
          <a:lstStyle/>
          <a:p>
            <a:pPr algn="r">
              <a:lnSpc>
                <a:spcPct val="112000"/>
              </a:lnSpc>
            </a:pPr>
            <a:r>
              <a:rPr sz="1000" b="0">
                <a:solidFill>
                  <a:srgbClr val="7F899B"/>
                </a:solidFill>
                <a:latin typeface="Segoe UI"/>
              </a:rPr>
              <a:t>AutoGrader+   10 / 19</a:t>
            </a:r>
          </a:p>
        </p:txBody>
      </p:sp>
      <p:sp>
        <p:nvSpPr>
          <p:cNvPr id="6" name="Rounded Rectangle 5"/>
          <p:cNvSpPr/>
          <p:nvPr/>
        </p:nvSpPr>
        <p:spPr>
          <a:xfrm>
            <a:off x="548640" y="1417320"/>
            <a:ext cx="2651760" cy="1371600"/>
          </a:xfrm>
          <a:prstGeom prst="roundRect">
            <a:avLst>
              <a:gd name="adj" fmla="val 10000"/>
            </a:avLst>
          </a:prstGeom>
          <a:solidFill>
            <a:srgbClr val="FFFFFF"/>
          </a:solidFill>
          <a:ln w="1905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141C2E"/>
                </a:solidFill>
                <a:latin typeface="Segoe UI Semibold"/>
              </a:rPr>
              <a:t>27.5 s</a:t>
            </a:r>
          </a:p>
          <a:p>
            <a:pPr algn="ctr"/>
            <a:r>
              <a:rPr sz="1200" b="0">
                <a:solidFill>
                  <a:srgbClr val="4A5468"/>
                </a:solidFill>
                <a:latin typeface="Segoe UI"/>
              </a:rPr>
              <a:t>5 reviewers + judge, end to end</a:t>
            </a:r>
          </a:p>
        </p:txBody>
      </p:sp>
      <p:sp>
        <p:nvSpPr>
          <p:cNvPr id="7" name="Rounded Rectangle 6"/>
          <p:cNvSpPr/>
          <p:nvPr/>
        </p:nvSpPr>
        <p:spPr>
          <a:xfrm>
            <a:off x="3364992" y="1417320"/>
            <a:ext cx="2651760" cy="1371600"/>
          </a:xfrm>
          <a:prstGeom prst="roundRect">
            <a:avLst>
              <a:gd name="adj" fmla="val 10000"/>
            </a:avLst>
          </a:prstGeom>
          <a:solidFill>
            <a:srgbClr val="FFFFFF"/>
          </a:solidFill>
          <a:ln w="1905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141C2E"/>
                </a:solidFill>
                <a:latin typeface="Segoe UI Semibold"/>
              </a:rPr>
              <a:t>75.5 s</a:t>
            </a:r>
          </a:p>
          <a:p>
            <a:pPr algn="ctr"/>
            <a:r>
              <a:rPr sz="1200" b="0">
                <a:solidFill>
                  <a:srgbClr val="4A5468"/>
                </a:solidFill>
                <a:latin typeface="Segoe UI"/>
              </a:rPr>
              <a:t>same stages in sequence</a:t>
            </a:r>
          </a:p>
        </p:txBody>
      </p:sp>
      <p:sp>
        <p:nvSpPr>
          <p:cNvPr id="8" name="Rounded Rectangle 7"/>
          <p:cNvSpPr/>
          <p:nvPr/>
        </p:nvSpPr>
        <p:spPr>
          <a:xfrm>
            <a:off x="6181344" y="1417320"/>
            <a:ext cx="2651760" cy="1371600"/>
          </a:xfrm>
          <a:prstGeom prst="roundRect">
            <a:avLst>
              <a:gd name="adj" fmla="val 10000"/>
            </a:avLst>
          </a:prstGeom>
          <a:solidFill>
            <a:srgbClr val="FFFFFF"/>
          </a:solidFill>
          <a:ln w="19050">
            <a:solidFill>
              <a:srgbClr val="214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141C2E"/>
                </a:solidFill>
                <a:latin typeface="Segoe UI Semibold"/>
              </a:rPr>
              <a:t>2.74×</a:t>
            </a:r>
          </a:p>
          <a:p>
            <a:pPr algn="ctr"/>
            <a:r>
              <a:rPr sz="1200" b="0">
                <a:solidFill>
                  <a:srgbClr val="4A5468"/>
                </a:solidFill>
                <a:latin typeface="Segoe UI"/>
              </a:rPr>
              <a:t>speed-up from the graph</a:t>
            </a:r>
          </a:p>
        </p:txBody>
      </p:sp>
      <p:sp>
        <p:nvSpPr>
          <p:cNvPr id="9" name="Rounded Rectangle 8"/>
          <p:cNvSpPr/>
          <p:nvPr/>
        </p:nvSpPr>
        <p:spPr>
          <a:xfrm>
            <a:off x="8997696" y="1417320"/>
            <a:ext cx="2651760" cy="1371600"/>
          </a:xfrm>
          <a:prstGeom prst="roundRect">
            <a:avLst>
              <a:gd name="adj" fmla="val 10000"/>
            </a:avLst>
          </a:prstGeom>
          <a:solidFill>
            <a:srgbClr val="FFFFFF"/>
          </a:solidFill>
          <a:ln w="1905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141C2E"/>
                </a:solidFill>
                <a:latin typeface="Segoe UI Semibold"/>
              </a:rPr>
              <a:t>1.2 s</a:t>
            </a:r>
          </a:p>
          <a:p>
            <a:pPr algn="ctr"/>
            <a:r>
              <a:rPr sz="1200" b="0">
                <a:solidFill>
                  <a:srgbClr val="4A5468"/>
                </a:solidFill>
                <a:latin typeface="Segoe UI"/>
              </a:rPr>
              <a:t>re-grade with a cache hit</a:t>
            </a:r>
          </a:p>
        </p:txBody>
      </p:sp>
      <p:sp>
        <p:nvSpPr>
          <p:cNvPr id="10" name="TextBox 9"/>
          <p:cNvSpPr txBox="1"/>
          <p:nvPr/>
        </p:nvSpPr>
        <p:spPr>
          <a:xfrm>
            <a:off x="548640" y="2971800"/>
            <a:ext cx="11155680" cy="457200"/>
          </a:xfrm>
          <a:prstGeom prst="rect">
            <a:avLst/>
          </a:prstGeom>
          <a:noFill/>
        </p:spPr>
        <p:txBody>
          <a:bodyPr wrap="square" anchor="t" lIns="27432" rIns="27432">
            <a:spAutoFit/>
          </a:bodyPr>
          <a:lstStyle/>
          <a:p>
            <a:pPr algn="l">
              <a:lnSpc>
                <a:spcPct val="112000"/>
              </a:lnSpc>
            </a:pPr>
            <a:r>
              <a:rPr sz="1200" b="0">
                <a:solidFill>
                  <a:srgbClr val="7F899B"/>
                </a:solidFill>
                <a:latin typeface="Segoe UI"/>
              </a:rPr>
              <a:t>Benchmark: scripts/latency_benchmark.py on dockersamples/example-voting-app, real clone, index, lint and judge logic; model latency simulated (0.8 s to first token, 20k in / 70 out tokens per second).</a:t>
            </a:r>
          </a:p>
        </p:txBody>
      </p:sp>
      <p:graphicFrame>
        <p:nvGraphicFramePr>
          <p:cNvPr id="11" name="Table 10"/>
          <p:cNvGraphicFramePr>
            <a:graphicFrameLocks noGrp="1"/>
          </p:cNvGraphicFramePr>
          <p:nvPr/>
        </p:nvGraphicFramePr>
        <p:xfrm>
          <a:off x="548640" y="3566160"/>
          <a:ext cx="6400800" cy="2304288"/>
        </p:xfrm>
        <a:graphic>
          <a:graphicData uri="http://schemas.openxmlformats.org/drawingml/2006/table">
            <a:tbl>
              <a:tblPr firstRow="1" bandRow="1">
                <a:tableStyleId>{5C22544A-7EE6-4342-B048-85BDC9FD1C3A}</a:tableStyleId>
              </a:tblPr>
              <a:tblGrid>
                <a:gridCol w="2194560"/>
                <a:gridCol w="1554480"/>
                <a:gridCol w="2651760"/>
              </a:tblGrid>
              <a:tr h="384048">
                <a:tc>
                  <a:txBody>
                    <a:bodyPr wrap="square"/>
                    <a:lstStyle/>
                    <a:p>
                      <a:r>
                        <a:rPr sz="1250" b="1">
                          <a:solidFill>
                            <a:srgbClr val="141C2E"/>
                          </a:solidFill>
                          <a:latin typeface="Segoe UI Semibold"/>
                        </a:rPr>
                        <a:t>Stage</a:t>
                      </a:r>
                    </a:p>
                  </a:txBody>
                  <a:tcPr marL="73152" marR="73152" marT="27432" marB="27432">
                    <a:solidFill>
                      <a:srgbClr val="F1F3F6"/>
                    </a:solidFill>
                  </a:tcPr>
                </a:tc>
                <a:tc>
                  <a:txBody>
                    <a:bodyPr wrap="square"/>
                    <a:lstStyle/>
                    <a:p>
                      <a:r>
                        <a:rPr sz="1250" b="1">
                          <a:solidFill>
                            <a:srgbClr val="141C2E"/>
                          </a:solidFill>
                          <a:latin typeface="Segoe UI Semibold"/>
                        </a:rPr>
                        <a:t>Typical</a:t>
                      </a:r>
                    </a:p>
                  </a:txBody>
                  <a:tcPr marL="73152" marR="73152" marT="27432" marB="27432">
                    <a:solidFill>
                      <a:srgbClr val="F1F3F6"/>
                    </a:solidFill>
                  </a:tcPr>
                </a:tc>
                <a:tc>
                  <a:txBody>
                    <a:bodyPr wrap="square"/>
                    <a:lstStyle/>
                    <a:p>
                      <a:r>
                        <a:rPr sz="1250" b="1">
                          <a:solidFill>
                            <a:srgbClr val="141C2E"/>
                          </a:solidFill>
                          <a:latin typeface="Segoe UI Semibold"/>
                        </a:rPr>
                        <a:t>Hard limit</a:t>
                      </a:r>
                    </a:p>
                  </a:txBody>
                  <a:tcPr marL="73152" marR="73152" marT="27432" marB="27432">
                    <a:solidFill>
                      <a:srgbClr val="F1F3F6"/>
                    </a:solidFill>
                  </a:tcPr>
                </a:tc>
              </a:tr>
              <a:tr h="384048">
                <a:tc>
                  <a:txBody>
                    <a:bodyPr wrap="square"/>
                    <a:lstStyle/>
                    <a:p>
                      <a:r>
                        <a:rPr sz="1250" b="1">
                          <a:solidFill>
                            <a:srgbClr val="141C2E"/>
                          </a:solidFill>
                          <a:latin typeface="Segoe UI Semibold"/>
                        </a:rPr>
                        <a:t>Resolve + clone</a:t>
                      </a:r>
                    </a:p>
                  </a:txBody>
                  <a:tcPr marL="73152" marR="73152" marT="27432" marB="27432">
                    <a:solidFill>
                      <a:srgbClr val="FFFFFF"/>
                    </a:solidFill>
                  </a:tcPr>
                </a:tc>
                <a:tc>
                  <a:txBody>
                    <a:bodyPr wrap="square"/>
                    <a:lstStyle/>
                    <a:p>
                      <a:r>
                        <a:rPr sz="1250" b="0">
                          <a:solidFill>
                            <a:srgbClr val="4A5468"/>
                          </a:solidFill>
                          <a:latin typeface="Segoe UI"/>
                        </a:rPr>
                        <a:t>0.8–2.5 s</a:t>
                      </a:r>
                    </a:p>
                  </a:txBody>
                  <a:tcPr marL="73152" marR="73152" marT="27432" marB="27432">
                    <a:solidFill>
                      <a:srgbClr val="FFFFFF"/>
                    </a:solidFill>
                  </a:tcPr>
                </a:tc>
                <a:tc>
                  <a:txBody>
                    <a:bodyPr wrap="square"/>
                    <a:lstStyle/>
                    <a:p>
                      <a:r>
                        <a:rPr sz="1250" b="0">
                          <a:solidFill>
                            <a:srgbClr val="4A5468"/>
                          </a:solidFill>
                          <a:latin typeface="Segoe UI"/>
                        </a:rPr>
                        <a:t>120 s</a:t>
                      </a:r>
                    </a:p>
                  </a:txBody>
                  <a:tcPr marL="73152" marR="73152" marT="27432" marB="27432">
                    <a:solidFill>
                      <a:srgbClr val="FFFFFF"/>
                    </a:solidFill>
                  </a:tcPr>
                </a:tc>
              </a:tr>
              <a:tr h="384048">
                <a:tc>
                  <a:txBody>
                    <a:bodyPr wrap="square"/>
                    <a:lstStyle/>
                    <a:p>
                      <a:r>
                        <a:rPr sz="1250" b="1">
                          <a:solidFill>
                            <a:srgbClr val="141C2E"/>
                          </a:solidFill>
                          <a:latin typeface="Segoe UI Semibold"/>
                        </a:rPr>
                        <a:t>Index</a:t>
                      </a:r>
                    </a:p>
                  </a:txBody>
                  <a:tcPr marL="73152" marR="73152" marT="27432" marB="27432">
                    <a:solidFill>
                      <a:srgbClr val="FFFFFF"/>
                    </a:solidFill>
                  </a:tcPr>
                </a:tc>
                <a:tc>
                  <a:txBody>
                    <a:bodyPr wrap="square"/>
                    <a:lstStyle/>
                    <a:p>
                      <a:r>
                        <a:rPr sz="1250" b="0">
                          <a:solidFill>
                            <a:srgbClr val="4A5468"/>
                          </a:solidFill>
                          <a:latin typeface="Segoe UI"/>
                        </a:rPr>
                        <a:t>&lt; 0.1 s</a:t>
                      </a:r>
                    </a:p>
                  </a:txBody>
                  <a:tcPr marL="73152" marR="73152" marT="27432" marB="27432">
                    <a:solidFill>
                      <a:srgbClr val="FFFFFF"/>
                    </a:solidFill>
                  </a:tcPr>
                </a:tc>
                <a:tc>
                  <a:txBody>
                    <a:bodyPr wrap="square"/>
                    <a:lstStyle/>
                    <a:p>
                      <a:r>
                        <a:rPr sz="1250" b="0">
                          <a:solidFill>
                            <a:srgbClr val="4A5468"/>
                          </a:solidFill>
                          <a:latin typeface="Segoe UI"/>
                        </a:rPr>
                        <a:t>5,000 files, 40 MB</a:t>
                      </a:r>
                    </a:p>
                  </a:txBody>
                  <a:tcPr marL="73152" marR="73152" marT="27432" marB="27432">
                    <a:solidFill>
                      <a:srgbClr val="FFFFFF"/>
                    </a:solidFill>
                  </a:tcPr>
                </a:tc>
              </a:tr>
              <a:tr h="384048">
                <a:tc>
                  <a:txBody>
                    <a:bodyPr wrap="square"/>
                    <a:lstStyle/>
                    <a:p>
                      <a:r>
                        <a:rPr sz="1250" b="1">
                          <a:solidFill>
                            <a:srgbClr val="141C2E"/>
                          </a:solidFill>
                          <a:latin typeface="Segoe UI Semibold"/>
                        </a:rPr>
                        <a:t>Each reviewer</a:t>
                      </a:r>
                    </a:p>
                  </a:txBody>
                  <a:tcPr marL="73152" marR="73152" marT="27432" marB="27432">
                    <a:solidFill>
                      <a:srgbClr val="FFFFFF"/>
                    </a:solidFill>
                  </a:tcPr>
                </a:tc>
                <a:tc>
                  <a:txBody>
                    <a:bodyPr wrap="square"/>
                    <a:lstStyle/>
                    <a:p>
                      <a:r>
                        <a:rPr sz="1250" b="0">
                          <a:solidFill>
                            <a:srgbClr val="4A5468"/>
                          </a:solidFill>
                          <a:latin typeface="Segoe UI"/>
                        </a:rPr>
                        <a:t>10–25 s</a:t>
                      </a:r>
                    </a:p>
                  </a:txBody>
                  <a:tcPr marL="73152" marR="73152" marT="27432" marB="27432">
                    <a:solidFill>
                      <a:srgbClr val="FFFFFF"/>
                    </a:solidFill>
                  </a:tcPr>
                </a:tc>
                <a:tc>
                  <a:txBody>
                    <a:bodyPr wrap="square"/>
                    <a:lstStyle/>
                    <a:p>
                      <a:r>
                        <a:rPr sz="1250" b="0">
                          <a:solidFill>
                            <a:srgbClr val="4A5468"/>
                          </a:solidFill>
                          <a:latin typeface="Segoe UI"/>
                        </a:rPr>
                        <a:t>120 s, then rule-based fallback</a:t>
                      </a:r>
                    </a:p>
                  </a:txBody>
                  <a:tcPr marL="73152" marR="73152" marT="27432" marB="27432">
                    <a:solidFill>
                      <a:srgbClr val="FFFFFF"/>
                    </a:solidFill>
                  </a:tcPr>
                </a:tc>
              </a:tr>
              <a:tr h="384048">
                <a:tc>
                  <a:txBody>
                    <a:bodyPr wrap="square"/>
                    <a:lstStyle/>
                    <a:p>
                      <a:r>
                        <a:rPr sz="1250" b="1">
                          <a:solidFill>
                            <a:srgbClr val="141C2E"/>
                          </a:solidFill>
                          <a:latin typeface="Segoe UI Semibold"/>
                        </a:rPr>
                        <a:t>Docker build + run</a:t>
                      </a:r>
                    </a:p>
                  </a:txBody>
                  <a:tcPr marL="73152" marR="73152" marT="27432" marB="27432">
                    <a:solidFill>
                      <a:srgbClr val="FFFFFF"/>
                    </a:solidFill>
                  </a:tcPr>
                </a:tc>
                <a:tc>
                  <a:txBody>
                    <a:bodyPr wrap="square"/>
                    <a:lstStyle/>
                    <a:p>
                      <a:r>
                        <a:rPr sz="1250" b="0">
                          <a:solidFill>
                            <a:srgbClr val="4A5468"/>
                          </a:solidFill>
                          <a:latin typeface="Segoe UI"/>
                        </a:rPr>
                        <a:t>20–300 s</a:t>
                      </a:r>
                    </a:p>
                  </a:txBody>
                  <a:tcPr marL="73152" marR="73152" marT="27432" marB="27432">
                    <a:solidFill>
                      <a:srgbClr val="FFFFFF"/>
                    </a:solidFill>
                  </a:tcPr>
                </a:tc>
                <a:tc>
                  <a:txBody>
                    <a:bodyPr wrap="square"/>
                    <a:lstStyle/>
                    <a:p>
                      <a:r>
                        <a:rPr sz="1250" b="0">
                          <a:solidFill>
                            <a:srgbClr val="4A5468"/>
                          </a:solidFill>
                          <a:latin typeface="Segoe UI"/>
                        </a:rPr>
                        <a:t>600 s + 8 s run</a:t>
                      </a:r>
                    </a:p>
                  </a:txBody>
                  <a:tcPr marL="73152" marR="73152" marT="27432" marB="27432">
                    <a:solidFill>
                      <a:srgbClr val="FFFFFF"/>
                    </a:solidFill>
                  </a:tcPr>
                </a:tc>
              </a:tr>
              <a:tr h="384048">
                <a:tc>
                  <a:txBody>
                    <a:bodyPr wrap="square"/>
                    <a:lstStyle/>
                    <a:p>
                      <a:r>
                        <a:rPr sz="1250" b="1">
                          <a:solidFill>
                            <a:srgbClr val="141C2E"/>
                          </a:solidFill>
                          <a:latin typeface="Segoe UI Semibold"/>
                        </a:rPr>
                        <a:t>Judge</a:t>
                      </a:r>
                    </a:p>
                  </a:txBody>
                  <a:tcPr marL="73152" marR="73152" marT="27432" marB="27432">
                    <a:solidFill>
                      <a:srgbClr val="FFFFFF"/>
                    </a:solidFill>
                  </a:tcPr>
                </a:tc>
                <a:tc>
                  <a:txBody>
                    <a:bodyPr wrap="square"/>
                    <a:lstStyle/>
                    <a:p>
                      <a:r>
                        <a:rPr sz="1250" b="0">
                          <a:solidFill>
                            <a:srgbClr val="4A5468"/>
                          </a:solidFill>
                          <a:latin typeface="Segoe UI"/>
                        </a:rPr>
                        <a:t>8–15 s</a:t>
                      </a:r>
                    </a:p>
                  </a:txBody>
                  <a:tcPr marL="73152" marR="73152" marT="27432" marB="27432">
                    <a:solidFill>
                      <a:srgbClr val="FFFFFF"/>
                    </a:solidFill>
                  </a:tcPr>
                </a:tc>
                <a:tc>
                  <a:txBody>
                    <a:bodyPr wrap="square"/>
                    <a:lstStyle/>
                    <a:p>
                      <a:r>
                        <a:rPr sz="1250" b="0">
                          <a:solidFill>
                            <a:srgbClr val="4A5468"/>
                          </a:solidFill>
                          <a:latin typeface="Segoe UI"/>
                        </a:rPr>
                        <a:t>150 s, then rule-based</a:t>
                      </a:r>
                    </a:p>
                  </a:txBody>
                  <a:tcPr marL="73152" marR="73152" marT="27432" marB="27432">
                    <a:solidFill>
                      <a:srgbClr val="FFFFFF"/>
                    </a:solidFill>
                  </a:tcPr>
                </a:tc>
              </a:tr>
            </a:tbl>
          </a:graphicData>
        </a:graphic>
      </p:graphicFrame>
      <p:sp>
        <p:nvSpPr>
          <p:cNvPr id="12" name="Rounded Rectangle 11"/>
          <p:cNvSpPr/>
          <p:nvPr/>
        </p:nvSpPr>
        <p:spPr>
          <a:xfrm>
            <a:off x="7223760" y="3566160"/>
            <a:ext cx="4434840" cy="2331720"/>
          </a:xfrm>
          <a:prstGeom prst="roundRect">
            <a:avLst>
              <a:gd name="adj" fmla="val 10000"/>
            </a:avLst>
          </a:prstGeom>
          <a:solidFill>
            <a:srgbClr val="F1F3F6"/>
          </a:solidFill>
          <a:ln w="12700">
            <a:solidFill>
              <a:srgbClr val="F1F3F6"/>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500" b="1">
                <a:solidFill>
                  <a:srgbClr val="141C2E"/>
                </a:solidFill>
                <a:latin typeface="Segoe UI Semibold"/>
              </a:rPr>
              <a:t>Observed, not guessed</a:t>
            </a:r>
          </a:p>
          <a:p>
            <a:pPr algn="l">
              <a:spcBef>
                <a:spcPts val="500"/>
              </a:spcBef>
            </a:pPr>
            <a:r>
              <a:rPr sz="1250" b="0">
                <a:solidFill>
                  <a:srgbClr val="4A5468"/>
                </a:solidFill>
                <a:latin typeface="Segoe UI"/>
              </a:rPr>
              <a:t>GET /api/metrics returns rolling p50 / p95 / max per stage.</a:t>
            </a:r>
          </a:p>
          <a:p>
            <a:pPr algn="l">
              <a:spcBef>
                <a:spcPts val="500"/>
              </a:spcBef>
            </a:pPr>
            <a:r>
              <a:rPr sz="1250" b="0">
                <a:solidFill>
                  <a:srgbClr val="4A5468"/>
                </a:solidFill>
                <a:latin typeface="Segoe UI"/>
              </a:rPr>
              <a:t>The Platform health page shows them live.</a:t>
            </a:r>
          </a:p>
          <a:p>
            <a:pPr algn="l">
              <a:spcBef>
                <a:spcPts val="500"/>
              </a:spcBef>
            </a:pPr>
            <a:r>
              <a:rPr sz="1250" b="0">
                <a:solidFill>
                  <a:srgbClr val="4A5468"/>
                </a:solidFill>
                <a:latin typeface="Segoe UI"/>
              </a:rPr>
              <a:t>Critical path: clone → index → security → judge → report.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14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20040"/>
          </a:xfrm>
          <a:prstGeom prst="rect">
            <a:avLst/>
          </a:prstGeom>
          <a:noFill/>
        </p:spPr>
        <p:txBody>
          <a:bodyPr wrap="square" anchor="t" lIns="27432" rIns="27432">
            <a:spAutoFit/>
          </a:bodyPr>
          <a:lstStyle/>
          <a:p>
            <a:pPr algn="l">
              <a:lnSpc>
                <a:spcPct val="112000"/>
              </a:lnSpc>
            </a:pPr>
            <a:r>
              <a:rPr sz="1200" b="0">
                <a:solidFill>
                  <a:srgbClr val="7F899B"/>
                </a:solidFill>
                <a:latin typeface="Segoe UI"/>
              </a:rPr>
              <a:t>Engineering</a:t>
            </a:r>
          </a:p>
        </p:txBody>
      </p:sp>
      <p:sp>
        <p:nvSpPr>
          <p:cNvPr id="4" name="TextBox 3"/>
          <p:cNvSpPr txBox="1"/>
          <p:nvPr/>
        </p:nvSpPr>
        <p:spPr>
          <a:xfrm>
            <a:off x="548640" y="548640"/>
            <a:ext cx="11155680" cy="731520"/>
          </a:xfrm>
          <a:prstGeom prst="rect">
            <a:avLst/>
          </a:prstGeom>
          <a:noFill/>
        </p:spPr>
        <p:txBody>
          <a:bodyPr wrap="square" anchor="t" lIns="27432" rIns="27432">
            <a:spAutoFit/>
          </a:bodyPr>
          <a:lstStyle/>
          <a:p>
            <a:pPr algn="l">
              <a:lnSpc>
                <a:spcPct val="112000"/>
              </a:lnSpc>
            </a:pPr>
            <a:r>
              <a:rPr sz="2800" b="1">
                <a:solidFill>
                  <a:srgbClr val="141C2E"/>
                </a:solidFill>
                <a:latin typeface="Segoe UI Semibold"/>
              </a:rPr>
              <a:t>Reliability and scaling</a:t>
            </a:r>
          </a:p>
        </p:txBody>
      </p:sp>
      <p:sp>
        <p:nvSpPr>
          <p:cNvPr id="5" name="TextBox 4"/>
          <p:cNvSpPr txBox="1"/>
          <p:nvPr/>
        </p:nvSpPr>
        <p:spPr>
          <a:xfrm>
            <a:off x="9875520" y="6419088"/>
            <a:ext cx="1920240" cy="274320"/>
          </a:xfrm>
          <a:prstGeom prst="rect">
            <a:avLst/>
          </a:prstGeom>
          <a:noFill/>
        </p:spPr>
        <p:txBody>
          <a:bodyPr wrap="square" anchor="t" lIns="27432" rIns="27432">
            <a:spAutoFit/>
          </a:bodyPr>
          <a:lstStyle/>
          <a:p>
            <a:pPr algn="r">
              <a:lnSpc>
                <a:spcPct val="112000"/>
              </a:lnSpc>
            </a:pPr>
            <a:r>
              <a:rPr sz="1000" b="0">
                <a:solidFill>
                  <a:srgbClr val="7F899B"/>
                </a:solidFill>
                <a:latin typeface="Segoe UI"/>
              </a:rPr>
              <a:t>AutoGrader+   11 / 19</a:t>
            </a:r>
          </a:p>
        </p:txBody>
      </p:sp>
      <p:sp>
        <p:nvSpPr>
          <p:cNvPr id="6" name="TextBox 5"/>
          <p:cNvSpPr txBox="1"/>
          <p:nvPr/>
        </p:nvSpPr>
        <p:spPr>
          <a:xfrm>
            <a:off x="548640" y="1417320"/>
            <a:ext cx="5669280" cy="4572000"/>
          </a:xfrm>
          <a:prstGeom prst="rect">
            <a:avLst/>
          </a:prstGeom>
          <a:noFill/>
        </p:spPr>
        <p:txBody>
          <a:bodyPr wrap="square">
            <a:spAutoFit/>
          </a:bodyPr>
          <a:lstStyle/>
          <a:p>
            <a:pPr>
              <a:lnSpc>
                <a:spcPct val="110000"/>
              </a:lnSpc>
              <a:spcAft>
                <a:spcPts val="700"/>
              </a:spcAft>
            </a:pPr>
            <a:r>
              <a:rPr sz="1400" b="1">
                <a:solidFill>
                  <a:srgbClr val="2140D9"/>
                </a:solidFill>
                <a:latin typeface="Segoe UI"/>
              </a:rPr>
              <a:t>•  </a:t>
            </a:r>
            <a:r>
              <a:rPr sz="1400" b="1">
                <a:solidFill>
                  <a:srgbClr val="141C2E"/>
                </a:solidFill>
                <a:latin typeface="Segoe UI Semibold"/>
              </a:rPr>
              <a:t>Timeouts everywhere:</a:t>
            </a:r>
            <a:r>
              <a:rPr sz="1400" b="0">
                <a:solidFill>
                  <a:srgbClr val="4A5468"/>
                </a:solidFill>
                <a:latin typeface="Segoe UI"/>
              </a:rPr>
              <a:t>  git, Docker, every model call and the judge.</a:t>
            </a:r>
          </a:p>
          <a:p>
            <a:pPr>
              <a:lnSpc>
                <a:spcPct val="110000"/>
              </a:lnSpc>
              <a:spcAft>
                <a:spcPts val="700"/>
              </a:spcAft>
            </a:pPr>
            <a:r>
              <a:rPr sz="1400" b="1">
                <a:solidFill>
                  <a:srgbClr val="2140D9"/>
                </a:solidFill>
                <a:latin typeface="Segoe UI"/>
              </a:rPr>
              <a:t>•  </a:t>
            </a:r>
            <a:r>
              <a:rPr sz="1400" b="1">
                <a:solidFill>
                  <a:srgbClr val="141C2E"/>
                </a:solidFill>
                <a:latin typeface="Segoe UI Semibold"/>
              </a:rPr>
              <a:t>Retries with backoff</a:t>
            </a:r>
            <a:r>
              <a:rPr sz="1400" b="0">
                <a:solidFill>
                  <a:srgbClr val="4A5468"/>
                </a:solidFill>
                <a:latin typeface="Segoe UI"/>
              </a:rPr>
              <a:t>  for 429 and 5xx; a global semaphore queues model calls instead of causing retry storms.</a:t>
            </a:r>
          </a:p>
          <a:p>
            <a:pPr>
              <a:lnSpc>
                <a:spcPct val="110000"/>
              </a:lnSpc>
              <a:spcAft>
                <a:spcPts val="700"/>
              </a:spcAft>
            </a:pPr>
            <a:r>
              <a:rPr sz="1400" b="1">
                <a:solidFill>
                  <a:srgbClr val="2140D9"/>
                </a:solidFill>
                <a:latin typeface="Segoe UI"/>
              </a:rPr>
              <a:t>•  </a:t>
            </a:r>
            <a:r>
              <a:rPr sz="1400" b="1">
                <a:solidFill>
                  <a:srgbClr val="141C2E"/>
                </a:solidFill>
                <a:latin typeface="Segoe UI Semibold"/>
              </a:rPr>
              <a:t>Admission control:</a:t>
            </a:r>
            <a:r>
              <a:rPr sz="1400" b="0">
                <a:solidFill>
                  <a:srgbClr val="4A5468"/>
                </a:solidFill>
                <a:latin typeface="Segoe UI"/>
              </a:rPr>
              <a:t>  a concurrency limit with a visible queue position.</a:t>
            </a:r>
          </a:p>
          <a:p>
            <a:pPr>
              <a:lnSpc>
                <a:spcPct val="110000"/>
              </a:lnSpc>
              <a:spcAft>
                <a:spcPts val="700"/>
              </a:spcAft>
            </a:pPr>
            <a:r>
              <a:rPr sz="1400" b="1">
                <a:solidFill>
                  <a:srgbClr val="2140D9"/>
                </a:solidFill>
                <a:latin typeface="Segoe UI"/>
              </a:rPr>
              <a:t>•  </a:t>
            </a:r>
            <a:r>
              <a:rPr sz="1400" b="1">
                <a:solidFill>
                  <a:srgbClr val="141C2E"/>
                </a:solidFill>
                <a:latin typeface="Segoe UI Semibold"/>
              </a:rPr>
              <a:t>Heartbeats every 20 s:</a:t>
            </a:r>
            <a:r>
              <a:rPr sz="1400" b="0">
                <a:solidFill>
                  <a:srgbClr val="4A5468"/>
                </a:solidFill>
                <a:latin typeface="Segoe UI"/>
              </a:rPr>
              <a:t>  a replica that stops is detected; its unfinished gradings are failed and its files cleaned.</a:t>
            </a:r>
          </a:p>
          <a:p>
            <a:pPr>
              <a:lnSpc>
                <a:spcPct val="110000"/>
              </a:lnSpc>
              <a:spcAft>
                <a:spcPts val="700"/>
              </a:spcAft>
            </a:pPr>
            <a:r>
              <a:rPr sz="1400" b="1">
                <a:solidFill>
                  <a:srgbClr val="2140D9"/>
                </a:solidFill>
                <a:latin typeface="Segoe UI"/>
              </a:rPr>
              <a:t>•  </a:t>
            </a:r>
            <a:r>
              <a:rPr sz="1400" b="1">
                <a:solidFill>
                  <a:srgbClr val="141C2E"/>
                </a:solidFill>
                <a:latin typeface="Segoe UI Semibold"/>
              </a:rPr>
              <a:t>Reports survive restarts:</a:t>
            </a:r>
            <a:r>
              <a:rPr sz="1400" b="0">
                <a:solidFill>
                  <a:srgbClr val="4A5468"/>
                </a:solidFill>
                <a:latin typeface="Segoe UI"/>
              </a:rPr>
              <a:t>  atomic writes plus a copy in PostgreSQL (free hosts wipe the disk).</a:t>
            </a:r>
          </a:p>
          <a:p>
            <a:pPr>
              <a:lnSpc>
                <a:spcPct val="110000"/>
              </a:lnSpc>
              <a:spcAft>
                <a:spcPts val="700"/>
              </a:spcAft>
            </a:pPr>
            <a:r>
              <a:rPr sz="1400" b="1">
                <a:solidFill>
                  <a:srgbClr val="2140D9"/>
                </a:solidFill>
                <a:latin typeface="Segoe UI"/>
              </a:rPr>
              <a:t>•  </a:t>
            </a:r>
            <a:r>
              <a:rPr sz="1400" b="1">
                <a:solidFill>
                  <a:srgbClr val="141C2E"/>
                </a:solidFill>
                <a:latin typeface="Segoe UI Semibold"/>
              </a:rPr>
              <a:t>Replayable streams:</a:t>
            </a:r>
            <a:r>
              <a:rPr sz="1400" b="0">
                <a:solidFill>
                  <a:srgbClr val="4A5468"/>
                </a:solidFill>
                <a:latin typeface="Segoe UI"/>
              </a:rPr>
              <a:t>  events are stored in order; any replica serves them, and a dead replica's job ends with its saved outcome.</a:t>
            </a:r>
          </a:p>
        </p:txBody>
      </p:sp>
      <p:sp>
        <p:nvSpPr>
          <p:cNvPr id="7" name="Rounded Rectangle 6"/>
          <p:cNvSpPr/>
          <p:nvPr/>
        </p:nvSpPr>
        <p:spPr>
          <a:xfrm>
            <a:off x="6492240" y="1417320"/>
            <a:ext cx="5166360" cy="4206240"/>
          </a:xfrm>
          <a:prstGeom prst="roundRect">
            <a:avLst>
              <a:gd name="adj" fmla="val 10000"/>
            </a:avLst>
          </a:prstGeom>
          <a:solidFill>
            <a:srgbClr val="F1F3F6"/>
          </a:solidFill>
          <a:ln w="12700">
            <a:solidFill>
              <a:srgbClr val="F1F3F6"/>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600" b="1">
                <a:solidFill>
                  <a:srgbClr val="141C2E"/>
                </a:solidFill>
                <a:latin typeface="Segoe UI Semibold"/>
              </a:rPr>
              <a:t>Scaling path</a:t>
            </a:r>
          </a:p>
          <a:p>
            <a:pPr algn="l">
              <a:spcBef>
                <a:spcPts val="500"/>
              </a:spcBef>
            </a:pPr>
            <a:r>
              <a:rPr sz="1300" b="0">
                <a:solidFill>
                  <a:srgbClr val="4A5468"/>
                </a:solidFill>
                <a:latin typeface="Segoe UI"/>
              </a:rPr>
              <a:t>Today: stateless replicas + durable event log: add replicas to scale.</a:t>
            </a:r>
          </a:p>
          <a:p>
            <a:pPr algn="l">
              <a:spcBef>
                <a:spcPts val="500"/>
              </a:spcBef>
            </a:pPr>
            <a:r>
              <a:rPr sz="1300" b="0">
                <a:solidFill>
                  <a:srgbClr val="4A5468"/>
                </a:solidFill>
                <a:latin typeface="Segoe UI"/>
              </a:rPr>
              <a:t>1. PostgreSQL work queue: workers claim jobs with FOR UPDATE SKIP LOCKED; jobs survive restarts.</a:t>
            </a:r>
          </a:p>
          <a:p>
            <a:pPr algn="l">
              <a:spcBef>
                <a:spcPts val="500"/>
              </a:spcBef>
            </a:pPr>
            <a:r>
              <a:rPr sz="1300" b="0">
                <a:solidFill>
                  <a:srgbClr val="4A5468"/>
                </a:solidFill>
                <a:latin typeface="Segoe UI"/>
              </a:rPr>
              <a:t>2. Separate web and worker roles (Autolab-style queue + worker pool).</a:t>
            </a:r>
          </a:p>
          <a:p>
            <a:pPr algn="l">
              <a:spcBef>
                <a:spcPts val="500"/>
              </a:spcBef>
            </a:pPr>
            <a:r>
              <a:rPr sz="1300" b="0">
                <a:solidFill>
                  <a:srgbClr val="4A5468"/>
                </a:solidFill>
                <a:latin typeface="Segoe UI"/>
              </a:rPr>
              <a:t>3. Isolated Docker build workers, a fresh environment per submission.</a:t>
            </a:r>
          </a:p>
          <a:p>
            <a:pPr algn="l">
              <a:spcBef>
                <a:spcPts val="500"/>
              </a:spcBef>
            </a:pPr>
            <a:r>
              <a:rPr sz="1300" b="0">
                <a:solidFill>
                  <a:srgbClr val="4A5468"/>
                </a:solidFill>
                <a:latin typeface="Segoe UI"/>
              </a:rPr>
              <a:t>4. Reports in object storage; retry one reviewer, not the whole job.</a:t>
            </a:r>
          </a:p>
          <a:p>
            <a:pPr algn="l">
              <a:spcBef>
                <a:spcPts val="500"/>
              </a:spcBef>
            </a:pPr>
            <a:r>
              <a:rPr sz="1300" b="0">
                <a:solidFill>
                  <a:srgbClr val="4A5468"/>
                </a:solidFill>
                <a:latin typeface="Segoe UI"/>
              </a:rPr>
              <a:t>5. Courses: one deployment, many classes.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14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20040"/>
          </a:xfrm>
          <a:prstGeom prst="rect">
            <a:avLst/>
          </a:prstGeom>
          <a:noFill/>
        </p:spPr>
        <p:txBody>
          <a:bodyPr wrap="square" anchor="t" lIns="27432" rIns="27432">
            <a:spAutoFit/>
          </a:bodyPr>
          <a:lstStyle/>
          <a:p>
            <a:pPr algn="l">
              <a:lnSpc>
                <a:spcPct val="112000"/>
              </a:lnSpc>
            </a:pPr>
            <a:r>
              <a:rPr sz="1200" b="0">
                <a:solidFill>
                  <a:srgbClr val="7F899B"/>
                </a:solidFill>
                <a:latin typeface="Segoe UI"/>
              </a:rPr>
              <a:t>Engineering</a:t>
            </a:r>
          </a:p>
        </p:txBody>
      </p:sp>
      <p:sp>
        <p:nvSpPr>
          <p:cNvPr id="4" name="TextBox 3"/>
          <p:cNvSpPr txBox="1"/>
          <p:nvPr/>
        </p:nvSpPr>
        <p:spPr>
          <a:xfrm>
            <a:off x="548640" y="548640"/>
            <a:ext cx="11155680" cy="731520"/>
          </a:xfrm>
          <a:prstGeom prst="rect">
            <a:avLst/>
          </a:prstGeom>
          <a:noFill/>
        </p:spPr>
        <p:txBody>
          <a:bodyPr wrap="square" anchor="t" lIns="27432" rIns="27432">
            <a:spAutoFit/>
          </a:bodyPr>
          <a:lstStyle/>
          <a:p>
            <a:pPr algn="l">
              <a:lnSpc>
                <a:spcPct val="112000"/>
              </a:lnSpc>
            </a:pPr>
            <a:r>
              <a:rPr sz="2800" b="1">
                <a:solidFill>
                  <a:srgbClr val="141C2E"/>
                </a:solidFill>
                <a:latin typeface="Segoe UI Semibold"/>
              </a:rPr>
              <a:t>Security</a:t>
            </a:r>
          </a:p>
        </p:txBody>
      </p:sp>
      <p:sp>
        <p:nvSpPr>
          <p:cNvPr id="5" name="TextBox 4"/>
          <p:cNvSpPr txBox="1"/>
          <p:nvPr/>
        </p:nvSpPr>
        <p:spPr>
          <a:xfrm>
            <a:off x="9875520" y="6419088"/>
            <a:ext cx="1920240" cy="274320"/>
          </a:xfrm>
          <a:prstGeom prst="rect">
            <a:avLst/>
          </a:prstGeom>
          <a:noFill/>
        </p:spPr>
        <p:txBody>
          <a:bodyPr wrap="square" anchor="t" lIns="27432" rIns="27432">
            <a:spAutoFit/>
          </a:bodyPr>
          <a:lstStyle/>
          <a:p>
            <a:pPr algn="r">
              <a:lnSpc>
                <a:spcPct val="112000"/>
              </a:lnSpc>
            </a:pPr>
            <a:r>
              <a:rPr sz="1000" b="0">
                <a:solidFill>
                  <a:srgbClr val="7F899B"/>
                </a:solidFill>
                <a:latin typeface="Segoe UI"/>
              </a:rPr>
              <a:t>AutoGrader+   12 / 19</a:t>
            </a:r>
          </a:p>
        </p:txBody>
      </p:sp>
      <p:graphicFrame>
        <p:nvGraphicFramePr>
          <p:cNvPr id="6" name="Table 5"/>
          <p:cNvGraphicFramePr>
            <a:graphicFrameLocks noGrp="1"/>
          </p:cNvGraphicFramePr>
          <p:nvPr/>
        </p:nvGraphicFramePr>
        <p:xfrm>
          <a:off x="548640" y="1371600"/>
          <a:ext cx="11109960" cy="4526280"/>
        </p:xfrm>
        <a:graphic>
          <a:graphicData uri="http://schemas.openxmlformats.org/drawingml/2006/table">
            <a:tbl>
              <a:tblPr firstRow="1" bandRow="1">
                <a:tableStyleId>{5C22544A-7EE6-4342-B048-85BDC9FD1C3A}</a:tableStyleId>
              </a:tblPr>
              <a:tblGrid>
                <a:gridCol w="3291840"/>
                <a:gridCol w="7818120"/>
              </a:tblGrid>
              <a:tr h="411480">
                <a:tc>
                  <a:txBody>
                    <a:bodyPr wrap="square"/>
                    <a:lstStyle/>
                    <a:p>
                      <a:r>
                        <a:rPr sz="1250" b="1">
                          <a:solidFill>
                            <a:srgbClr val="141C2E"/>
                          </a:solidFill>
                          <a:latin typeface="Segoe UI Semibold"/>
                        </a:rPr>
                        <a:t>Threat</a:t>
                      </a:r>
                    </a:p>
                  </a:txBody>
                  <a:tcPr marL="73152" marR="73152" marT="27432" marB="27432">
                    <a:solidFill>
                      <a:srgbClr val="F1F3F6"/>
                    </a:solidFill>
                  </a:tcPr>
                </a:tc>
                <a:tc>
                  <a:txBody>
                    <a:bodyPr wrap="square"/>
                    <a:lstStyle/>
                    <a:p>
                      <a:r>
                        <a:rPr sz="1250" b="1">
                          <a:solidFill>
                            <a:srgbClr val="141C2E"/>
                          </a:solidFill>
                          <a:latin typeface="Segoe UI Semibold"/>
                        </a:rPr>
                        <a:t>Defence</a:t>
                      </a:r>
                    </a:p>
                  </a:txBody>
                  <a:tcPr marL="73152" marR="73152" marT="27432" marB="27432">
                    <a:solidFill>
                      <a:srgbClr val="F1F3F6"/>
                    </a:solidFill>
                  </a:tcPr>
                </a:tc>
              </a:tr>
              <a:tr h="411480">
                <a:tc>
                  <a:txBody>
                    <a:bodyPr wrap="square"/>
                    <a:lstStyle/>
                    <a:p>
                      <a:r>
                        <a:rPr sz="1250" b="1">
                          <a:solidFill>
                            <a:srgbClr val="141C2E"/>
                          </a:solidFill>
                          <a:latin typeface="Segoe UI Semibold"/>
                        </a:rPr>
                        <a:t>Malicious repository input</a:t>
                      </a:r>
                    </a:p>
                  </a:txBody>
                  <a:tcPr marL="73152" marR="73152" marT="27432" marB="27432">
                    <a:solidFill>
                      <a:srgbClr val="FFFFFF"/>
                    </a:solidFill>
                  </a:tcPr>
                </a:tc>
                <a:tc>
                  <a:txBody>
                    <a:bodyPr wrap="square"/>
                    <a:lstStyle/>
                    <a:p>
                      <a:r>
                        <a:rPr sz="1250" b="0">
                          <a:solidFill>
                            <a:srgbClr val="4A5468"/>
                          </a:solidFill>
                          <a:latin typeface="Segoe UI"/>
                        </a:rPr>
                        <a:t>only https://github.com/owner/repo; validated refs; no shell; git never prompts</a:t>
                      </a:r>
                    </a:p>
                  </a:txBody>
                  <a:tcPr marL="73152" marR="73152" marT="27432" marB="27432">
                    <a:solidFill>
                      <a:srgbClr val="FFFFFF"/>
                    </a:solidFill>
                  </a:tcPr>
                </a:tc>
              </a:tr>
              <a:tr h="411480">
                <a:tc>
                  <a:txBody>
                    <a:bodyPr wrap="square"/>
                    <a:lstStyle/>
                    <a:p>
                      <a:r>
                        <a:rPr sz="1250" b="1">
                          <a:solidFill>
                            <a:srgbClr val="141C2E"/>
                          </a:solidFill>
                          <a:latin typeface="Segoe UI Semibold"/>
                        </a:rPr>
                        <a:t>Secrets in student code</a:t>
                      </a:r>
                    </a:p>
                  </a:txBody>
                  <a:tcPr marL="73152" marR="73152" marT="27432" marB="27432">
                    <a:solidFill>
                      <a:srgbClr val="FFFFFF"/>
                    </a:solidFill>
                  </a:tcPr>
                </a:tc>
                <a:tc>
                  <a:txBody>
                    <a:bodyPr wrap="square"/>
                    <a:lstStyle/>
                    <a:p>
                      <a:r>
                        <a:rPr sz="1250" b="0">
                          <a:solidFill>
                            <a:srgbClr val="4A5468"/>
                          </a:solidFill>
                          <a:latin typeface="Segoe UI"/>
                        </a:rPr>
                        <a:t>9 scanner rules; values redacted before any prompt or report</a:t>
                      </a:r>
                    </a:p>
                  </a:txBody>
                  <a:tcPr marL="73152" marR="73152" marT="27432" marB="27432">
                    <a:solidFill>
                      <a:srgbClr val="FFFFFF"/>
                    </a:solidFill>
                  </a:tcPr>
                </a:tc>
              </a:tr>
              <a:tr h="411480">
                <a:tc>
                  <a:txBody>
                    <a:bodyPr wrap="square"/>
                    <a:lstStyle/>
                    <a:p>
                      <a:r>
                        <a:rPr sz="1250" b="1">
                          <a:solidFill>
                            <a:srgbClr val="141C2E"/>
                          </a:solidFill>
                          <a:latin typeface="Segoe UI Semibold"/>
                        </a:rPr>
                        <a:t>Untrusted Docker builds</a:t>
                      </a:r>
                    </a:p>
                  </a:txBody>
                  <a:tcPr marL="73152" marR="73152" marT="27432" marB="27432">
                    <a:solidFill>
                      <a:srgbClr val="FFFFFF"/>
                    </a:solidFill>
                  </a:tcPr>
                </a:tc>
                <a:tc>
                  <a:txBody>
                    <a:bodyPr wrap="square"/>
                    <a:lstStyle/>
                    <a:p>
                      <a:r>
                        <a:rPr sz="1250" b="0">
                          <a:solidFill>
                            <a:srgbClr val="4A5468"/>
                          </a:solidFill>
                          <a:latin typeface="Segoe UI"/>
                        </a:rPr>
                        <a:t>no network, 512 MB, 1 CPU, 256 pids, all caps dropped; opt-in only</a:t>
                      </a:r>
                    </a:p>
                  </a:txBody>
                  <a:tcPr marL="73152" marR="73152" marT="27432" marB="27432">
                    <a:solidFill>
                      <a:srgbClr val="FFFFFF"/>
                    </a:solidFill>
                  </a:tcPr>
                </a:tc>
              </a:tr>
              <a:tr h="411480">
                <a:tc>
                  <a:txBody>
                    <a:bodyPr wrap="square"/>
                    <a:lstStyle/>
                    <a:p>
                      <a:r>
                        <a:rPr sz="1250" b="1">
                          <a:solidFill>
                            <a:srgbClr val="141C2E"/>
                          </a:solidFill>
                          <a:latin typeface="Segoe UI Semibold"/>
                        </a:rPr>
                        <a:t>Stolen database</a:t>
                      </a:r>
                    </a:p>
                  </a:txBody>
                  <a:tcPr marL="73152" marR="73152" marT="27432" marB="27432">
                    <a:solidFill>
                      <a:srgbClr val="FFFFFF"/>
                    </a:solidFill>
                  </a:tcPr>
                </a:tc>
                <a:tc>
                  <a:txBody>
                    <a:bodyPr wrap="square"/>
                    <a:lstStyle/>
                    <a:p>
                      <a:r>
                        <a:rPr sz="1250" b="0">
                          <a:solidFill>
                            <a:srgbClr val="4A5468"/>
                          </a:solidFill>
                          <a:latin typeface="Segoe UI"/>
                        </a:rPr>
                        <a:t>scrypt password hashes; session tokens stored only as SHA-256</a:t>
                      </a:r>
                    </a:p>
                  </a:txBody>
                  <a:tcPr marL="73152" marR="73152" marT="27432" marB="27432">
                    <a:solidFill>
                      <a:srgbClr val="FFFFFF"/>
                    </a:solidFill>
                  </a:tcPr>
                </a:tc>
              </a:tr>
              <a:tr h="411480">
                <a:tc>
                  <a:txBody>
                    <a:bodyPr wrap="square"/>
                    <a:lstStyle/>
                    <a:p>
                      <a:r>
                        <a:rPr sz="1250" b="1">
                          <a:solidFill>
                            <a:srgbClr val="141C2E"/>
                          </a:solidFill>
                          <a:latin typeface="Segoe UI Semibold"/>
                        </a:rPr>
                        <a:t>Students reading others' data</a:t>
                      </a:r>
                    </a:p>
                  </a:txBody>
                  <a:tcPr marL="73152" marR="73152" marT="27432" marB="27432">
                    <a:solidFill>
                      <a:srgbClr val="FFFFFF"/>
                    </a:solidFill>
                  </a:tcPr>
                </a:tc>
                <a:tc>
                  <a:txBody>
                    <a:bodyPr wrap="square"/>
                    <a:lstStyle/>
                    <a:p>
                      <a:r>
                        <a:rPr sz="1250" b="0">
                          <a:solidFill>
                            <a:srgbClr val="4A5468"/>
                          </a:solidFill>
                          <a:latin typeface="Segoe UI"/>
                        </a:rPr>
                        <a:t>every instructor route checks the role on the server; reports only for their owner</a:t>
                      </a:r>
                    </a:p>
                  </a:txBody>
                  <a:tcPr marL="73152" marR="73152" marT="27432" marB="27432">
                    <a:solidFill>
                      <a:srgbClr val="FFFFFF"/>
                    </a:solidFill>
                  </a:tcPr>
                </a:tc>
              </a:tr>
              <a:tr h="411480">
                <a:tc>
                  <a:txBody>
                    <a:bodyPr wrap="square"/>
                    <a:lstStyle/>
                    <a:p>
                      <a:r>
                        <a:rPr sz="1250" b="1">
                          <a:solidFill>
                            <a:srgbClr val="141C2E"/>
                          </a:solidFill>
                          <a:latin typeface="Segoe UI Semibold"/>
                        </a:rPr>
                        <a:t>Password guessing</a:t>
                      </a:r>
                    </a:p>
                  </a:txBody>
                  <a:tcPr marL="73152" marR="73152" marT="27432" marB="27432">
                    <a:solidFill>
                      <a:srgbClr val="FFFFFF"/>
                    </a:solidFill>
                  </a:tcPr>
                </a:tc>
                <a:tc>
                  <a:txBody>
                    <a:bodyPr wrap="square"/>
                    <a:lstStyle/>
                    <a:p>
                      <a:r>
                        <a:rPr sz="1250" b="0">
                          <a:solidFill>
                            <a:srgbClr val="4A5468"/>
                          </a:solidFill>
                          <a:latin typeface="Segoe UI"/>
                        </a:rPr>
                        <a:t>throttled per client IP (Cloudflare header, never forgeable X-Forwarded-For) and per account</a:t>
                      </a:r>
                    </a:p>
                  </a:txBody>
                  <a:tcPr marL="73152" marR="73152" marT="27432" marB="27432">
                    <a:solidFill>
                      <a:srgbClr val="FFFFFF"/>
                    </a:solidFill>
                  </a:tcPr>
                </a:tc>
              </a:tr>
              <a:tr h="411480">
                <a:tc>
                  <a:txBody>
                    <a:bodyPr wrap="square"/>
                    <a:lstStyle/>
                    <a:p>
                      <a:r>
                        <a:rPr sz="1250" b="1">
                          <a:solidFill>
                            <a:srgbClr val="141C2E"/>
                          </a:solidFill>
                          <a:latin typeface="Segoe UI Semibold"/>
                        </a:rPr>
                        <a:t>Public demo misuse</a:t>
                      </a:r>
                    </a:p>
                  </a:txBody>
                  <a:tcPr marL="73152" marR="73152" marT="27432" marB="27432">
                    <a:solidFill>
                      <a:srgbClr val="FFFFFF"/>
                    </a:solidFill>
                  </a:tcPr>
                </a:tc>
                <a:tc>
                  <a:txBody>
                    <a:bodyPr wrap="square"/>
                    <a:lstStyle/>
                    <a:p>
                      <a:r>
                        <a:rPr sz="1250" b="0">
                          <a:solidFill>
                            <a:srgbClr val="4A5468"/>
                          </a:solidFill>
                          <a:latin typeface="Segoe UI"/>
                        </a:rPr>
                        <a:t>only a demo student login is public; sign-up closed; demo logins read-only</a:t>
                      </a:r>
                    </a:p>
                  </a:txBody>
                  <a:tcPr marL="73152" marR="73152" marT="27432" marB="27432">
                    <a:solidFill>
                      <a:srgbClr val="FFFFFF"/>
                    </a:solidFill>
                  </a:tcPr>
                </a:tc>
              </a:tr>
              <a:tr h="411480">
                <a:tc>
                  <a:txBody>
                    <a:bodyPr wrap="square"/>
                    <a:lstStyle/>
                    <a:p>
                      <a:r>
                        <a:rPr sz="1250" b="1">
                          <a:solidFill>
                            <a:srgbClr val="141C2E"/>
                          </a:solidFill>
                          <a:latin typeface="Segoe UI Semibold"/>
                        </a:rPr>
                        <a:t>Grade tampering</a:t>
                      </a:r>
                    </a:p>
                  </a:txBody>
                  <a:tcPr marL="73152" marR="73152" marT="27432" marB="27432">
                    <a:solidFill>
                      <a:srgbClr val="FFFFFF"/>
                    </a:solidFill>
                  </a:tcPr>
                </a:tc>
                <a:tc>
                  <a:txBody>
                    <a:bodyPr wrap="square"/>
                    <a:lstStyle/>
                    <a:p>
                      <a:r>
                        <a:rPr sz="1250" b="0">
                          <a:solidFill>
                            <a:srgbClr val="4A5468"/>
                          </a:solidFill>
                          <a:latin typeface="Segoe UI"/>
                        </a:rPr>
                        <a:t>adjusted grade pinned in every view until restored; no student endpoint writes a score</a:t>
                      </a:r>
                    </a:p>
                  </a:txBody>
                  <a:tcPr marL="73152" marR="73152" marT="27432" marB="27432">
                    <a:solidFill>
                      <a:srgbClr val="FFFFFF"/>
                    </a:solidFill>
                  </a:tcPr>
                </a:tc>
              </a:tr>
              <a:tr h="411480">
                <a:tc>
                  <a:txBody>
                    <a:bodyPr wrap="square"/>
                    <a:lstStyle/>
                    <a:p>
                      <a:r>
                        <a:rPr sz="1250" b="1">
                          <a:solidFill>
                            <a:srgbClr val="141C2E"/>
                          </a:solidFill>
                          <a:latin typeface="Segoe UI Semibold"/>
                        </a:rPr>
                        <a:t>Cross-site attacks</a:t>
                      </a:r>
                    </a:p>
                  </a:txBody>
                  <a:tcPr marL="73152" marR="73152" marT="27432" marB="27432">
                    <a:solidFill>
                      <a:srgbClr val="FFFFFF"/>
                    </a:solidFill>
                  </a:tcPr>
                </a:tc>
                <a:tc>
                  <a:txBody>
                    <a:bodyPr wrap="square"/>
                    <a:lstStyle/>
                    <a:p>
                      <a:r>
                        <a:rPr sz="1250" b="0">
                          <a:solidFill>
                            <a:srgbClr val="4A5468"/>
                          </a:solidFill>
                          <a:latin typeface="Segoe UI"/>
                        </a:rPr>
                        <a:t>SameSite + Secure cookies, cross-site request blocking, strict CSP, HSTS, no framing</a:t>
                      </a:r>
                    </a:p>
                  </a:txBody>
                  <a:tcPr marL="73152" marR="73152" marT="27432" marB="27432">
                    <a:solidFill>
                      <a:srgbClr val="FFFFFF"/>
                    </a:solidFill>
                  </a:tcPr>
                </a:tc>
              </a:tr>
              <a:tr h="411480">
                <a:tc>
                  <a:txBody>
                    <a:bodyPr wrap="square"/>
                    <a:lstStyle/>
                    <a:p>
                      <a:r>
                        <a:rPr sz="1250" b="1">
                          <a:solidFill>
                            <a:srgbClr val="141C2E"/>
                          </a:solidFill>
                          <a:latin typeface="Segoe UI Semibold"/>
                        </a:rPr>
                        <a:t>Spreadsheet injection</a:t>
                      </a:r>
                    </a:p>
                  </a:txBody>
                  <a:tcPr marL="73152" marR="73152" marT="27432" marB="27432">
                    <a:solidFill>
                      <a:srgbClr val="FFFFFF"/>
                    </a:solidFill>
                  </a:tcPr>
                </a:tc>
                <a:tc>
                  <a:txBody>
                    <a:bodyPr wrap="square"/>
                    <a:lstStyle/>
                    <a:p>
                      <a:r>
                        <a:rPr sz="1250" b="0">
                          <a:solidFill>
                            <a:srgbClr val="4A5468"/>
                          </a:solidFill>
                          <a:latin typeface="Segoe UI"/>
                        </a:rPr>
                        <a:t>CSV gradebook neutralises formulas</a:t>
                      </a:r>
                    </a:p>
                  </a:txBody>
                  <a:tcPr marL="73152" marR="73152" marT="27432" marB="2743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14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20040"/>
          </a:xfrm>
          <a:prstGeom prst="rect">
            <a:avLst/>
          </a:prstGeom>
          <a:noFill/>
        </p:spPr>
        <p:txBody>
          <a:bodyPr wrap="square" anchor="t" lIns="27432" rIns="27432">
            <a:spAutoFit/>
          </a:bodyPr>
          <a:lstStyle/>
          <a:p>
            <a:pPr algn="l">
              <a:lnSpc>
                <a:spcPct val="112000"/>
              </a:lnSpc>
            </a:pPr>
            <a:r>
              <a:rPr sz="1200" b="0">
                <a:solidFill>
                  <a:srgbClr val="7F899B"/>
                </a:solidFill>
                <a:latin typeface="Segoe UI"/>
              </a:rPr>
              <a:t>Students</a:t>
            </a:r>
          </a:p>
        </p:txBody>
      </p:sp>
      <p:sp>
        <p:nvSpPr>
          <p:cNvPr id="4" name="TextBox 3"/>
          <p:cNvSpPr txBox="1"/>
          <p:nvPr/>
        </p:nvSpPr>
        <p:spPr>
          <a:xfrm>
            <a:off x="548640" y="548640"/>
            <a:ext cx="11155680" cy="731520"/>
          </a:xfrm>
          <a:prstGeom prst="rect">
            <a:avLst/>
          </a:prstGeom>
          <a:noFill/>
        </p:spPr>
        <p:txBody>
          <a:bodyPr wrap="square" anchor="t" lIns="27432" rIns="27432">
            <a:spAutoFit/>
          </a:bodyPr>
          <a:lstStyle/>
          <a:p>
            <a:pPr algn="l">
              <a:lnSpc>
                <a:spcPct val="112000"/>
              </a:lnSpc>
            </a:pPr>
            <a:r>
              <a:rPr sz="2800" b="1">
                <a:solidFill>
                  <a:srgbClr val="141C2E"/>
                </a:solidFill>
                <a:latin typeface="Segoe UI Semibold"/>
              </a:rPr>
              <a:t>Student view: what to do next</a:t>
            </a:r>
          </a:p>
        </p:txBody>
      </p:sp>
      <p:sp>
        <p:nvSpPr>
          <p:cNvPr id="5" name="TextBox 4"/>
          <p:cNvSpPr txBox="1"/>
          <p:nvPr/>
        </p:nvSpPr>
        <p:spPr>
          <a:xfrm>
            <a:off x="9875520" y="6419088"/>
            <a:ext cx="1920240" cy="274320"/>
          </a:xfrm>
          <a:prstGeom prst="rect">
            <a:avLst/>
          </a:prstGeom>
          <a:noFill/>
        </p:spPr>
        <p:txBody>
          <a:bodyPr wrap="square" anchor="t" lIns="27432" rIns="27432">
            <a:spAutoFit/>
          </a:bodyPr>
          <a:lstStyle/>
          <a:p>
            <a:pPr algn="r">
              <a:lnSpc>
                <a:spcPct val="112000"/>
              </a:lnSpc>
            </a:pPr>
            <a:r>
              <a:rPr sz="1000" b="0">
                <a:solidFill>
                  <a:srgbClr val="7F899B"/>
                </a:solidFill>
                <a:latin typeface="Segoe UI"/>
              </a:rPr>
              <a:t>AutoGrader+   13 / 19</a:t>
            </a:r>
          </a:p>
        </p:txBody>
      </p:sp>
      <p:pic>
        <p:nvPicPr>
          <p:cNvPr id="6" name="Picture 5" descr="student-dashboard.png"/>
          <p:cNvPicPr>
            <a:picLocks noChangeAspect="1"/>
          </p:cNvPicPr>
          <p:nvPr/>
        </p:nvPicPr>
        <p:blipFill>
          <a:blip r:embed="rId2"/>
          <a:stretch>
            <a:fillRect/>
          </a:stretch>
        </p:blipFill>
        <p:spPr>
          <a:xfrm>
            <a:off x="548640" y="1371600"/>
            <a:ext cx="5577840" cy="3486150"/>
          </a:xfrm>
          <a:prstGeom prst="rect">
            <a:avLst/>
          </a:prstGeom>
          <a:ln w="12700">
            <a:solidFill>
              <a:srgbClr val="D5DBE3"/>
            </a:solidFill>
          </a:ln>
        </p:spPr>
      </p:pic>
      <p:pic>
        <p:nvPicPr>
          <p:cNvPr id="7" name="Picture 6" descr="feedback.png"/>
          <p:cNvPicPr>
            <a:picLocks noChangeAspect="1"/>
          </p:cNvPicPr>
          <p:nvPr/>
        </p:nvPicPr>
        <p:blipFill>
          <a:blip r:embed="rId3"/>
          <a:stretch>
            <a:fillRect/>
          </a:stretch>
        </p:blipFill>
        <p:spPr>
          <a:xfrm>
            <a:off x="6355080" y="1371600"/>
            <a:ext cx="5303520" cy="3314700"/>
          </a:xfrm>
          <a:prstGeom prst="rect">
            <a:avLst/>
          </a:prstGeom>
          <a:ln w="12700">
            <a:solidFill>
              <a:srgbClr val="D5DBE3"/>
            </a:solidFill>
          </a:ln>
        </p:spPr>
      </p:pic>
      <p:sp>
        <p:nvSpPr>
          <p:cNvPr id="8" name="TextBox 7"/>
          <p:cNvSpPr txBox="1"/>
          <p:nvPr/>
        </p:nvSpPr>
        <p:spPr>
          <a:xfrm>
            <a:off x="548640" y="5029200"/>
            <a:ext cx="11155680" cy="1280160"/>
          </a:xfrm>
          <a:prstGeom prst="rect">
            <a:avLst/>
          </a:prstGeom>
          <a:noFill/>
        </p:spPr>
        <p:txBody>
          <a:bodyPr wrap="square">
            <a:spAutoFit/>
          </a:bodyPr>
          <a:lstStyle/>
          <a:p>
            <a:pPr>
              <a:lnSpc>
                <a:spcPct val="110000"/>
              </a:lnSpc>
              <a:spcAft>
                <a:spcPts val="400"/>
              </a:spcAft>
            </a:pPr>
            <a:r>
              <a:rPr sz="1300" b="1">
                <a:solidFill>
                  <a:srgbClr val="2140D9"/>
                </a:solidFill>
                <a:latin typeface="Segoe UI"/>
              </a:rPr>
              <a:t>•  </a:t>
            </a:r>
            <a:r>
              <a:rPr sz="1300" b="1">
                <a:solidFill>
                  <a:srgbClr val="141C2E"/>
                </a:solidFill>
                <a:latin typeface="Segoe UI Semibold"/>
              </a:rPr>
              <a:t>Dashboard:</a:t>
            </a:r>
            <a:r>
              <a:rPr sz="1300" b="0">
                <a:solidFill>
                  <a:srgbClr val="4A5468"/>
                </a:solidFill>
                <a:latin typeface="Segoe UI"/>
              </a:rPr>
              <a:t>  the next assignment, the last result with the first three things to fix, progress, skills, deadlines.</a:t>
            </a:r>
          </a:p>
          <a:p>
            <a:pPr>
              <a:lnSpc>
                <a:spcPct val="110000"/>
              </a:lnSpc>
              <a:spcAft>
                <a:spcPts val="400"/>
              </a:spcAft>
            </a:pPr>
            <a:r>
              <a:rPr sz="1300" b="1">
                <a:solidFill>
                  <a:srgbClr val="2140D9"/>
                </a:solidFill>
                <a:latin typeface="Segoe UI"/>
              </a:rPr>
              <a:t>•  </a:t>
            </a:r>
            <a:r>
              <a:rPr sz="1300" b="1">
                <a:solidFill>
                  <a:srgbClr val="141C2E"/>
                </a:solidFill>
                <a:latin typeface="Segoe UI Semibold"/>
              </a:rPr>
              <a:t>Feedback:</a:t>
            </a:r>
            <a:r>
              <a:rPr sz="1300" b="0">
                <a:solidFill>
                  <a:srgbClr val="4A5468"/>
                </a:solidFill>
                <a:latin typeface="Segoe UI"/>
              </a:rPr>
              <a:t>  the score, marks by area with weights, numbered priorities with file names, topics to learn, every finding with its fix.</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14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20040"/>
          </a:xfrm>
          <a:prstGeom prst="rect">
            <a:avLst/>
          </a:prstGeom>
          <a:noFill/>
        </p:spPr>
        <p:txBody>
          <a:bodyPr wrap="square" anchor="t" lIns="27432" rIns="27432">
            <a:spAutoFit/>
          </a:bodyPr>
          <a:lstStyle/>
          <a:p>
            <a:pPr algn="l">
              <a:lnSpc>
                <a:spcPct val="112000"/>
              </a:lnSpc>
            </a:pPr>
            <a:r>
              <a:rPr sz="1200" b="0">
                <a:solidFill>
                  <a:srgbClr val="7F899B"/>
                </a:solidFill>
                <a:latin typeface="Segoe UI"/>
              </a:rPr>
              <a:t>Instructors</a:t>
            </a:r>
          </a:p>
        </p:txBody>
      </p:sp>
      <p:sp>
        <p:nvSpPr>
          <p:cNvPr id="4" name="TextBox 3"/>
          <p:cNvSpPr txBox="1"/>
          <p:nvPr/>
        </p:nvSpPr>
        <p:spPr>
          <a:xfrm>
            <a:off x="548640" y="548640"/>
            <a:ext cx="11155680" cy="731520"/>
          </a:xfrm>
          <a:prstGeom prst="rect">
            <a:avLst/>
          </a:prstGeom>
          <a:noFill/>
        </p:spPr>
        <p:txBody>
          <a:bodyPr wrap="square" anchor="t" lIns="27432" rIns="27432">
            <a:spAutoFit/>
          </a:bodyPr>
          <a:lstStyle/>
          <a:p>
            <a:pPr algn="l">
              <a:lnSpc>
                <a:spcPct val="112000"/>
              </a:lnSpc>
            </a:pPr>
            <a:r>
              <a:rPr sz="2800" b="1">
                <a:solidFill>
                  <a:srgbClr val="141C2E"/>
                </a:solidFill>
                <a:latin typeface="Segoe UI Semibold"/>
              </a:rPr>
              <a:t>Instructor view: what needs attention</a:t>
            </a:r>
          </a:p>
        </p:txBody>
      </p:sp>
      <p:sp>
        <p:nvSpPr>
          <p:cNvPr id="5" name="TextBox 4"/>
          <p:cNvSpPr txBox="1"/>
          <p:nvPr/>
        </p:nvSpPr>
        <p:spPr>
          <a:xfrm>
            <a:off x="9875520" y="6419088"/>
            <a:ext cx="1920240" cy="274320"/>
          </a:xfrm>
          <a:prstGeom prst="rect">
            <a:avLst/>
          </a:prstGeom>
          <a:noFill/>
        </p:spPr>
        <p:txBody>
          <a:bodyPr wrap="square" anchor="t" lIns="27432" rIns="27432">
            <a:spAutoFit/>
          </a:bodyPr>
          <a:lstStyle/>
          <a:p>
            <a:pPr algn="r">
              <a:lnSpc>
                <a:spcPct val="112000"/>
              </a:lnSpc>
            </a:pPr>
            <a:r>
              <a:rPr sz="1000" b="0">
                <a:solidFill>
                  <a:srgbClr val="7F899B"/>
                </a:solidFill>
                <a:latin typeface="Segoe UI"/>
              </a:rPr>
              <a:t>AutoGrader+   14 / 19</a:t>
            </a:r>
          </a:p>
        </p:txBody>
      </p:sp>
      <p:pic>
        <p:nvPicPr>
          <p:cNvPr id="6" name="Picture 5" descr="instructor-overview.png"/>
          <p:cNvPicPr>
            <a:picLocks noChangeAspect="1"/>
          </p:cNvPicPr>
          <p:nvPr/>
        </p:nvPicPr>
        <p:blipFill>
          <a:blip r:embed="rId2"/>
          <a:stretch>
            <a:fillRect/>
          </a:stretch>
        </p:blipFill>
        <p:spPr>
          <a:xfrm>
            <a:off x="548640" y="1371600"/>
            <a:ext cx="6583680" cy="4114800"/>
          </a:xfrm>
          <a:prstGeom prst="rect">
            <a:avLst/>
          </a:prstGeom>
          <a:ln w="12700">
            <a:solidFill>
              <a:srgbClr val="D5DBE3"/>
            </a:solidFill>
          </a:ln>
        </p:spPr>
      </p:pic>
      <p:sp>
        <p:nvSpPr>
          <p:cNvPr id="7" name="TextBox 6"/>
          <p:cNvSpPr txBox="1"/>
          <p:nvPr/>
        </p:nvSpPr>
        <p:spPr>
          <a:xfrm>
            <a:off x="7406640" y="1417320"/>
            <a:ext cx="4297680" cy="4754880"/>
          </a:xfrm>
          <a:prstGeom prst="rect">
            <a:avLst/>
          </a:prstGeom>
          <a:noFill/>
        </p:spPr>
        <p:txBody>
          <a:bodyPr wrap="square">
            <a:spAutoFit/>
          </a:bodyPr>
          <a:lstStyle/>
          <a:p>
            <a:pPr>
              <a:lnSpc>
                <a:spcPct val="110000"/>
              </a:lnSpc>
              <a:spcAft>
                <a:spcPts val="700"/>
              </a:spcAft>
            </a:pPr>
            <a:r>
              <a:rPr sz="1350" b="1">
                <a:solidFill>
                  <a:srgbClr val="2140D9"/>
                </a:solidFill>
                <a:latin typeface="Segoe UI"/>
              </a:rPr>
              <a:t>•  </a:t>
            </a:r>
            <a:r>
              <a:rPr sz="1350" b="1">
                <a:solidFill>
                  <a:srgbClr val="141C2E"/>
                </a:solidFill>
                <a:latin typeface="Segoe UI Semibold"/>
              </a:rPr>
              <a:t>Needs your attention:</a:t>
            </a:r>
            <a:r>
              <a:rPr sz="1350" b="0">
                <a:solidFill>
                  <a:srgbClr val="4A5468"/>
                </a:solidFill>
                <a:latin typeface="Segoe UI"/>
              </a:rPr>
              <a:t>  shared repositories, failed gradings, students below 50, students who haven't started, low completion near a deadline, the weakest area.</a:t>
            </a:r>
          </a:p>
          <a:p>
            <a:pPr>
              <a:lnSpc>
                <a:spcPct val="110000"/>
              </a:lnSpc>
              <a:spcAft>
                <a:spcPts val="700"/>
              </a:spcAft>
            </a:pPr>
            <a:r>
              <a:rPr sz="1350" b="1">
                <a:solidFill>
                  <a:srgbClr val="2140D9"/>
                </a:solidFill>
                <a:latin typeface="Segoe UI"/>
              </a:rPr>
              <a:t>•  </a:t>
            </a:r>
            <a:r>
              <a:rPr sz="1350" b="1">
                <a:solidFill>
                  <a:srgbClr val="141C2E"/>
                </a:solidFill>
                <a:latin typeface="Segoe UI Semibold"/>
              </a:rPr>
              <a:t>Class numbers:</a:t>
            </a:r>
            <a:r>
              <a:rPr sz="1350" b="0">
                <a:solidFill>
                  <a:srgbClr val="4A5468"/>
                </a:solidFill>
                <a:latin typeface="Segoe UI"/>
              </a:rPr>
              <a:t>  active students, submissions, class average.</a:t>
            </a:r>
          </a:p>
          <a:p>
            <a:pPr>
              <a:lnSpc>
                <a:spcPct val="110000"/>
              </a:lnSpc>
              <a:spcAft>
                <a:spcPts val="700"/>
              </a:spcAft>
            </a:pPr>
            <a:r>
              <a:rPr sz="1350" b="1">
                <a:solidFill>
                  <a:srgbClr val="2140D9"/>
                </a:solidFill>
                <a:latin typeface="Segoe UI"/>
              </a:rPr>
              <a:t>•  </a:t>
            </a:r>
            <a:r>
              <a:rPr sz="1350" b="1">
                <a:solidFill>
                  <a:srgbClr val="141C2E"/>
                </a:solidFill>
                <a:latin typeface="Segoe UI Semibold"/>
              </a:rPr>
              <a:t>Assignments:</a:t>
            </a:r>
            <a:r>
              <a:rPr sz="1350" b="0">
                <a:solidFill>
                  <a:srgbClr val="4A5468"/>
                </a:solidFill>
                <a:latin typeface="Segoe UI"/>
              </a:rPr>
              <a:t>  completion, average and top score per assignment.</a:t>
            </a:r>
          </a:p>
          <a:p>
            <a:pPr>
              <a:lnSpc>
                <a:spcPct val="110000"/>
              </a:lnSpc>
              <a:spcAft>
                <a:spcPts val="700"/>
              </a:spcAft>
            </a:pPr>
            <a:r>
              <a:rPr sz="1350" b="1">
                <a:solidFill>
                  <a:srgbClr val="2140D9"/>
                </a:solidFill>
                <a:latin typeface="Segoe UI"/>
              </a:rPr>
              <a:t>•  </a:t>
            </a:r>
            <a:r>
              <a:rPr sz="1350" b="1">
                <a:solidFill>
                  <a:srgbClr val="141C2E"/>
                </a:solidFill>
                <a:latin typeface="Segoe UI Semibold"/>
              </a:rPr>
              <a:t>Latest submissions:</a:t>
            </a:r>
            <a:r>
              <a:rPr sz="1350" b="0">
                <a:solidFill>
                  <a:srgbClr val="4A5468"/>
                </a:solidFill>
                <a:latin typeface="Segoe UI"/>
              </a:rPr>
              <a:t>  filter by shared repo, failed, in progress.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14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20040"/>
          </a:xfrm>
          <a:prstGeom prst="rect">
            <a:avLst/>
          </a:prstGeom>
          <a:noFill/>
        </p:spPr>
        <p:txBody>
          <a:bodyPr wrap="square" anchor="t" lIns="27432" rIns="27432">
            <a:spAutoFit/>
          </a:bodyPr>
          <a:lstStyle/>
          <a:p>
            <a:pPr algn="l">
              <a:lnSpc>
                <a:spcPct val="112000"/>
              </a:lnSpc>
            </a:pPr>
            <a:r>
              <a:rPr sz="1200" b="0">
                <a:solidFill>
                  <a:srgbClr val="7F899B"/>
                </a:solidFill>
                <a:latin typeface="Segoe UI"/>
              </a:rPr>
              <a:t>Instructors</a:t>
            </a:r>
          </a:p>
        </p:txBody>
      </p:sp>
      <p:sp>
        <p:nvSpPr>
          <p:cNvPr id="4" name="TextBox 3"/>
          <p:cNvSpPr txBox="1"/>
          <p:nvPr/>
        </p:nvSpPr>
        <p:spPr>
          <a:xfrm>
            <a:off x="548640" y="548640"/>
            <a:ext cx="11155680" cy="731520"/>
          </a:xfrm>
          <a:prstGeom prst="rect">
            <a:avLst/>
          </a:prstGeom>
          <a:noFill/>
        </p:spPr>
        <p:txBody>
          <a:bodyPr wrap="square" anchor="t" lIns="27432" rIns="27432">
            <a:spAutoFit/>
          </a:bodyPr>
          <a:lstStyle/>
          <a:p>
            <a:pPr algn="l">
              <a:lnSpc>
                <a:spcPct val="112000"/>
              </a:lnSpc>
            </a:pPr>
            <a:r>
              <a:rPr sz="2800" b="1">
                <a:solidFill>
                  <a:srgbClr val="141C2E"/>
                </a:solidFill>
                <a:latin typeface="Segoe UI Semibold"/>
              </a:rPr>
              <a:t>Gradebook and assignment analytics</a:t>
            </a:r>
          </a:p>
        </p:txBody>
      </p:sp>
      <p:sp>
        <p:nvSpPr>
          <p:cNvPr id="5" name="TextBox 4"/>
          <p:cNvSpPr txBox="1"/>
          <p:nvPr/>
        </p:nvSpPr>
        <p:spPr>
          <a:xfrm>
            <a:off x="9875520" y="6419088"/>
            <a:ext cx="1920240" cy="274320"/>
          </a:xfrm>
          <a:prstGeom prst="rect">
            <a:avLst/>
          </a:prstGeom>
          <a:noFill/>
        </p:spPr>
        <p:txBody>
          <a:bodyPr wrap="square" anchor="t" lIns="27432" rIns="27432">
            <a:spAutoFit/>
          </a:bodyPr>
          <a:lstStyle/>
          <a:p>
            <a:pPr algn="r">
              <a:lnSpc>
                <a:spcPct val="112000"/>
              </a:lnSpc>
            </a:pPr>
            <a:r>
              <a:rPr sz="1000" b="0">
                <a:solidFill>
                  <a:srgbClr val="7F899B"/>
                </a:solidFill>
                <a:latin typeface="Segoe UI"/>
              </a:rPr>
              <a:t>AutoGrader+   15 / 19</a:t>
            </a:r>
          </a:p>
        </p:txBody>
      </p:sp>
      <p:pic>
        <p:nvPicPr>
          <p:cNvPr id="6" name="Picture 5" descr="gradebook.png"/>
          <p:cNvPicPr>
            <a:picLocks noChangeAspect="1"/>
          </p:cNvPicPr>
          <p:nvPr/>
        </p:nvPicPr>
        <p:blipFill>
          <a:blip r:embed="rId2"/>
          <a:stretch>
            <a:fillRect/>
          </a:stretch>
        </p:blipFill>
        <p:spPr>
          <a:xfrm>
            <a:off x="548640" y="1371600"/>
            <a:ext cx="5486400" cy="3429000"/>
          </a:xfrm>
          <a:prstGeom prst="rect">
            <a:avLst/>
          </a:prstGeom>
          <a:ln w="12700">
            <a:solidFill>
              <a:srgbClr val="D5DBE3"/>
            </a:solidFill>
          </a:ln>
        </p:spPr>
      </p:pic>
      <p:pic>
        <p:nvPicPr>
          <p:cNvPr id="7" name="Picture 6" descr="assignment-analytics.png"/>
          <p:cNvPicPr>
            <a:picLocks noChangeAspect="1"/>
          </p:cNvPicPr>
          <p:nvPr/>
        </p:nvPicPr>
        <p:blipFill>
          <a:blip r:embed="rId3"/>
          <a:stretch>
            <a:fillRect/>
          </a:stretch>
        </p:blipFill>
        <p:spPr>
          <a:xfrm>
            <a:off x="6263640" y="1371600"/>
            <a:ext cx="5394960" cy="3371850"/>
          </a:xfrm>
          <a:prstGeom prst="rect">
            <a:avLst/>
          </a:prstGeom>
          <a:ln w="12700">
            <a:solidFill>
              <a:srgbClr val="D5DBE3"/>
            </a:solidFill>
          </a:ln>
        </p:spPr>
      </p:pic>
      <p:sp>
        <p:nvSpPr>
          <p:cNvPr id="8" name="TextBox 7"/>
          <p:cNvSpPr txBox="1"/>
          <p:nvPr/>
        </p:nvSpPr>
        <p:spPr>
          <a:xfrm>
            <a:off x="548640" y="4937760"/>
            <a:ext cx="11155680" cy="1371600"/>
          </a:xfrm>
          <a:prstGeom prst="rect">
            <a:avLst/>
          </a:prstGeom>
          <a:noFill/>
        </p:spPr>
        <p:txBody>
          <a:bodyPr wrap="square">
            <a:spAutoFit/>
          </a:bodyPr>
          <a:lstStyle/>
          <a:p>
            <a:pPr>
              <a:lnSpc>
                <a:spcPct val="110000"/>
              </a:lnSpc>
              <a:spcAft>
                <a:spcPts val="400"/>
              </a:spcAft>
            </a:pPr>
            <a:r>
              <a:rPr sz="1300" b="1">
                <a:solidFill>
                  <a:srgbClr val="2140D9"/>
                </a:solidFill>
                <a:latin typeface="Segoe UI"/>
              </a:rPr>
              <a:t>•  </a:t>
            </a:r>
            <a:r>
              <a:rPr sz="1300" b="1">
                <a:solidFill>
                  <a:srgbClr val="141C2E"/>
                </a:solidFill>
                <a:latin typeface="Segoe UI Semibold"/>
              </a:rPr>
              <a:t>Gradebook:</a:t>
            </a:r>
            <a:r>
              <a:rPr sz="1300" b="0">
                <a:solidFill>
                  <a:srgbClr val="4A5468"/>
                </a:solidFill>
                <a:latin typeface="Segoe UI"/>
              </a:rPr>
              <a:t>  every student × assignment, late and adjusted marks, missing work after the deadline, class averages, CSV export.</a:t>
            </a:r>
          </a:p>
          <a:p>
            <a:pPr>
              <a:lnSpc>
                <a:spcPct val="110000"/>
              </a:lnSpc>
              <a:spcAft>
                <a:spcPts val="400"/>
              </a:spcAft>
            </a:pPr>
            <a:r>
              <a:rPr sz="1300" b="1">
                <a:solidFill>
                  <a:srgbClr val="2140D9"/>
                </a:solidFill>
                <a:latin typeface="Segoe UI"/>
              </a:rPr>
              <a:t>•  </a:t>
            </a:r>
            <a:r>
              <a:rPr sz="1300" b="1">
                <a:solidFill>
                  <a:srgbClr val="141C2E"/>
                </a:solidFill>
                <a:latin typeface="Segoe UI Semibold"/>
              </a:rPr>
              <a:t>Analytics:</a:t>
            </a:r>
            <a:r>
              <a:rPr sz="1300" b="0">
                <a:solidFill>
                  <a:srgbClr val="4A5468"/>
                </a:solidFill>
                <a:latin typeface="Segoe UI"/>
              </a:rPr>
              <a:t>  mean, median, spread, range, distribution, area averages, submissions per day, who hasn't submitted, possible copying.</a:t>
            </a:r>
          </a:p>
          <a:p>
            <a:pPr>
              <a:lnSpc>
                <a:spcPct val="110000"/>
              </a:lnSpc>
              <a:spcAft>
                <a:spcPts val="400"/>
              </a:spcAft>
            </a:pPr>
            <a:r>
              <a:rPr sz="1300" b="1">
                <a:solidFill>
                  <a:srgbClr val="2140D9"/>
                </a:solidFill>
                <a:latin typeface="Segoe UI"/>
              </a:rPr>
              <a:t>•  </a:t>
            </a:r>
            <a:r>
              <a:rPr sz="1300" b="1">
                <a:solidFill>
                  <a:srgbClr val="141C2E"/>
                </a:solidFill>
                <a:latin typeface="Segoe UI Semibold"/>
              </a:rPr>
              <a:t>Actions:</a:t>
            </a:r>
            <a:r>
              <a:rPr sz="1300" b="0">
                <a:solidFill>
                  <a:srgbClr val="4A5468"/>
                </a:solidFill>
                <a:latin typeface="Segoe UI"/>
              </a:rPr>
              <a:t>  adjust a grade with a reason, re-run one submission, or re-run the whole assignment after changing its rubric.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14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20040"/>
          </a:xfrm>
          <a:prstGeom prst="rect">
            <a:avLst/>
          </a:prstGeom>
          <a:noFill/>
        </p:spPr>
        <p:txBody>
          <a:bodyPr wrap="square" anchor="t" lIns="27432" rIns="27432">
            <a:spAutoFit/>
          </a:bodyPr>
          <a:lstStyle/>
          <a:p>
            <a:pPr algn="l">
              <a:lnSpc>
                <a:spcPct val="112000"/>
              </a:lnSpc>
            </a:pPr>
            <a:r>
              <a:rPr sz="1200" b="0">
                <a:solidFill>
                  <a:srgbClr val="7F899B"/>
                </a:solidFill>
                <a:latin typeface="Segoe UI"/>
              </a:rPr>
              <a:t>Students</a:t>
            </a:r>
          </a:p>
        </p:txBody>
      </p:sp>
      <p:sp>
        <p:nvSpPr>
          <p:cNvPr id="4" name="TextBox 3"/>
          <p:cNvSpPr txBox="1"/>
          <p:nvPr/>
        </p:nvSpPr>
        <p:spPr>
          <a:xfrm>
            <a:off x="548640" y="548640"/>
            <a:ext cx="11155680" cy="731520"/>
          </a:xfrm>
          <a:prstGeom prst="rect">
            <a:avLst/>
          </a:prstGeom>
          <a:noFill/>
        </p:spPr>
        <p:txBody>
          <a:bodyPr wrap="square" anchor="t" lIns="27432" rIns="27432">
            <a:spAutoFit/>
          </a:bodyPr>
          <a:lstStyle/>
          <a:p>
            <a:pPr algn="l">
              <a:lnSpc>
                <a:spcPct val="112000"/>
              </a:lnSpc>
            </a:pPr>
            <a:r>
              <a:rPr sz="2800" b="1">
                <a:solidFill>
                  <a:srgbClr val="141C2E"/>
                </a:solidFill>
                <a:latin typeface="Segoe UI Semibold"/>
              </a:rPr>
              <a:t>Hands-on labs</a:t>
            </a:r>
          </a:p>
        </p:txBody>
      </p:sp>
      <p:sp>
        <p:nvSpPr>
          <p:cNvPr id="5" name="TextBox 4"/>
          <p:cNvSpPr txBox="1"/>
          <p:nvPr/>
        </p:nvSpPr>
        <p:spPr>
          <a:xfrm>
            <a:off x="9875520" y="6419088"/>
            <a:ext cx="1920240" cy="274320"/>
          </a:xfrm>
          <a:prstGeom prst="rect">
            <a:avLst/>
          </a:prstGeom>
          <a:noFill/>
        </p:spPr>
        <p:txBody>
          <a:bodyPr wrap="square" anchor="t" lIns="27432" rIns="27432">
            <a:spAutoFit/>
          </a:bodyPr>
          <a:lstStyle/>
          <a:p>
            <a:pPr algn="r">
              <a:lnSpc>
                <a:spcPct val="112000"/>
              </a:lnSpc>
            </a:pPr>
            <a:r>
              <a:rPr sz="1000" b="0">
                <a:solidFill>
                  <a:srgbClr val="7F899B"/>
                </a:solidFill>
                <a:latin typeface="Segoe UI"/>
              </a:rPr>
              <a:t>AutoGrader+   16 / 19</a:t>
            </a:r>
          </a:p>
        </p:txBody>
      </p:sp>
      <p:pic>
        <p:nvPicPr>
          <p:cNvPr id="6" name="Picture 5" descr="lab-sql.png"/>
          <p:cNvPicPr>
            <a:picLocks noChangeAspect="1"/>
          </p:cNvPicPr>
          <p:nvPr/>
        </p:nvPicPr>
        <p:blipFill>
          <a:blip r:embed="rId2"/>
          <a:stretch>
            <a:fillRect/>
          </a:stretch>
        </p:blipFill>
        <p:spPr>
          <a:xfrm>
            <a:off x="548640" y="1371600"/>
            <a:ext cx="6035040" cy="3771900"/>
          </a:xfrm>
          <a:prstGeom prst="rect">
            <a:avLst/>
          </a:prstGeom>
          <a:ln w="12700">
            <a:solidFill>
              <a:srgbClr val="D5DBE3"/>
            </a:solidFill>
          </a:ln>
        </p:spPr>
      </p:pic>
      <p:sp>
        <p:nvSpPr>
          <p:cNvPr id="7" name="TextBox 6"/>
          <p:cNvSpPr txBox="1"/>
          <p:nvPr/>
        </p:nvSpPr>
        <p:spPr>
          <a:xfrm>
            <a:off x="6858000" y="1417320"/>
            <a:ext cx="4846320" cy="4754880"/>
          </a:xfrm>
          <a:prstGeom prst="rect">
            <a:avLst/>
          </a:prstGeom>
          <a:noFill/>
        </p:spPr>
        <p:txBody>
          <a:bodyPr wrap="square">
            <a:spAutoFit/>
          </a:bodyPr>
          <a:lstStyle/>
          <a:p>
            <a:pPr>
              <a:lnSpc>
                <a:spcPct val="110000"/>
              </a:lnSpc>
              <a:spcAft>
                <a:spcPts val="700"/>
              </a:spcAft>
            </a:pPr>
            <a:r>
              <a:rPr sz="1350" b="1">
                <a:solidFill>
                  <a:srgbClr val="2140D9"/>
                </a:solidFill>
                <a:latin typeface="Segoe UI"/>
              </a:rPr>
              <a:t>•  </a:t>
            </a:r>
            <a:r>
              <a:rPr sz="1350" b="1">
                <a:solidFill>
                  <a:srgbClr val="141C2E"/>
                </a:solidFill>
                <a:latin typeface="Segoe UI Semibold"/>
              </a:rPr>
              <a:t>Frontend:</a:t>
            </a:r>
            <a:r>
              <a:rPr sz="1350" b="0">
                <a:solidFill>
                  <a:srgbClr val="4A5468"/>
                </a:solidFill>
                <a:latin typeface="Segoe UI"/>
              </a:rPr>
              <a:t>  HTML, CSS and JS editor with a sandboxed live preview and DOM checks.</a:t>
            </a:r>
          </a:p>
          <a:p>
            <a:pPr>
              <a:lnSpc>
                <a:spcPct val="110000"/>
              </a:lnSpc>
              <a:spcAft>
                <a:spcPts val="700"/>
              </a:spcAft>
            </a:pPr>
            <a:r>
              <a:rPr sz="1350" b="1">
                <a:solidFill>
                  <a:srgbClr val="2140D9"/>
                </a:solidFill>
                <a:latin typeface="Segoe UI"/>
              </a:rPr>
              <a:t>•  </a:t>
            </a:r>
            <a:r>
              <a:rPr sz="1350" b="1">
                <a:solidFill>
                  <a:srgbClr val="141C2E"/>
                </a:solidFill>
                <a:latin typeface="Segoe UI Semibold"/>
              </a:rPr>
              <a:t>Testing:</a:t>
            </a:r>
            <a:r>
              <a:rPr sz="1350" b="0">
                <a:solidFill>
                  <a:srgbClr val="4A5468"/>
                </a:solidFill>
                <a:latin typeface="Segoe UI"/>
              </a:rPr>
              <a:t>  write test cases for a marking function; the server replays them against four seeded bugs.</a:t>
            </a:r>
          </a:p>
          <a:p>
            <a:pPr>
              <a:lnSpc>
                <a:spcPct val="110000"/>
              </a:lnSpc>
              <a:spcAft>
                <a:spcPts val="700"/>
              </a:spcAft>
            </a:pPr>
            <a:r>
              <a:rPr sz="1350" b="1">
                <a:solidFill>
                  <a:srgbClr val="2140D9"/>
                </a:solidFill>
                <a:latin typeface="Segoe UI"/>
              </a:rPr>
              <a:t>•  </a:t>
            </a:r>
            <a:r>
              <a:rPr sz="1350" b="1">
                <a:solidFill>
                  <a:srgbClr val="141C2E"/>
                </a:solidFill>
                <a:latin typeface="Segoe UI Semibold"/>
              </a:rPr>
              <a:t>Databases:</a:t>
            </a:r>
            <a:r>
              <a:rPr sz="1350" b="0">
                <a:solidFill>
                  <a:srgbClr val="4A5468"/>
                </a:solidFill>
                <a:latin typeface="Segoe UI"/>
              </a:rPr>
              <a:t>  SQL on a real schema; the server checks answers; see an index change the query plan.</a:t>
            </a:r>
          </a:p>
          <a:p>
            <a:pPr>
              <a:lnSpc>
                <a:spcPct val="110000"/>
              </a:lnSpc>
              <a:spcAft>
                <a:spcPts val="700"/>
              </a:spcAft>
            </a:pPr>
            <a:r>
              <a:rPr sz="1350" b="1">
                <a:solidFill>
                  <a:srgbClr val="2140D9"/>
                </a:solidFill>
                <a:latin typeface="Segoe UI"/>
              </a:rPr>
              <a:t>•  </a:t>
            </a:r>
            <a:r>
              <a:rPr sz="1350" b="1">
                <a:solidFill>
                  <a:srgbClr val="141C2E"/>
                </a:solidFill>
                <a:latin typeface="Segoe UI Semibold"/>
              </a:rPr>
              <a:t>Load balancers:</a:t>
            </a:r>
            <a:r>
              <a:rPr sz="1350" b="0">
                <a:solidFill>
                  <a:srgbClr val="4A5468"/>
                </a:solidFill>
                <a:latin typeface="Segoe UI"/>
              </a:rPr>
              <a:t>  real requests through Nginx to the replicas: round-robin, least-connections, sticky.</a:t>
            </a:r>
          </a:p>
          <a:p>
            <a:pPr>
              <a:lnSpc>
                <a:spcPct val="110000"/>
              </a:lnSpc>
              <a:spcAft>
                <a:spcPts val="700"/>
              </a:spcAft>
            </a:pPr>
            <a:r>
              <a:rPr sz="1350" b="1">
                <a:solidFill>
                  <a:srgbClr val="2140D9"/>
                </a:solidFill>
                <a:latin typeface="Segoe UI"/>
              </a:rPr>
              <a:t>•  </a:t>
            </a:r>
            <a:r>
              <a:rPr sz="1350" b="1">
                <a:solidFill>
                  <a:srgbClr val="141C2E"/>
                </a:solidFill>
                <a:latin typeface="Segoe UI Semibold"/>
              </a:rPr>
              <a:t>Networks:</a:t>
            </a:r>
            <a:r>
              <a:rPr sz="1350" b="0">
                <a:solidFill>
                  <a:srgbClr val="4A5468"/>
                </a:solidFill>
                <a:latin typeface="Segoe UI"/>
              </a:rPr>
              <a:t>  round-trip time, jitter, proxy headers, Server-Timing breakdown.</a:t>
            </a:r>
          </a:p>
          <a:p>
            <a:pPr>
              <a:lnSpc>
                <a:spcPct val="110000"/>
              </a:lnSpc>
              <a:spcAft>
                <a:spcPts val="700"/>
              </a:spcAft>
            </a:pPr>
            <a:r>
              <a:rPr sz="1350" b="1">
                <a:solidFill>
                  <a:srgbClr val="2140D9"/>
                </a:solidFill>
                <a:latin typeface="Segoe UI"/>
              </a:rPr>
              <a:t>•  </a:t>
            </a:r>
            <a:r>
              <a:rPr sz="1350" b="1">
                <a:solidFill>
                  <a:srgbClr val="141C2E"/>
                </a:solidFill>
                <a:latin typeface="Segoe UI Semibold"/>
              </a:rPr>
              <a:t>Docker:</a:t>
            </a:r>
            <a:r>
              <a:rPr sz="1350" b="0">
                <a:solidFill>
                  <a:srgbClr val="4A5468"/>
                </a:solidFill>
                <a:latin typeface="Segoe UI"/>
              </a:rPr>
              <a:t>  fix a Dockerfile with the same 20+ rule linter the grader uses.</a:t>
            </a:r>
          </a:p>
          <a:p>
            <a:pPr>
              <a:lnSpc>
                <a:spcPct val="110000"/>
              </a:lnSpc>
              <a:spcAft>
                <a:spcPts val="700"/>
              </a:spcAft>
            </a:pPr>
            <a:r>
              <a:rPr sz="1350" b="1">
                <a:solidFill>
                  <a:srgbClr val="2140D9"/>
                </a:solidFill>
                <a:latin typeface="Segoe UI"/>
              </a:rPr>
              <a:t>•  </a:t>
            </a:r>
            <a:r>
              <a:rPr sz="1350" b="1">
                <a:solidFill>
                  <a:srgbClr val="141C2E"/>
                </a:solidFill>
                <a:latin typeface="Segoe UI Semibold"/>
              </a:rPr>
              <a:t>XP only for server-verified tasks,</a:t>
            </a:r>
            <a:r>
              <a:rPr sz="1350" b="0">
                <a:solidFill>
                  <a:srgbClr val="4A5468"/>
                </a:solidFill>
                <a:latin typeface="Segoe UI"/>
              </a:rPr>
              <a:t>  so the leaderboard can't be inflated from the browser.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14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20040"/>
          </a:xfrm>
          <a:prstGeom prst="rect">
            <a:avLst/>
          </a:prstGeom>
          <a:noFill/>
        </p:spPr>
        <p:txBody>
          <a:bodyPr wrap="square" anchor="t" lIns="27432" rIns="27432">
            <a:spAutoFit/>
          </a:bodyPr>
          <a:lstStyle/>
          <a:p>
            <a:pPr algn="l">
              <a:lnSpc>
                <a:spcPct val="112000"/>
              </a:lnSpc>
            </a:pPr>
            <a:r>
              <a:rPr sz="1200" b="0">
                <a:solidFill>
                  <a:srgbClr val="7F899B"/>
                </a:solidFill>
                <a:latin typeface="Segoe UI"/>
              </a:rPr>
              <a:t>Engineering</a:t>
            </a:r>
          </a:p>
        </p:txBody>
      </p:sp>
      <p:sp>
        <p:nvSpPr>
          <p:cNvPr id="4" name="TextBox 3"/>
          <p:cNvSpPr txBox="1"/>
          <p:nvPr/>
        </p:nvSpPr>
        <p:spPr>
          <a:xfrm>
            <a:off x="548640" y="548640"/>
            <a:ext cx="11155680" cy="731520"/>
          </a:xfrm>
          <a:prstGeom prst="rect">
            <a:avLst/>
          </a:prstGeom>
          <a:noFill/>
        </p:spPr>
        <p:txBody>
          <a:bodyPr wrap="square" anchor="t" lIns="27432" rIns="27432">
            <a:spAutoFit/>
          </a:bodyPr>
          <a:lstStyle/>
          <a:p>
            <a:pPr algn="l">
              <a:lnSpc>
                <a:spcPct val="112000"/>
              </a:lnSpc>
            </a:pPr>
            <a:r>
              <a:rPr sz="2800" b="1">
                <a:solidFill>
                  <a:srgbClr val="141C2E"/>
                </a:solidFill>
                <a:latin typeface="Segoe UI Semibold"/>
              </a:rPr>
              <a:t>Data model, stack and deployment</a:t>
            </a:r>
          </a:p>
        </p:txBody>
      </p:sp>
      <p:sp>
        <p:nvSpPr>
          <p:cNvPr id="5" name="TextBox 4"/>
          <p:cNvSpPr txBox="1"/>
          <p:nvPr/>
        </p:nvSpPr>
        <p:spPr>
          <a:xfrm>
            <a:off x="9875520" y="6419088"/>
            <a:ext cx="1920240" cy="274320"/>
          </a:xfrm>
          <a:prstGeom prst="rect">
            <a:avLst/>
          </a:prstGeom>
          <a:noFill/>
        </p:spPr>
        <p:txBody>
          <a:bodyPr wrap="square" anchor="t" lIns="27432" rIns="27432">
            <a:spAutoFit/>
          </a:bodyPr>
          <a:lstStyle/>
          <a:p>
            <a:pPr algn="r">
              <a:lnSpc>
                <a:spcPct val="112000"/>
              </a:lnSpc>
            </a:pPr>
            <a:r>
              <a:rPr sz="1000" b="0">
                <a:solidFill>
                  <a:srgbClr val="7F899B"/>
                </a:solidFill>
                <a:latin typeface="Segoe UI"/>
              </a:rPr>
              <a:t>AutoGrader+   17 / 19</a:t>
            </a:r>
          </a:p>
        </p:txBody>
      </p:sp>
      <p:graphicFrame>
        <p:nvGraphicFramePr>
          <p:cNvPr id="6" name="Table 5"/>
          <p:cNvGraphicFramePr>
            <a:graphicFrameLocks noGrp="1"/>
          </p:cNvGraphicFramePr>
          <p:nvPr/>
        </p:nvGraphicFramePr>
        <p:xfrm>
          <a:off x="548640" y="1371600"/>
          <a:ext cx="5852160" cy="3291840"/>
        </p:xfrm>
        <a:graphic>
          <a:graphicData uri="http://schemas.openxmlformats.org/drawingml/2006/table">
            <a:tbl>
              <a:tblPr firstRow="1" bandRow="1">
                <a:tableStyleId>{5C22544A-7EE6-4342-B048-85BDC9FD1C3A}</a:tableStyleId>
              </a:tblPr>
              <a:tblGrid>
                <a:gridCol w="1920240"/>
                <a:gridCol w="3931920"/>
              </a:tblGrid>
              <a:tr h="365760">
                <a:tc>
                  <a:txBody>
                    <a:bodyPr wrap="square"/>
                    <a:lstStyle/>
                    <a:p>
                      <a:r>
                        <a:rPr sz="1200" b="1">
                          <a:solidFill>
                            <a:srgbClr val="141C2E"/>
                          </a:solidFill>
                          <a:latin typeface="Segoe UI Semibold"/>
                        </a:rPr>
                        <a:t>Table</a:t>
                      </a:r>
                    </a:p>
                  </a:txBody>
                  <a:tcPr marL="73152" marR="73152" marT="27432" marB="27432">
                    <a:solidFill>
                      <a:srgbClr val="F1F3F6"/>
                    </a:solidFill>
                  </a:tcPr>
                </a:tc>
                <a:tc>
                  <a:txBody>
                    <a:bodyPr wrap="square"/>
                    <a:lstStyle/>
                    <a:p>
                      <a:r>
                        <a:rPr sz="1200" b="1">
                          <a:solidFill>
                            <a:srgbClr val="141C2E"/>
                          </a:solidFill>
                          <a:latin typeface="Segoe UI Semibold"/>
                        </a:rPr>
                        <a:t>Stores</a:t>
                      </a:r>
                    </a:p>
                  </a:txBody>
                  <a:tcPr marL="73152" marR="73152" marT="27432" marB="27432">
                    <a:solidFill>
                      <a:srgbClr val="F1F3F6"/>
                    </a:solidFill>
                  </a:tcPr>
                </a:tc>
              </a:tr>
              <a:tr h="365760">
                <a:tc>
                  <a:txBody>
                    <a:bodyPr wrap="square"/>
                    <a:lstStyle/>
                    <a:p>
                      <a:r>
                        <a:rPr sz="1200" b="1">
                          <a:solidFill>
                            <a:srgbClr val="141C2E"/>
                          </a:solidFill>
                          <a:latin typeface="Segoe UI Semibold"/>
                        </a:rPr>
                        <a:t>users</a:t>
                      </a:r>
                    </a:p>
                  </a:txBody>
                  <a:tcPr marL="73152" marR="73152" marT="27432" marB="27432">
                    <a:solidFill>
                      <a:srgbClr val="FFFFFF"/>
                    </a:solidFill>
                  </a:tcPr>
                </a:tc>
                <a:tc>
                  <a:txBody>
                    <a:bodyPr wrap="square"/>
                    <a:lstStyle/>
                    <a:p>
                      <a:r>
                        <a:rPr sz="1200" b="0">
                          <a:solidFill>
                            <a:srgbClr val="4A5468"/>
                          </a:solidFill>
                          <a:latin typeface="Segoe UI"/>
                        </a:rPr>
                        <a:t>students and instructors, scrypt hash, role</a:t>
                      </a:r>
                    </a:p>
                  </a:txBody>
                  <a:tcPr marL="73152" marR="73152" marT="27432" marB="27432">
                    <a:solidFill>
                      <a:srgbClr val="FFFFFF"/>
                    </a:solidFill>
                  </a:tcPr>
                </a:tc>
              </a:tr>
              <a:tr h="365760">
                <a:tc>
                  <a:txBody>
                    <a:bodyPr wrap="square"/>
                    <a:lstStyle/>
                    <a:p>
                      <a:r>
                        <a:rPr sz="1200" b="1">
                          <a:solidFill>
                            <a:srgbClr val="141C2E"/>
                          </a:solidFill>
                          <a:latin typeface="Segoe UI Semibold"/>
                        </a:rPr>
                        <a:t>sessions</a:t>
                      </a:r>
                    </a:p>
                  </a:txBody>
                  <a:tcPr marL="73152" marR="73152" marT="27432" marB="27432">
                    <a:solidFill>
                      <a:srgbClr val="FFFFFF"/>
                    </a:solidFill>
                  </a:tcPr>
                </a:tc>
                <a:tc>
                  <a:txBody>
                    <a:bodyPr wrap="square"/>
                    <a:lstStyle/>
                    <a:p>
                      <a:r>
                        <a:rPr sz="1200" b="0">
                          <a:solidFill>
                            <a:srgbClr val="4A5468"/>
                          </a:solidFill>
                          <a:latin typeface="Segoe UI"/>
                        </a:rPr>
                        <a:t>SHA-256 of session tokens, expiry</a:t>
                      </a:r>
                    </a:p>
                  </a:txBody>
                  <a:tcPr marL="73152" marR="73152" marT="27432" marB="27432">
                    <a:solidFill>
                      <a:srgbClr val="FFFFFF"/>
                    </a:solidFill>
                  </a:tcPr>
                </a:tc>
              </a:tr>
              <a:tr h="365760">
                <a:tc>
                  <a:txBody>
                    <a:bodyPr wrap="square"/>
                    <a:lstStyle/>
                    <a:p>
                      <a:r>
                        <a:rPr sz="1200" b="1">
                          <a:solidFill>
                            <a:srgbClr val="141C2E"/>
                          </a:solidFill>
                          <a:latin typeface="Segoe UI Semibold"/>
                        </a:rPr>
                        <a:t>assignments</a:t>
                      </a:r>
                    </a:p>
                  </a:txBody>
                  <a:tcPr marL="73152" marR="73152" marT="27432" marB="27432">
                    <a:solidFill>
                      <a:srgbClr val="FFFFFF"/>
                    </a:solidFill>
                  </a:tcPr>
                </a:tc>
                <a:tc>
                  <a:txBody>
                    <a:bodyPr wrap="square"/>
                    <a:lstStyle/>
                    <a:p>
                      <a:r>
                        <a:rPr sz="1200" b="0">
                          <a:solidFill>
                            <a:srgbClr val="4A5468"/>
                          </a:solidFill>
                          <a:latin typeface="Segoe UI"/>
                        </a:rPr>
                        <a:t>brief, track, rubric weights, checklist, deadline</a:t>
                      </a:r>
                    </a:p>
                  </a:txBody>
                  <a:tcPr marL="73152" marR="73152" marT="27432" marB="27432">
                    <a:solidFill>
                      <a:srgbClr val="FFFFFF"/>
                    </a:solidFill>
                  </a:tcPr>
                </a:tc>
              </a:tr>
              <a:tr h="365760">
                <a:tc>
                  <a:txBody>
                    <a:bodyPr wrap="square"/>
                    <a:lstStyle/>
                    <a:p>
                      <a:r>
                        <a:rPr sz="1200" b="1">
                          <a:solidFill>
                            <a:srgbClr val="141C2E"/>
                          </a:solidFill>
                          <a:latin typeface="Segoe UI Semibold"/>
                        </a:rPr>
                        <a:t>submissions</a:t>
                      </a:r>
                    </a:p>
                  </a:txBody>
                  <a:tcPr marL="73152" marR="73152" marT="27432" marB="27432">
                    <a:solidFill>
                      <a:srgbClr val="FFFFFF"/>
                    </a:solidFill>
                  </a:tcPr>
                </a:tc>
                <a:tc>
                  <a:txBody>
                    <a:bodyPr wrap="square"/>
                    <a:lstStyle/>
                    <a:p>
                      <a:r>
                        <a:rPr sz="1200" b="0">
                          <a:solidFill>
                            <a:srgbClr val="4A5468"/>
                          </a:solidFill>
                          <a:latin typeface="Segoe UI"/>
                        </a:rPr>
                        <a:t>each attempt: repo, status, score, area scores, priorities</a:t>
                      </a:r>
                    </a:p>
                  </a:txBody>
                  <a:tcPr marL="73152" marR="73152" marT="27432" marB="27432">
                    <a:solidFill>
                      <a:srgbClr val="FFFFFF"/>
                    </a:solidFill>
                  </a:tcPr>
                </a:tc>
              </a:tr>
              <a:tr h="365760">
                <a:tc>
                  <a:txBody>
                    <a:bodyPr wrap="square"/>
                    <a:lstStyle/>
                    <a:p>
                      <a:r>
                        <a:rPr sz="1200" b="1">
                          <a:solidFill>
                            <a:srgbClr val="141C2E"/>
                          </a:solidFill>
                          <a:latin typeface="Segoe UI Semibold"/>
                        </a:rPr>
                        <a:t>grade_overrides</a:t>
                      </a:r>
                    </a:p>
                  </a:txBody>
                  <a:tcPr marL="73152" marR="73152" marT="27432" marB="27432">
                    <a:solidFill>
                      <a:srgbClr val="FFFFFF"/>
                    </a:solidFill>
                  </a:tcPr>
                </a:tc>
                <a:tc>
                  <a:txBody>
                    <a:bodyPr wrap="square"/>
                    <a:lstStyle/>
                    <a:p>
                      <a:r>
                        <a:rPr sz="1200" b="0">
                          <a:solidFill>
                            <a:srgbClr val="4A5468"/>
                          </a:solidFill>
                          <a:latin typeface="Segoe UI"/>
                        </a:rPr>
                        <a:t>instructor adjustments: original, new, reason, who</a:t>
                      </a:r>
                    </a:p>
                  </a:txBody>
                  <a:tcPr marL="73152" marR="73152" marT="27432" marB="27432">
                    <a:solidFill>
                      <a:srgbClr val="FFFFFF"/>
                    </a:solidFill>
                  </a:tcPr>
                </a:tc>
              </a:tr>
              <a:tr h="365760">
                <a:tc>
                  <a:txBody>
                    <a:bodyPr wrap="square"/>
                    <a:lstStyle/>
                    <a:p>
                      <a:r>
                        <a:rPr sz="1200" b="1">
                          <a:solidFill>
                            <a:srgbClr val="141C2E"/>
                          </a:solidFill>
                          <a:latin typeface="Segoe UI Semibold"/>
                        </a:rPr>
                        <a:t>job_events</a:t>
                      </a:r>
                    </a:p>
                  </a:txBody>
                  <a:tcPr marL="73152" marR="73152" marT="27432" marB="27432">
                    <a:solidFill>
                      <a:srgbClr val="FFFFFF"/>
                    </a:solidFill>
                  </a:tcPr>
                </a:tc>
                <a:tc>
                  <a:txBody>
                    <a:bodyPr wrap="square"/>
                    <a:lstStyle/>
                    <a:p>
                      <a:r>
                        <a:rPr sz="1200" b="0">
                          <a:solidFill>
                            <a:srgbClr val="4A5468"/>
                          </a:solidFill>
                          <a:latin typeface="Segoe UI"/>
                        </a:rPr>
                        <a:t>progress events, so any replica can stream any job</a:t>
                      </a:r>
                    </a:p>
                  </a:txBody>
                  <a:tcPr marL="73152" marR="73152" marT="27432" marB="27432">
                    <a:solidFill>
                      <a:srgbClr val="FFFFFF"/>
                    </a:solidFill>
                  </a:tcPr>
                </a:tc>
              </a:tr>
              <a:tr h="365760">
                <a:tc>
                  <a:txBody>
                    <a:bodyPr wrap="square"/>
                    <a:lstStyle/>
                    <a:p>
                      <a:r>
                        <a:rPr sz="1200" b="1">
                          <a:solidFill>
                            <a:srgbClr val="141C2E"/>
                          </a:solidFill>
                          <a:latin typeface="Segoe UI Semibold"/>
                        </a:rPr>
                        <a:t>report_artifacts</a:t>
                      </a:r>
                    </a:p>
                  </a:txBody>
                  <a:tcPr marL="73152" marR="73152" marT="27432" marB="27432">
                    <a:solidFill>
                      <a:srgbClr val="FFFFFF"/>
                    </a:solidFill>
                  </a:tcPr>
                </a:tc>
                <a:tc>
                  <a:txBody>
                    <a:bodyPr wrap="square"/>
                    <a:lstStyle/>
                    <a:p>
                      <a:r>
                        <a:rPr sz="1200" b="0">
                          <a:solidFill>
                            <a:srgbClr val="4A5468"/>
                          </a:solidFill>
                          <a:latin typeface="Segoe UI"/>
                        </a:rPr>
                        <a:t>full HTML / Markdown / JSON reports</a:t>
                      </a:r>
                    </a:p>
                  </a:txBody>
                  <a:tcPr marL="73152" marR="73152" marT="27432" marB="27432">
                    <a:solidFill>
                      <a:srgbClr val="FFFFFF"/>
                    </a:solidFill>
                  </a:tcPr>
                </a:tc>
              </a:tr>
              <a:tr h="365760">
                <a:tc>
                  <a:txBody>
                    <a:bodyPr wrap="square"/>
                    <a:lstStyle/>
                    <a:p>
                      <a:r>
                        <a:rPr sz="1200" b="1">
                          <a:solidFill>
                            <a:srgbClr val="141C2E"/>
                          </a:solidFill>
                          <a:latin typeface="Segoe UI Semibold"/>
                        </a:rPr>
                        <a:t>lab_progress</a:t>
                      </a:r>
                    </a:p>
                  </a:txBody>
                  <a:tcPr marL="73152" marR="73152" marT="27432" marB="27432">
                    <a:solidFill>
                      <a:srgbClr val="FFFFFF"/>
                    </a:solidFill>
                  </a:tcPr>
                </a:tc>
                <a:tc>
                  <a:txBody>
                    <a:bodyPr wrap="square"/>
                    <a:lstStyle/>
                    <a:p>
                      <a:r>
                        <a:rPr sz="1200" b="0">
                          <a:solidFill>
                            <a:srgbClr val="4A5468"/>
                          </a:solidFill>
                          <a:latin typeface="Segoe UI"/>
                        </a:rPr>
                        <a:t>completed lab tasks</a:t>
                      </a:r>
                    </a:p>
                  </a:txBody>
                  <a:tcPr marL="73152" marR="73152" marT="27432" marB="27432">
                    <a:solidFill>
                      <a:srgbClr val="FFFFFF"/>
                    </a:solidFill>
                  </a:tcPr>
                </a:tc>
              </a:tr>
            </a:tbl>
          </a:graphicData>
        </a:graphic>
      </p:graphicFrame>
      <p:sp>
        <p:nvSpPr>
          <p:cNvPr id="7" name="Rounded Rectangle 6"/>
          <p:cNvSpPr/>
          <p:nvPr/>
        </p:nvSpPr>
        <p:spPr>
          <a:xfrm>
            <a:off x="6675120" y="1371600"/>
            <a:ext cx="4983480" cy="2331720"/>
          </a:xfrm>
          <a:prstGeom prst="roundRect">
            <a:avLst>
              <a:gd name="adj" fmla="val 10000"/>
            </a:avLst>
          </a:prstGeom>
          <a:solidFill>
            <a:srgbClr val="F1F3F6"/>
          </a:solidFill>
          <a:ln w="12700">
            <a:solidFill>
              <a:srgbClr val="F1F3F6"/>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600" b="1">
                <a:solidFill>
                  <a:srgbClr val="141C2E"/>
                </a:solidFill>
                <a:latin typeface="Segoe UI Semibold"/>
              </a:rPr>
              <a:t>Tech stack</a:t>
            </a:r>
          </a:p>
          <a:p>
            <a:pPr algn="l">
              <a:spcBef>
                <a:spcPts val="500"/>
              </a:spcBef>
            </a:pPr>
            <a:r>
              <a:rPr sz="1300" b="0">
                <a:solidFill>
                  <a:srgbClr val="4A5468"/>
                </a:solidFill>
                <a:latin typeface="Segoe UI"/>
              </a:rPr>
              <a:t>Python 3.12, FastAPI, asyncio, Pydantic v2</a:t>
            </a:r>
          </a:p>
          <a:p>
            <a:pPr algn="l">
              <a:spcBef>
                <a:spcPts val="500"/>
              </a:spcBef>
            </a:pPr>
            <a:r>
              <a:rPr sz="1300" b="0">
                <a:solidFill>
                  <a:srgbClr val="4A5468"/>
                </a:solidFill>
                <a:latin typeface="Segoe UI"/>
              </a:rPr>
              <a:t>Free Groq models or Claude (forced tool use), or heuristics</a:t>
            </a:r>
          </a:p>
          <a:p>
            <a:pPr algn="l">
              <a:spcBef>
                <a:spcPts val="500"/>
              </a:spcBef>
            </a:pPr>
            <a:r>
              <a:rPr sz="1300" b="0">
                <a:solidFill>
                  <a:srgbClr val="4A5468"/>
                </a:solidFill>
                <a:latin typeface="Segoe UI"/>
              </a:rPr>
              <a:t>PostgreSQL (psycopg 3) or SQLite</a:t>
            </a:r>
          </a:p>
          <a:p>
            <a:pPr algn="l">
              <a:spcBef>
                <a:spcPts val="500"/>
              </a:spcBef>
            </a:pPr>
            <a:r>
              <a:rPr sz="1300" b="0">
                <a:solidFill>
                  <a:srgbClr val="4A5468"/>
                </a:solidFill>
                <a:latin typeface="Segoe UI"/>
              </a:rPr>
              <a:t>HTML/CSS/JS modules, SVG charts, SSE, PWA</a:t>
            </a:r>
          </a:p>
        </p:txBody>
      </p:sp>
      <p:sp>
        <p:nvSpPr>
          <p:cNvPr id="8" name="Rounded Rectangle 7"/>
          <p:cNvSpPr/>
          <p:nvPr/>
        </p:nvSpPr>
        <p:spPr>
          <a:xfrm>
            <a:off x="6675120" y="3886200"/>
            <a:ext cx="4983480" cy="2194560"/>
          </a:xfrm>
          <a:prstGeom prst="roundRect">
            <a:avLst>
              <a:gd name="adj" fmla="val 10000"/>
            </a:avLst>
          </a:prstGeom>
          <a:solidFill>
            <a:srgbClr val="F1F3F6"/>
          </a:solidFill>
          <a:ln w="12700">
            <a:solidFill>
              <a:srgbClr val="F1F3F6"/>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600" b="1">
                <a:solidFill>
                  <a:srgbClr val="141C2E"/>
                </a:solidFill>
                <a:latin typeface="Segoe UI Semibold"/>
              </a:rPr>
              <a:t>Deployment</a:t>
            </a:r>
          </a:p>
          <a:p>
            <a:pPr algn="l">
              <a:spcBef>
                <a:spcPts val="500"/>
              </a:spcBef>
            </a:pPr>
            <a:r>
              <a:rPr sz="1300" b="0">
                <a:solidFill>
                  <a:srgbClr val="4A5468"/>
                </a:solidFill>
                <a:latin typeface="Segoe UI"/>
              </a:rPr>
              <a:t>Docker: multi-stage, non-root, healthcheck</a:t>
            </a:r>
          </a:p>
          <a:p>
            <a:pPr algn="l">
              <a:spcBef>
                <a:spcPts val="500"/>
              </a:spcBef>
            </a:pPr>
            <a:r>
              <a:rPr sz="1300" b="0">
                <a:solidFill>
                  <a:srgbClr val="4A5468"/>
                </a:solidFill>
                <a:latin typeface="Segoe UI"/>
              </a:rPr>
              <a:t>Render (free web service, auto-deploy from main)</a:t>
            </a:r>
          </a:p>
          <a:p>
            <a:pPr algn="l">
              <a:spcBef>
                <a:spcPts val="500"/>
              </a:spcBef>
            </a:pPr>
            <a:r>
              <a:rPr sz="1300" b="0">
                <a:solidFill>
                  <a:srgbClr val="4A5468"/>
                </a:solidFill>
                <a:latin typeface="Segoe UI"/>
              </a:rPr>
              <a:t>Neon PostgreSQL (free, Singapore)</a:t>
            </a:r>
          </a:p>
          <a:p>
            <a:pPr algn="l">
              <a:spcBef>
                <a:spcPts val="500"/>
              </a:spcBef>
            </a:pPr>
            <a:r>
              <a:rPr sz="1300" b="0">
                <a:solidFill>
                  <a:srgbClr val="4A5468"/>
                </a:solidFill>
                <a:latin typeface="Segoe UI"/>
              </a:rPr>
              <a:t>Local: docker compose = Nginx + 3 replicas + Postgres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14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20040"/>
          </a:xfrm>
          <a:prstGeom prst="rect">
            <a:avLst/>
          </a:prstGeom>
          <a:noFill/>
        </p:spPr>
        <p:txBody>
          <a:bodyPr wrap="square" anchor="t" lIns="27432" rIns="27432">
            <a:spAutoFit/>
          </a:bodyPr>
          <a:lstStyle/>
          <a:p>
            <a:pPr algn="l">
              <a:lnSpc>
                <a:spcPct val="112000"/>
              </a:lnSpc>
            </a:pPr>
            <a:r>
              <a:rPr sz="1200" b="0">
                <a:solidFill>
                  <a:srgbClr val="7F899B"/>
                </a:solidFill>
                <a:latin typeface="Segoe UI"/>
              </a:rPr>
              <a:t>Wrap-up</a:t>
            </a:r>
          </a:p>
        </p:txBody>
      </p:sp>
      <p:sp>
        <p:nvSpPr>
          <p:cNvPr id="4" name="TextBox 3"/>
          <p:cNvSpPr txBox="1"/>
          <p:nvPr/>
        </p:nvSpPr>
        <p:spPr>
          <a:xfrm>
            <a:off x="548640" y="548640"/>
            <a:ext cx="11155680" cy="731520"/>
          </a:xfrm>
          <a:prstGeom prst="rect">
            <a:avLst/>
          </a:prstGeom>
          <a:noFill/>
        </p:spPr>
        <p:txBody>
          <a:bodyPr wrap="square" anchor="t" lIns="27432" rIns="27432">
            <a:spAutoFit/>
          </a:bodyPr>
          <a:lstStyle/>
          <a:p>
            <a:pPr algn="l">
              <a:lnSpc>
                <a:spcPct val="112000"/>
              </a:lnSpc>
            </a:pPr>
            <a:r>
              <a:rPr sz="2800" b="1">
                <a:solidFill>
                  <a:srgbClr val="141C2E"/>
                </a:solidFill>
                <a:latin typeface="Segoe UI Semibold"/>
              </a:rPr>
              <a:t>Limitations and next steps</a:t>
            </a:r>
          </a:p>
        </p:txBody>
      </p:sp>
      <p:sp>
        <p:nvSpPr>
          <p:cNvPr id="5" name="TextBox 4"/>
          <p:cNvSpPr txBox="1"/>
          <p:nvPr/>
        </p:nvSpPr>
        <p:spPr>
          <a:xfrm>
            <a:off x="9875520" y="6419088"/>
            <a:ext cx="1920240" cy="274320"/>
          </a:xfrm>
          <a:prstGeom prst="rect">
            <a:avLst/>
          </a:prstGeom>
          <a:noFill/>
        </p:spPr>
        <p:txBody>
          <a:bodyPr wrap="square" anchor="t" lIns="27432" rIns="27432">
            <a:spAutoFit/>
          </a:bodyPr>
          <a:lstStyle/>
          <a:p>
            <a:pPr algn="r">
              <a:lnSpc>
                <a:spcPct val="112000"/>
              </a:lnSpc>
            </a:pPr>
            <a:r>
              <a:rPr sz="1000" b="0">
                <a:solidFill>
                  <a:srgbClr val="7F899B"/>
                </a:solidFill>
                <a:latin typeface="Segoe UI"/>
              </a:rPr>
              <a:t>AutoGrader+   18 / 19</a:t>
            </a:r>
          </a:p>
        </p:txBody>
      </p:sp>
      <p:sp>
        <p:nvSpPr>
          <p:cNvPr id="6" name="Rounded Rectangle 5"/>
          <p:cNvSpPr/>
          <p:nvPr/>
        </p:nvSpPr>
        <p:spPr>
          <a:xfrm>
            <a:off x="548640" y="1417320"/>
            <a:ext cx="5394960" cy="4480560"/>
          </a:xfrm>
          <a:prstGeom prst="roundRect">
            <a:avLst>
              <a:gd name="adj" fmla="val 10000"/>
            </a:avLst>
          </a:prstGeom>
          <a:solidFill>
            <a:srgbClr val="F1F3F6"/>
          </a:solidFill>
          <a:ln w="12700">
            <a:solidFill>
              <a:srgbClr val="F1F3F6"/>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700" b="1">
                <a:solidFill>
                  <a:srgbClr val="141C2E"/>
                </a:solidFill>
                <a:latin typeface="Segoe UI Semibold"/>
              </a:rPr>
              <a:t>Limitations today</a:t>
            </a:r>
          </a:p>
        </p:txBody>
      </p:sp>
      <p:sp>
        <p:nvSpPr>
          <p:cNvPr id="7" name="TextBox 6"/>
          <p:cNvSpPr txBox="1"/>
          <p:nvPr/>
        </p:nvSpPr>
        <p:spPr>
          <a:xfrm>
            <a:off x="777240" y="1965960"/>
            <a:ext cx="4983480" cy="3840480"/>
          </a:xfrm>
          <a:prstGeom prst="rect">
            <a:avLst/>
          </a:prstGeom>
          <a:noFill/>
        </p:spPr>
        <p:txBody>
          <a:bodyPr wrap="square">
            <a:spAutoFit/>
          </a:bodyPr>
          <a:lstStyle/>
          <a:p>
            <a:pPr>
              <a:lnSpc>
                <a:spcPct val="110000"/>
              </a:lnSpc>
              <a:spcAft>
                <a:spcPts val="700"/>
              </a:spcAft>
            </a:pPr>
            <a:r>
              <a:rPr sz="1400" b="1">
                <a:solidFill>
                  <a:srgbClr val="A85D06"/>
                </a:solidFill>
                <a:latin typeface="Segoe UI"/>
              </a:rPr>
              <a:t>•  </a:t>
            </a:r>
            <a:r>
              <a:rPr sz="1400" b="0">
                <a:solidFill>
                  <a:srgbClr val="141C2E"/>
                </a:solidFill>
                <a:latin typeface="Segoe UI"/>
              </a:rPr>
              <a:t>A grading runs inside the server that accepted it; a restart fails it (the student resubmits).</a:t>
            </a:r>
          </a:p>
          <a:p>
            <a:pPr>
              <a:lnSpc>
                <a:spcPct val="110000"/>
              </a:lnSpc>
              <a:spcAft>
                <a:spcPts val="700"/>
              </a:spcAft>
            </a:pPr>
            <a:r>
              <a:rPr sz="1400" b="1">
                <a:solidFill>
                  <a:srgbClr val="A85D06"/>
                </a:solidFill>
                <a:latin typeface="Segoe UI"/>
              </a:rPr>
              <a:t>•  </a:t>
            </a:r>
            <a:r>
              <a:rPr sz="1400" b="0">
                <a:solidFill>
                  <a:srgbClr val="141C2E"/>
                </a:solidFill>
                <a:latin typeface="Segoe UI"/>
              </a:rPr>
              <a:t>Docker builds run student RUN steps, so the sandbox is opt-in and meant for a dedicated VM.</a:t>
            </a:r>
          </a:p>
          <a:p>
            <a:pPr>
              <a:lnSpc>
                <a:spcPct val="110000"/>
              </a:lnSpc>
              <a:spcAft>
                <a:spcPts val="700"/>
              </a:spcAft>
            </a:pPr>
            <a:r>
              <a:rPr sz="1400" b="1">
                <a:solidFill>
                  <a:srgbClr val="A85D06"/>
                </a:solidFill>
                <a:latin typeface="Segoe UI"/>
              </a:rPr>
              <a:t>•  </a:t>
            </a:r>
            <a:r>
              <a:rPr sz="1400" b="0">
                <a:solidFill>
                  <a:srgbClr val="141C2E"/>
                </a:solidFill>
                <a:latin typeface="Segoe UI"/>
              </a:rPr>
              <a:t>Copy detection compares repositories and commits, not code similarity.</a:t>
            </a:r>
          </a:p>
          <a:p>
            <a:pPr>
              <a:lnSpc>
                <a:spcPct val="110000"/>
              </a:lnSpc>
              <a:spcAft>
                <a:spcPts val="700"/>
              </a:spcAft>
            </a:pPr>
            <a:r>
              <a:rPr sz="1400" b="1">
                <a:solidFill>
                  <a:srgbClr val="A85D06"/>
                </a:solidFill>
                <a:latin typeface="Segoe UI"/>
              </a:rPr>
              <a:t>•  </a:t>
            </a:r>
            <a:r>
              <a:rPr sz="1400" b="0">
                <a:solidFill>
                  <a:srgbClr val="141C2E"/>
                </a:solidFill>
                <a:latin typeface="Segoe UI"/>
              </a:rPr>
              <a:t>The free host sleeps after 15 minutes; the first visit takes about a minute.</a:t>
            </a:r>
          </a:p>
        </p:txBody>
      </p:sp>
      <p:sp>
        <p:nvSpPr>
          <p:cNvPr id="8" name="Rounded Rectangle 7"/>
          <p:cNvSpPr/>
          <p:nvPr/>
        </p:nvSpPr>
        <p:spPr>
          <a:xfrm>
            <a:off x="6263640" y="1417320"/>
            <a:ext cx="5394960" cy="4480560"/>
          </a:xfrm>
          <a:prstGeom prst="roundRect">
            <a:avLst>
              <a:gd name="adj" fmla="val 10000"/>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700" b="1">
                <a:solidFill>
                  <a:srgbClr val="141C2E"/>
                </a:solidFill>
                <a:latin typeface="Segoe UI Semibold"/>
              </a:rPr>
              <a:t>Next steps</a:t>
            </a:r>
          </a:p>
        </p:txBody>
      </p:sp>
      <p:sp>
        <p:nvSpPr>
          <p:cNvPr id="9" name="TextBox 8"/>
          <p:cNvSpPr txBox="1"/>
          <p:nvPr/>
        </p:nvSpPr>
        <p:spPr>
          <a:xfrm>
            <a:off x="6492240" y="1965960"/>
            <a:ext cx="4983480" cy="3840480"/>
          </a:xfrm>
          <a:prstGeom prst="rect">
            <a:avLst/>
          </a:prstGeom>
          <a:noFill/>
        </p:spPr>
        <p:txBody>
          <a:bodyPr wrap="square">
            <a:spAutoFit/>
          </a:bodyPr>
          <a:lstStyle/>
          <a:p>
            <a:pPr>
              <a:lnSpc>
                <a:spcPct val="110000"/>
              </a:lnSpc>
              <a:spcAft>
                <a:spcPts val="700"/>
              </a:spcAft>
            </a:pPr>
            <a:r>
              <a:rPr sz="1400" b="1">
                <a:solidFill>
                  <a:srgbClr val="16794A"/>
                </a:solidFill>
                <a:latin typeface="Segoe UI"/>
              </a:rPr>
              <a:t>•  </a:t>
            </a:r>
            <a:r>
              <a:rPr sz="1400" b="0">
                <a:solidFill>
                  <a:srgbClr val="141C2E"/>
                </a:solidFill>
                <a:latin typeface="Segoe UI"/>
              </a:rPr>
              <a:t>PostgreSQL work queue (SKIP LOCKED) and worker roles: jobs survive restarts.</a:t>
            </a:r>
          </a:p>
          <a:p>
            <a:pPr>
              <a:lnSpc>
                <a:spcPct val="110000"/>
              </a:lnSpc>
              <a:spcAft>
                <a:spcPts val="700"/>
              </a:spcAft>
            </a:pPr>
            <a:r>
              <a:rPr sz="1400" b="1">
                <a:solidFill>
                  <a:srgbClr val="16794A"/>
                </a:solidFill>
                <a:latin typeface="Segoe UI"/>
              </a:rPr>
              <a:t>•  </a:t>
            </a:r>
            <a:r>
              <a:rPr sz="1400" b="0">
                <a:solidFill>
                  <a:srgbClr val="141C2E"/>
                </a:solidFill>
                <a:latin typeface="Segoe UI"/>
              </a:rPr>
              <a:t>Token-level similarity (JPlag-style) across submissions.</a:t>
            </a:r>
          </a:p>
          <a:p>
            <a:pPr>
              <a:lnSpc>
                <a:spcPct val="110000"/>
              </a:lnSpc>
              <a:spcAft>
                <a:spcPts val="700"/>
              </a:spcAft>
            </a:pPr>
            <a:r>
              <a:rPr sz="1400" b="1">
                <a:solidFill>
                  <a:srgbClr val="16794A"/>
                </a:solidFill>
                <a:latin typeface="Segoe UI"/>
              </a:rPr>
              <a:t>•  </a:t>
            </a:r>
            <a:r>
              <a:rPr sz="1400" b="0">
                <a:solidFill>
                  <a:srgbClr val="141C2E"/>
                </a:solidFill>
                <a:latin typeface="Segoe UI"/>
              </a:rPr>
              <a:t>Per-student containers so each student's backend runs on the platform.</a:t>
            </a:r>
          </a:p>
          <a:p>
            <a:pPr>
              <a:lnSpc>
                <a:spcPct val="110000"/>
              </a:lnSpc>
              <a:spcAft>
                <a:spcPts val="700"/>
              </a:spcAft>
            </a:pPr>
            <a:r>
              <a:rPr sz="1400" b="1">
                <a:solidFill>
                  <a:srgbClr val="16794A"/>
                </a:solidFill>
                <a:latin typeface="Segoe UI"/>
              </a:rPr>
              <a:t>•  </a:t>
            </a:r>
            <a:r>
              <a:rPr sz="1400" b="0">
                <a:solidFill>
                  <a:srgbClr val="141C2E"/>
                </a:solidFill>
                <a:latin typeface="Segoe UI"/>
              </a:rPr>
              <a:t>Regrade requests from students, deadline extensions per student.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14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20040"/>
          </a:xfrm>
          <a:prstGeom prst="rect">
            <a:avLst/>
          </a:prstGeom>
          <a:noFill/>
        </p:spPr>
        <p:txBody>
          <a:bodyPr wrap="square" anchor="t" lIns="27432" rIns="27432">
            <a:spAutoFit/>
          </a:bodyPr>
          <a:lstStyle/>
          <a:p>
            <a:pPr algn="l">
              <a:lnSpc>
                <a:spcPct val="112000"/>
              </a:lnSpc>
            </a:pPr>
            <a:r>
              <a:rPr sz="1200" b="0">
                <a:solidFill>
                  <a:srgbClr val="7F899B"/>
                </a:solidFill>
                <a:latin typeface="Segoe UI"/>
              </a:rPr>
              <a:t>Thank you</a:t>
            </a:r>
          </a:p>
        </p:txBody>
      </p:sp>
      <p:sp>
        <p:nvSpPr>
          <p:cNvPr id="4" name="TextBox 3"/>
          <p:cNvSpPr txBox="1"/>
          <p:nvPr/>
        </p:nvSpPr>
        <p:spPr>
          <a:xfrm>
            <a:off x="548640" y="548640"/>
            <a:ext cx="11155680" cy="731520"/>
          </a:xfrm>
          <a:prstGeom prst="rect">
            <a:avLst/>
          </a:prstGeom>
          <a:noFill/>
        </p:spPr>
        <p:txBody>
          <a:bodyPr wrap="square" anchor="t" lIns="27432" rIns="27432">
            <a:spAutoFit/>
          </a:bodyPr>
          <a:lstStyle/>
          <a:p>
            <a:pPr algn="l">
              <a:lnSpc>
                <a:spcPct val="112000"/>
              </a:lnSpc>
            </a:pPr>
            <a:r>
              <a:rPr sz="2800" b="1">
                <a:solidFill>
                  <a:srgbClr val="141C2E"/>
                </a:solidFill>
                <a:latin typeface="Segoe UI Semibold"/>
              </a:rPr>
              <a:t>Live demo</a:t>
            </a:r>
          </a:p>
        </p:txBody>
      </p:sp>
      <p:sp>
        <p:nvSpPr>
          <p:cNvPr id="5" name="TextBox 4"/>
          <p:cNvSpPr txBox="1"/>
          <p:nvPr/>
        </p:nvSpPr>
        <p:spPr>
          <a:xfrm>
            <a:off x="9875520" y="6419088"/>
            <a:ext cx="1920240" cy="274320"/>
          </a:xfrm>
          <a:prstGeom prst="rect">
            <a:avLst/>
          </a:prstGeom>
          <a:noFill/>
        </p:spPr>
        <p:txBody>
          <a:bodyPr wrap="square" anchor="t" lIns="27432" rIns="27432">
            <a:spAutoFit/>
          </a:bodyPr>
          <a:lstStyle/>
          <a:p>
            <a:pPr algn="r">
              <a:lnSpc>
                <a:spcPct val="112000"/>
              </a:lnSpc>
            </a:pPr>
            <a:r>
              <a:rPr sz="1000" b="0">
                <a:solidFill>
                  <a:srgbClr val="7F899B"/>
                </a:solidFill>
                <a:latin typeface="Segoe UI"/>
              </a:rPr>
              <a:t>AutoGrader+   19 / 19</a:t>
            </a:r>
          </a:p>
        </p:txBody>
      </p:sp>
      <p:sp>
        <p:nvSpPr>
          <p:cNvPr id="6" name="Rounded Rectangle 5"/>
          <p:cNvSpPr/>
          <p:nvPr/>
        </p:nvSpPr>
        <p:spPr>
          <a:xfrm>
            <a:off x="548640" y="1463040"/>
            <a:ext cx="502920" cy="502920"/>
          </a:xfrm>
          <a:prstGeom prst="roundRect">
            <a:avLst>
              <a:gd name="adj" fmla="val 50000"/>
            </a:avLst>
          </a:prstGeom>
          <a:solidFill>
            <a:srgbClr val="141C2E"/>
          </a:solidFill>
          <a:ln w="1270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Segoe UI Semibold"/>
              </a:rPr>
              <a:t>1</a:t>
            </a:r>
          </a:p>
        </p:txBody>
      </p:sp>
      <p:sp>
        <p:nvSpPr>
          <p:cNvPr id="7" name="TextBox 6"/>
          <p:cNvSpPr txBox="1"/>
          <p:nvPr/>
        </p:nvSpPr>
        <p:spPr>
          <a:xfrm>
            <a:off x="1234440" y="1527048"/>
            <a:ext cx="6035040" cy="457200"/>
          </a:xfrm>
          <a:prstGeom prst="rect">
            <a:avLst/>
          </a:prstGeom>
          <a:noFill/>
        </p:spPr>
        <p:txBody>
          <a:bodyPr wrap="square" anchor="t" lIns="27432" rIns="27432">
            <a:spAutoFit/>
          </a:bodyPr>
          <a:lstStyle/>
          <a:p>
            <a:pPr algn="l">
              <a:lnSpc>
                <a:spcPct val="112000"/>
              </a:lnSpc>
            </a:pPr>
            <a:r>
              <a:rPr sz="1600" b="0">
                <a:solidFill>
                  <a:srgbClr val="141C2E"/>
                </a:solidFill>
                <a:latin typeface="Segoe UI"/>
              </a:rPr>
              <a:t>Open autograder-plus.onrender.com (allow a minute if it was asleep)</a:t>
            </a:r>
          </a:p>
        </p:txBody>
      </p:sp>
      <p:sp>
        <p:nvSpPr>
          <p:cNvPr id="8" name="Rounded Rectangle 7"/>
          <p:cNvSpPr/>
          <p:nvPr/>
        </p:nvSpPr>
        <p:spPr>
          <a:xfrm>
            <a:off x="548640" y="2121408"/>
            <a:ext cx="502920" cy="502920"/>
          </a:xfrm>
          <a:prstGeom prst="roundRect">
            <a:avLst>
              <a:gd name="adj" fmla="val 50000"/>
            </a:avLst>
          </a:prstGeom>
          <a:solidFill>
            <a:srgbClr val="141C2E"/>
          </a:solidFill>
          <a:ln w="1270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Segoe UI Semibold"/>
              </a:rPr>
              <a:t>2</a:t>
            </a:r>
          </a:p>
        </p:txBody>
      </p:sp>
      <p:sp>
        <p:nvSpPr>
          <p:cNvPr id="9" name="TextBox 8"/>
          <p:cNvSpPr txBox="1"/>
          <p:nvPr/>
        </p:nvSpPr>
        <p:spPr>
          <a:xfrm>
            <a:off x="1234440" y="2185416"/>
            <a:ext cx="6035040" cy="457200"/>
          </a:xfrm>
          <a:prstGeom prst="rect">
            <a:avLst/>
          </a:prstGeom>
          <a:noFill/>
        </p:spPr>
        <p:txBody>
          <a:bodyPr wrap="square" anchor="t" lIns="27432" rIns="27432">
            <a:spAutoFit/>
          </a:bodyPr>
          <a:lstStyle/>
          <a:p>
            <a:pPr algn="l">
              <a:lnSpc>
                <a:spcPct val="112000"/>
              </a:lnSpc>
            </a:pPr>
            <a:r>
              <a:rPr sz="1600" b="0">
                <a:solidFill>
                  <a:srgbClr val="141C2E"/>
                </a:solidFill>
                <a:latin typeface="Segoe UI"/>
              </a:rPr>
              <a:t>Sign in → Student view: dashboard, feedback, labs</a:t>
            </a:r>
          </a:p>
        </p:txBody>
      </p:sp>
      <p:sp>
        <p:nvSpPr>
          <p:cNvPr id="10" name="Rounded Rectangle 9"/>
          <p:cNvSpPr/>
          <p:nvPr/>
        </p:nvSpPr>
        <p:spPr>
          <a:xfrm>
            <a:off x="548640" y="2779776"/>
            <a:ext cx="502920" cy="502920"/>
          </a:xfrm>
          <a:prstGeom prst="roundRect">
            <a:avLst>
              <a:gd name="adj" fmla="val 50000"/>
            </a:avLst>
          </a:prstGeom>
          <a:solidFill>
            <a:srgbClr val="141C2E"/>
          </a:solidFill>
          <a:ln w="1270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Segoe UI Semibold"/>
              </a:rPr>
              <a:t>3</a:t>
            </a:r>
          </a:p>
        </p:txBody>
      </p:sp>
      <p:sp>
        <p:nvSpPr>
          <p:cNvPr id="11" name="TextBox 10"/>
          <p:cNvSpPr txBox="1"/>
          <p:nvPr/>
        </p:nvSpPr>
        <p:spPr>
          <a:xfrm>
            <a:off x="1234440" y="2843784"/>
            <a:ext cx="6035040" cy="457200"/>
          </a:xfrm>
          <a:prstGeom prst="rect">
            <a:avLst/>
          </a:prstGeom>
          <a:noFill/>
        </p:spPr>
        <p:txBody>
          <a:bodyPr wrap="square" anchor="t" lIns="27432" rIns="27432">
            <a:spAutoFit/>
          </a:bodyPr>
          <a:lstStyle/>
          <a:p>
            <a:pPr algn="l">
              <a:lnSpc>
                <a:spcPct val="112000"/>
              </a:lnSpc>
            </a:pPr>
            <a:r>
              <a:rPr sz="1600" b="0">
                <a:solidFill>
                  <a:srgbClr val="141C2E"/>
                </a:solidFill>
                <a:latin typeface="Segoe UI"/>
              </a:rPr>
              <a:t>Submit a repository and watch the reviewers run</a:t>
            </a:r>
          </a:p>
        </p:txBody>
      </p:sp>
      <p:sp>
        <p:nvSpPr>
          <p:cNvPr id="12" name="Rounded Rectangle 11"/>
          <p:cNvSpPr/>
          <p:nvPr/>
        </p:nvSpPr>
        <p:spPr>
          <a:xfrm>
            <a:off x="548640" y="3438144"/>
            <a:ext cx="502920" cy="502920"/>
          </a:xfrm>
          <a:prstGeom prst="roundRect">
            <a:avLst>
              <a:gd name="adj" fmla="val 50000"/>
            </a:avLst>
          </a:prstGeom>
          <a:solidFill>
            <a:srgbClr val="141C2E"/>
          </a:solidFill>
          <a:ln w="1270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Segoe UI Semibold"/>
              </a:rPr>
              <a:t>4</a:t>
            </a:r>
          </a:p>
        </p:txBody>
      </p:sp>
      <p:sp>
        <p:nvSpPr>
          <p:cNvPr id="13" name="TextBox 12"/>
          <p:cNvSpPr txBox="1"/>
          <p:nvPr/>
        </p:nvSpPr>
        <p:spPr>
          <a:xfrm>
            <a:off x="1234440" y="3502152"/>
            <a:ext cx="6035040" cy="457200"/>
          </a:xfrm>
          <a:prstGeom prst="rect">
            <a:avLst/>
          </a:prstGeom>
          <a:noFill/>
        </p:spPr>
        <p:txBody>
          <a:bodyPr wrap="square" anchor="t" lIns="27432" rIns="27432">
            <a:spAutoFit/>
          </a:bodyPr>
          <a:lstStyle/>
          <a:p>
            <a:pPr algn="l">
              <a:lnSpc>
                <a:spcPct val="112000"/>
              </a:lnSpc>
            </a:pPr>
            <a:r>
              <a:rPr sz="1600" b="0">
                <a:solidFill>
                  <a:srgbClr val="141C2E"/>
                </a:solidFill>
                <a:latin typeface="Segoe UI"/>
              </a:rPr>
              <a:t>Sign in with the instructor account</a:t>
            </a:r>
          </a:p>
        </p:txBody>
      </p:sp>
      <p:sp>
        <p:nvSpPr>
          <p:cNvPr id="14" name="Rounded Rectangle 13"/>
          <p:cNvSpPr/>
          <p:nvPr/>
        </p:nvSpPr>
        <p:spPr>
          <a:xfrm>
            <a:off x="548640" y="4096512"/>
            <a:ext cx="502920" cy="502920"/>
          </a:xfrm>
          <a:prstGeom prst="roundRect">
            <a:avLst>
              <a:gd name="adj" fmla="val 50000"/>
            </a:avLst>
          </a:prstGeom>
          <a:solidFill>
            <a:srgbClr val="141C2E"/>
          </a:solidFill>
          <a:ln w="1270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Segoe UI Semibold"/>
              </a:rPr>
              <a:t>5</a:t>
            </a:r>
          </a:p>
        </p:txBody>
      </p:sp>
      <p:sp>
        <p:nvSpPr>
          <p:cNvPr id="15" name="TextBox 14"/>
          <p:cNvSpPr txBox="1"/>
          <p:nvPr/>
        </p:nvSpPr>
        <p:spPr>
          <a:xfrm>
            <a:off x="1234440" y="4160520"/>
            <a:ext cx="6035040" cy="457200"/>
          </a:xfrm>
          <a:prstGeom prst="rect">
            <a:avLst/>
          </a:prstGeom>
          <a:noFill/>
        </p:spPr>
        <p:txBody>
          <a:bodyPr wrap="square" anchor="t" lIns="27432" rIns="27432">
            <a:spAutoFit/>
          </a:bodyPr>
          <a:lstStyle/>
          <a:p>
            <a:pPr algn="l">
              <a:lnSpc>
                <a:spcPct val="112000"/>
              </a:lnSpc>
            </a:pPr>
            <a:r>
              <a:rPr sz="1600" b="0">
                <a:solidFill>
                  <a:srgbClr val="141C2E"/>
                </a:solidFill>
                <a:latin typeface="Segoe UI"/>
              </a:rPr>
              <a:t>Overview → Gradebook → an assignment's analytics</a:t>
            </a:r>
          </a:p>
        </p:txBody>
      </p:sp>
      <p:sp>
        <p:nvSpPr>
          <p:cNvPr id="16" name="Rounded Rectangle 15"/>
          <p:cNvSpPr/>
          <p:nvPr/>
        </p:nvSpPr>
        <p:spPr>
          <a:xfrm>
            <a:off x="548640" y="4754879"/>
            <a:ext cx="502920" cy="502920"/>
          </a:xfrm>
          <a:prstGeom prst="roundRect">
            <a:avLst>
              <a:gd name="adj" fmla="val 50000"/>
            </a:avLst>
          </a:prstGeom>
          <a:solidFill>
            <a:srgbClr val="141C2E"/>
          </a:solidFill>
          <a:ln w="12700">
            <a:solidFill>
              <a:srgbClr val="141C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Segoe UI Semibold"/>
              </a:rPr>
              <a:t>6</a:t>
            </a:r>
          </a:p>
        </p:txBody>
      </p:sp>
      <p:sp>
        <p:nvSpPr>
          <p:cNvPr id="17" name="TextBox 16"/>
          <p:cNvSpPr txBox="1"/>
          <p:nvPr/>
        </p:nvSpPr>
        <p:spPr>
          <a:xfrm>
            <a:off x="1234440" y="4818888"/>
            <a:ext cx="6035040" cy="457200"/>
          </a:xfrm>
          <a:prstGeom prst="rect">
            <a:avLst/>
          </a:prstGeom>
          <a:noFill/>
        </p:spPr>
        <p:txBody>
          <a:bodyPr wrap="square" anchor="t" lIns="27432" rIns="27432">
            <a:spAutoFit/>
          </a:bodyPr>
          <a:lstStyle/>
          <a:p>
            <a:pPr algn="l">
              <a:lnSpc>
                <a:spcPct val="112000"/>
              </a:lnSpc>
            </a:pPr>
            <a:r>
              <a:rPr sz="1600" b="0">
                <a:solidFill>
                  <a:srgbClr val="141C2E"/>
                </a:solidFill>
                <a:latin typeface="Segoe UI"/>
              </a:rPr>
              <a:t>Platform health: live latency per stage</a:t>
            </a:r>
          </a:p>
        </p:txBody>
      </p:sp>
      <p:sp>
        <p:nvSpPr>
          <p:cNvPr id="18" name="Rounded Rectangle 17"/>
          <p:cNvSpPr/>
          <p:nvPr/>
        </p:nvSpPr>
        <p:spPr>
          <a:xfrm>
            <a:off x="7498079" y="1463040"/>
            <a:ext cx="4160520" cy="3840480"/>
          </a:xfrm>
          <a:prstGeom prst="roundRect">
            <a:avLst>
              <a:gd name="adj" fmla="val 10000"/>
            </a:avLst>
          </a:prstGeom>
          <a:solidFill>
            <a:srgbClr val="F1F3F6"/>
          </a:solidFill>
          <a:ln w="12700">
            <a:solidFill>
              <a:srgbClr val="F1F3F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680960" y="1645920"/>
            <a:ext cx="3840480" cy="3657600"/>
          </a:xfrm>
          <a:prstGeom prst="rect">
            <a:avLst/>
          </a:prstGeom>
          <a:noFill/>
        </p:spPr>
        <p:txBody>
          <a:bodyPr wrap="square" anchor="t" lIns="27432" rIns="27432">
            <a:spAutoFit/>
          </a:bodyPr>
          <a:lstStyle/>
          <a:p>
            <a:pPr algn="l">
              <a:lnSpc>
                <a:spcPct val="112000"/>
              </a:lnSpc>
            </a:pPr>
            <a:r>
              <a:rPr sz="1800" b="1">
                <a:solidFill>
                  <a:srgbClr val="141C2E"/>
                </a:solidFill>
                <a:latin typeface="Segoe UI Semibold"/>
              </a:rPr>
              <a:t>Links</a:t>
            </a:r>
          </a:p>
          <a:p>
            <a:pPr algn="l">
              <a:lnSpc>
                <a:spcPct val="112000"/>
              </a:lnSpc>
              <a:spcBef>
                <a:spcPts val="1000"/>
              </a:spcBef>
            </a:pPr>
            <a:r>
              <a:rPr sz="1400" b="0">
                <a:solidFill>
                  <a:srgbClr val="141C2E"/>
                </a:solidFill>
                <a:latin typeface="Segoe UI"/>
              </a:rPr>
              <a:t>Live: autograder-plus.onrender.com</a:t>
            </a:r>
          </a:p>
          <a:p>
            <a:pPr algn="l">
              <a:lnSpc>
                <a:spcPct val="112000"/>
              </a:lnSpc>
            </a:pPr>
            <a:r>
              <a:rPr sz="1400" b="0">
                <a:solidFill>
                  <a:srgbClr val="141C2E"/>
                </a:solidFill>
                <a:latin typeface="Segoe UI"/>
              </a:rPr>
              <a:t>Code: github.com/roshanraj9136/auto-grader</a:t>
            </a:r>
          </a:p>
          <a:p>
            <a:pPr algn="l">
              <a:lnSpc>
                <a:spcPct val="112000"/>
              </a:lnSpc>
              <a:spcBef>
                <a:spcPts val="1000"/>
              </a:spcBef>
            </a:pPr>
            <a:r>
              <a:rPr sz="1300" b="0">
                <a:solidFill>
                  <a:srgbClr val="4A5468"/>
                </a:solidFill>
                <a:latin typeface="Segoe UI"/>
              </a:rPr>
              <a:t>Design: docs/ARCHITECTURE.md</a:t>
            </a:r>
          </a:p>
          <a:p>
            <a:pPr algn="l">
              <a:lnSpc>
                <a:spcPct val="112000"/>
              </a:lnSpc>
            </a:pPr>
            <a:r>
              <a:rPr sz="1300" b="0">
                <a:solidFill>
                  <a:srgbClr val="4A5468"/>
                </a:solidFill>
                <a:latin typeface="Segoe UI"/>
              </a:rPr>
              <a:t>Report: docs/AutoGrader-Report.pdf</a:t>
            </a:r>
          </a:p>
          <a:p>
            <a:pPr algn="l">
              <a:lnSpc>
                <a:spcPct val="112000"/>
              </a:lnSpc>
              <a:spcBef>
                <a:spcPts val="1000"/>
              </a:spcBef>
            </a:pPr>
            <a:r>
              <a:rPr sz="1300" b="0">
                <a:solidFill>
                  <a:srgbClr val="4A5468"/>
                </a:solidFill>
                <a:latin typeface="Segoe UI"/>
              </a:rPr>
              <a:t>Demo logins are on the sign-in page</a:t>
            </a:r>
          </a:p>
        </p:txBody>
      </p:sp>
      <p:sp>
        <p:nvSpPr>
          <p:cNvPr id="20" name="TextBox 19"/>
          <p:cNvSpPr txBox="1"/>
          <p:nvPr/>
        </p:nvSpPr>
        <p:spPr>
          <a:xfrm>
            <a:off x="548640" y="5669280"/>
            <a:ext cx="11155680" cy="548640"/>
          </a:xfrm>
          <a:prstGeom prst="rect">
            <a:avLst/>
          </a:prstGeom>
          <a:noFill/>
        </p:spPr>
        <p:txBody>
          <a:bodyPr wrap="square" anchor="t" lIns="27432" rIns="27432">
            <a:spAutoFit/>
          </a:bodyPr>
          <a:lstStyle/>
          <a:p>
            <a:pPr algn="ctr">
              <a:lnSpc>
                <a:spcPct val="112000"/>
              </a:lnSpc>
            </a:pPr>
            <a:r>
              <a:rPr sz="3000" b="1">
                <a:solidFill>
                  <a:srgbClr val="141C2E"/>
                </a:solidFill>
                <a:latin typeface="Segoe UI Semibold"/>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